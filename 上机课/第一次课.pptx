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omments/comment1.xml" ContentType="application/vnd.openxmlformats-officedocument.presentationml.comments+xml"/>
  <Override PartName="/ppt/comments/comment2.xml" ContentType="application/vnd.openxmlformats-officedocument.presentationml.comments+xml"/>
  <Override PartName="/ppt/notesSlides/notesSlide3.xml" ContentType="application/vnd.openxmlformats-officedocument.presentationml.notesSlide+xml"/>
  <Override PartName="/ppt/comments/comment3.xml" ContentType="application/vnd.openxmlformats-officedocument.presentationml.comment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1"/>
  </p:sldMasterIdLst>
  <p:notesMasterIdLst>
    <p:notesMasterId r:id="rId48"/>
  </p:notesMasterIdLst>
  <p:sldIdLst>
    <p:sldId id="256" r:id="rId2"/>
    <p:sldId id="278" r:id="rId3"/>
    <p:sldId id="279" r:id="rId4"/>
    <p:sldId id="260" r:id="rId5"/>
    <p:sldId id="261" r:id="rId6"/>
    <p:sldId id="280" r:id="rId7"/>
    <p:sldId id="257" r:id="rId8"/>
    <p:sldId id="262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58" r:id="rId19"/>
    <p:sldId id="263" r:id="rId20"/>
    <p:sldId id="274" r:id="rId21"/>
    <p:sldId id="259" r:id="rId22"/>
    <p:sldId id="264" r:id="rId23"/>
    <p:sldId id="286" r:id="rId24"/>
    <p:sldId id="297" r:id="rId25"/>
    <p:sldId id="299" r:id="rId26"/>
    <p:sldId id="298" r:id="rId27"/>
    <p:sldId id="300" r:id="rId28"/>
    <p:sldId id="296" r:id="rId29"/>
    <p:sldId id="287" r:id="rId30"/>
    <p:sldId id="288" r:id="rId31"/>
    <p:sldId id="289" r:id="rId32"/>
    <p:sldId id="290" r:id="rId33"/>
    <p:sldId id="291" r:id="rId34"/>
    <p:sldId id="304" r:id="rId35"/>
    <p:sldId id="305" r:id="rId36"/>
    <p:sldId id="306" r:id="rId37"/>
    <p:sldId id="307" r:id="rId38"/>
    <p:sldId id="308" r:id="rId39"/>
    <p:sldId id="295" r:id="rId40"/>
    <p:sldId id="301" r:id="rId41"/>
    <p:sldId id="302" r:id="rId42"/>
    <p:sldId id="275" r:id="rId43"/>
    <p:sldId id="277" r:id="rId44"/>
    <p:sldId id="285" r:id="rId45"/>
    <p:sldId id="281" r:id="rId46"/>
    <p:sldId id="282" r:id="rId47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ji lin" initials="sl" lastIdx="8" clrIdx="0">
    <p:extLst>
      <p:ext uri="{19B8F6BF-5375-455C-9EA6-DF929625EA0E}">
        <p15:presenceInfo xmlns:p15="http://schemas.microsoft.com/office/powerpoint/2012/main" userId="fe9287b0d391eb6f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中度样式 2 - 强调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308" autoAdjust="0"/>
    <p:restoredTop sz="94660"/>
  </p:normalViewPr>
  <p:slideViewPr>
    <p:cSldViewPr snapToGrid="0">
      <p:cViewPr varScale="1">
        <p:scale>
          <a:sx n="84" d="100"/>
          <a:sy n="84" d="100"/>
        </p:scale>
        <p:origin x="643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commentAuthors" Target="commentAuthors.xml"/></Relationships>
</file>

<file path=ppt/comments/comment1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1T18:42:40.166" idx="3">
    <p:pos x="146" y="146"/>
    <p:text>1. 内核程序不好调试（不能像VSCode一样直接开启debug模式）</p:text>
    <p:extLst>
      <p:ext uri="{C676402C-5697-4E1C-873F-D02D1690AC5C}">
        <p15:threadingInfo xmlns:p15="http://schemas.microsoft.com/office/powerpoint/2012/main" timeZoneBias="-480"/>
      </p:ext>
    </p:extLst>
  </p:cm>
  <p:cm authorId="1" dt="2026-09-21T18:44:27.046" idx="4">
    <p:pos x="10" y="10"/>
    <p:text>2. make qemu和make qemu-gdb命令的不相同，一个是启动qemu模拟器运行xv6系统，一个是在此之上加上暴露一个调试端口</p:text>
    <p:extLst>
      <p:ext uri="{C676402C-5697-4E1C-873F-D02D1690AC5C}">
        <p15:threadingInfo xmlns:p15="http://schemas.microsoft.com/office/powerpoint/2012/main" timeZoneBias="-480"/>
      </p:ext>
    </p:extLst>
  </p:cm>
  <p:cm authorId="1" dt="2026-09-21T18:45:57.486" idx="5">
    <p:pos x="282" y="282"/>
    <p:text>3. 主要功能：补充查看寄存器的值、查看函数的调用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2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1T18:47:29.517" idx="6">
    <p:pos x="10" y="10"/>
    <p:text>1. 与普通调试不同，需要两个终端配合，一个是GDB的server，另一个是GDB的客户端</p:text>
    <p:extLst>
      <p:ext uri="{C676402C-5697-4E1C-873F-D02D1690AC5C}">
        <p15:threadingInfo xmlns:p15="http://schemas.microsoft.com/office/powerpoint/2012/main" timeZoneBias="-480"/>
      </p:ext>
    </p:extLst>
  </p:cm>
  <p:cm authorId="1" dt="2026-09-21T18:49:04.372" idx="7">
    <p:pos x="146" y="146"/>
    <p:text>2. 流程</p:text>
    <p:extLst>
      <p:ext uri="{C676402C-5697-4E1C-873F-D02D1690AC5C}">
        <p15:threadingInfo xmlns:p15="http://schemas.microsoft.com/office/powerpoint/2012/main" timeZoneBias="-480"/>
      </p:ext>
    </p:extLst>
  </p:cm>
</p:cmLst>
</file>

<file path=ppt/comments/comment3.xml><?xml version="1.0" encoding="utf-8"?>
<p:cmLst xmlns:a="http://schemas.openxmlformats.org/drawingml/2006/main" xmlns:r="http://schemas.openxmlformats.org/officeDocument/2006/relationships" xmlns:p="http://schemas.openxmlformats.org/presentationml/2006/main">
  <p:cm authorId="1" dt="2026-09-21T18:49:15.257" idx="8">
    <p:pos x="10" y="10"/>
    <p:text>1. 不需要记忆</p:text>
    <p:extLst>
      <p:ext uri="{C676402C-5697-4E1C-873F-D02D1690AC5C}">
        <p15:threadingInfo xmlns:p15="http://schemas.microsoft.com/office/powerpoint/2012/main" timeZoneBias="-480"/>
      </p:ext>
    </p:extLst>
  </p:cm>
</p:cmLst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25CC3D-D97B-40EB-8411-61BAA9E64AB1}" type="datetimeFigureOut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84802A2-428C-401E-91C5-36F517C92BF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8565716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2"/>
          <p:cNvSpPr>
            <a:spLocks noGrp="1"/>
          </p:cNvSpPr>
          <p:nvPr>
            <p:ph type="body" idx="3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资料来源：https://www.gnu.org/software/gcc/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资料来源：https://www.gnu.org/software/gcc/</a:t>
            </a:r>
          </a:p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https://gcc.gnu.org/onlinedocs/gcc/G_002b_002b-and-GCC.html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r>
              <a:t>资料来源：https://gcc.gnu.org/onlinedocs/gcc/Overall-Options.html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资料来源：https://gcc.gnu.org/onlinedocs/gcc/Option-Summary.html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相关资料：https://gcc.gnu.org/onlinedocs/gcc/Invoking-GCC.html</a:t>
            </a:r>
          </a:p>
          <a:p>
            <a:r>
              <a:t>MIT 6.1810 工具说明：https://pdos.csail.mit.edu/6.1810/2024/tools.html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lvl="0" indent="0" algn="l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4616B3-218D-42B2-816D-1918B0FB94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94AC4FEE-B798-44B9-9B25-A20A2BE673B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C101F70-5EB4-4BF6-8666-0C7F0C5A4F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D1E78A-D9FE-4CC9-B153-A4E7566E8B66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F9F01CC-2D04-4EF1-B603-36A82E6D33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8BE6A49-EEF7-4638-9770-418B052768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300747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04CF5F8-0C0C-4C76-A97F-FFD61E690C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3DEC923-7394-4499-94FD-F04A48AD2D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42C0B08-3603-4D85-90C6-8B95BF8CCA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45E4FA-E34A-47FF-93D2-F5799DC9478D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34E558B-7BD0-4DB6-A0EB-68E487B88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CC24BBC-F118-4B53-AE55-28A7038963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20792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8C9591A-1CE5-4309-AB69-848AC5326E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7F35F78-0333-4120-AF9E-C2D04814FF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632A673-F387-4628-851B-75A724EC28A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998AE8-BE81-4716-A39F-BF4642358F83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4A913BE-AC32-43BD-9286-3146E7CC20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AD293A1-6AFC-4E80-9045-84EA81A4A4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8387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763F19-B596-4744-8914-146D2D35B0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CA6C085-06DB-4C37-A399-D6871EA8921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46B616-F050-4E79-9509-CEA4F26C70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9592E6F-3613-45E6-8003-53758D86F6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1578627-7CF9-4CA4-BBE7-AC866022DBDA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DEB07A1-1575-4410-8AAF-2759BB69C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A083DB01-321A-4087-B317-C191B6C3B6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781458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52B1F1-2E48-46C6-8498-335B8A45EE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BF11B762-9998-418F-9DE5-D5FD7D046E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D24CE3E-E7C6-4089-95E9-700C67F3B8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DC7BE599-E060-418E-A581-537638247F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649A8D1-F182-4A26-9D7D-13702577C72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E916485E-BA85-4328-959E-90E526FBCC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0AAC7D-B67A-4264-8DEF-8CDC4D492C4A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97C6880D-F008-4350-9A9F-8FCB0D52A1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FAF364E1-9D9D-45DD-864E-33057A7883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990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8E55435-2A30-4FEA-AC49-753AB895D2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20FC5D1A-8B22-4FDC-A892-CF378C350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DFFAFF-7245-4BDE-8FB0-92ADE1884710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4AB0BEB1-20A2-44F3-9ABF-360D533392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F4E0F6E-5682-4A2E-85A2-FDB826D058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15293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73E0CF99-3153-4DC3-BBFE-2B6AD619E3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FA686D9-4F9E-4C09-9916-90B64C5E1BD2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A2F3FB-674C-421B-ACAD-0B8248DB38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7782828C-F8E7-4A6D-B988-BC1ED1470D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4453954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0BE87B-6295-4C21-B3C4-09551E4F2B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CA26D50-550E-4394-974C-4C2F873B4C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FB80FAA-D2B8-44E7-A344-82BA645384A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E3456749-B75D-4075-9BAE-CA6FD710C0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438DA8-7556-48FC-94E5-D1FD2B3055B2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27C6EAA-5188-4197-8025-5FEB2291A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7CECD26-A6B5-4060-8435-1A36A19FA3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523097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767C2C-1ABA-4F5A-A109-1C347499CFC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40A43D6C-DA27-48D0-B36F-7F05839C1DE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1C4E0004-4C8D-4EED-89D6-EB11C84F1EC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FE75E82C-8F40-473A-B308-6E98593B2E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34A6DD-350E-4048-9EEF-44C11E13D2F4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A1EA1BB-1EC5-458A-BA26-B03F23B002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FC5C7DD4-580A-489C-8E09-6B403422F5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0333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F61BF1-272F-4DF3-A7A6-7DC1102F67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259A421-DE60-424E-839C-CF6034719AF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27824BB-2101-4248-93BD-2BF4D59C9D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A02789-B5C6-447A-9DA0-42B8589BA47F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04C1F01-F2E0-447F-B216-D7D59EEF4A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9C42E31-6265-49FF-9ECE-99ACC7B7EF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64537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B8A3BE7-F439-417F-9BDD-BBB76796534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0CF85BE-5DD8-43E7-A991-FBBDB88D7C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4E12556-DE1A-40A7-BD4C-005C69169D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403FA5-E7C2-40D8-BC13-359F95B01E18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20763DE-FD26-450E-A083-243877E5AE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6EF2BBF-8C97-41ED-8CAF-C9AD5AB438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821161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DB1182C5-F22B-2641-06DE-4EDACA3C1DD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97A4AD5-204B-38FD-4F33-270C2F9F5CC6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5CF9983-3FD7-FAE4-9F0B-B2CE806D89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11544808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3004A5-B645-655E-5362-4217D55892E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93700" y="1041400"/>
            <a:ext cx="7493000" cy="2491490"/>
          </a:xfrm>
        </p:spPr>
        <p:txBody>
          <a:bodyPr anchor="b"/>
          <a:lstStyle>
            <a:lvl1pPr algn="l">
              <a:buNone/>
              <a:defRPr sz="6000"/>
            </a:lvl1pPr>
          </a:lstStyle>
          <a:p>
            <a:r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57031B1-59B2-C235-9FDD-8050418A5F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356100"/>
            <a:ext cx="5537200" cy="1638300"/>
          </a:xfrm>
        </p:spPr>
        <p:txBody>
          <a:bodyPr/>
          <a:lstStyle>
            <a:lvl1pPr marL="0" indent="0" algn="l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1879555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 Placeholder 2">
            <a:extLst>
              <a:ext uri="{FF2B5EF4-FFF2-40B4-BE49-F238E27FC236}">
                <a16:creationId xmlns:a16="http://schemas.microsoft.com/office/drawing/2014/main" id="{5E851FDE-9E0B-568C-1CBA-E72B86CC06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2032000"/>
            <a:ext cx="11404600" cy="3962400"/>
          </a:xfrm>
          <a:prstGeom prst="rect">
            <a:avLst/>
          </a:prstGeom>
        </p:spPr>
        <p:txBody>
          <a:bodyPr vert="horz" lIns="0" tIns="0" rIns="0" bIns="0">
            <a:normAutofit/>
          </a:bodyPr>
          <a:lstStyle/>
          <a:p>
            <a:pPr lvl="0">
              <a:buNone/>
            </a:pPr>
            <a:r>
              <a:t>Click to edit Master text styles</a:t>
            </a:r>
          </a:p>
          <a:p>
            <a:pPr lvl="1">
              <a:buNone/>
            </a:pPr>
            <a:r>
              <a:t>Second level</a:t>
            </a:r>
          </a:p>
          <a:p>
            <a:pPr lvl="2">
              <a:buNone/>
            </a:pPr>
            <a:r>
              <a:t>Third level</a:t>
            </a:r>
          </a:p>
          <a:p>
            <a:pPr lvl="3">
              <a:buNone/>
            </a:pPr>
            <a:r>
              <a:t>Fourth level</a:t>
            </a:r>
          </a:p>
          <a:p>
            <a:pPr lvl="4">
              <a:buNone/>
            </a:pPr>
            <a:r>
              <a:t>Fifth level</a:t>
            </a:r>
          </a:p>
        </p:txBody>
      </p:sp>
      <p:sp>
        <p:nvSpPr>
          <p:cNvPr id="9" name="Footer Placeholder 4">
            <a:extLst>
              <a:ext uri="{FF2B5EF4-FFF2-40B4-BE49-F238E27FC236}">
                <a16:creationId xmlns:a16="http://schemas.microsoft.com/office/drawing/2014/main" id="{29CCD18F-3BF6-A3EE-DAAE-66BD406D7E8D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l">
              <a:buNone/>
              <a:defRPr sz="1000">
                <a:solidFill>
                  <a:schemeClr val="tx1"/>
                </a:solidFill>
              </a:defRPr>
            </a:lvl1pPr>
          </a:lstStyle>
          <a:p>
            <a:endParaRPr sz="1000"/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5186992D-ADA6-5A23-EBD5-6BEF0A2E61BA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  <a:prstGeom prst="rect">
            <a:avLst/>
          </a:prstGeom>
        </p:spPr>
        <p:txBody>
          <a:bodyPr vert="horz" lIns="0" tIns="0" rIns="0" bIns="0" anchor="b"/>
          <a:lstStyle>
            <a:lvl1pPr algn="r">
              <a:buNone/>
              <a:defRPr sz="1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>
            <a:fld id="{8574A810-7A8E-054F-9F6B-09E9C694ECF9}" type="slidenum">
              <a:t>‹#›</a:t>
            </a:fld>
            <a:endParaRPr sz="1000"/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DBB333F-FFCF-AA9E-7AC0-64DB02353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/>
          <a:p>
            <a:r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56516190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25272467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709325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01A84F07-36D3-44A2-B1A4-937591C741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D70971B-29D1-41C4-B458-D8B5010509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76F4BB1-905C-4543-92FA-430CC7106CE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6D4317-A9D4-44D3-BFF2-A6FF4B0D21C2}" type="datetime1">
              <a:rPr lang="zh-CN" altLang="en-US" smtClean="0"/>
              <a:t>2026/9/21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7CB8CD9-B2B8-49CD-95EF-4FFBDC9A89C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E686464-CEE0-46B3-9FFF-2C6850FF84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D07479-4E40-46C9-AE02-7388D24D1C1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654042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hyperlink" Target="https://github.com/mit-pdos/xv6-riscv.git" TargetMode="Externa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9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hyperlink" Target="https://mirrors.tuna.tsinghua.edu.cn/ubuntu-releases/" TargetMode="External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-pdos/xv6-riscv.git" TargetMode="Externa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mit-pdos/xv6-riscv.git" TargetMode="External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comments" Target="../comments/comment2.xml"/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omments" Target="../comments/comment3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6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Lab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7305946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实验说明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29" name="内容占位符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351338"/>
          </a:xfrm>
        </p:spPr>
        <p:txBody>
          <a:bodyPr>
            <a:normAutofit/>
          </a:bodyPr>
          <a:lstStyle/>
          <a:p>
            <a:pPr marL="342900" lvl="0" indent="-342900"/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总共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五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个实验，基础占一周，剩下的实验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四</a:t>
            </a:r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周。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基础、系统调用和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traps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、互斥同步与进程调度、内存管理、文件系统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/>
            <a:endParaRPr 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lvl="0" indent="-342900"/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每次的实验报告在下一个实验之前发到助教邮箱中。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9EB5FDBE-E84C-4EA0-BC97-35DF3537DC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D32FDD2A-F5D4-4DA1-898F-0694F9C52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/>
            <a:r>
              <a:rPr 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目录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5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实验环境介绍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设置实验环境</a:t>
            </a:r>
            <a:endParaRPr lang="en-US" alt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常用工具介绍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zh-CN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常见系统调用函数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457200" lvl="0" indent="-457200">
              <a:lnSpc>
                <a:spcPct val="100000"/>
              </a:lnSpc>
              <a:buFont typeface="Arial" charset="0"/>
              <a:buChar char="•"/>
            </a:pPr>
            <a:r>
              <a:rPr lang="zh-CN" altLang="en-US" sz="28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实验与解答</a:t>
            </a:r>
            <a:endParaRPr lang="zh-CN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A916254-636B-450C-8E4A-332249ED16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D0D6AEB-B0F9-4DD2-B887-A489759C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3</a:t>
            </a:fld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98E9ABE5-0FD8-48CD-9E52-769CE81CC7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B25BDDDB-5126-4EB1-8434-203C630F6E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983993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9CA781B0-C818-4C20-BDE7-EDC34E52A869}"/>
              </a:ext>
            </a:extLst>
          </p:cNvPr>
          <p:cNvSpPr txBox="1"/>
          <p:nvPr/>
        </p:nvSpPr>
        <p:spPr>
          <a:xfrm>
            <a:off x="1831086" y="2112246"/>
            <a:ext cx="8821674" cy="31700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Arial" panose="020B0604020202020204" pitchFamily="34" charset="0"/>
              <a:buChar char="•"/>
              <a:defRPr sz="2000" b="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是一个用于操作系统教学的类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Unix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操作系统，由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MIT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开发。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 b="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它保留了现代操作系统的核心结构，但代码规模较小，便于理解内核实现。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 b="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 sz="2000" b="1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为什么学习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？</a:t>
            </a:r>
          </a:p>
          <a:p>
            <a:pPr algn="just">
              <a:defRPr sz="2000" b="0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通过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可以学习进程管理、虚拟内存、文件系统、系统调用、中断等操作系统核心机制。</a:t>
            </a:r>
          </a:p>
          <a:p>
            <a:pPr marL="342900" indent="-342900" algn="just">
              <a:buFont typeface="Arial" panose="020B0604020202020204" pitchFamily="34" charset="0"/>
              <a:buChar char="•"/>
              <a:defRPr sz="2000" b="0"/>
            </a:pP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marL="342900" indent="-342900" algn="just">
              <a:buFont typeface="Arial" panose="020B0604020202020204" pitchFamily="34" charset="0"/>
              <a:buChar char="•"/>
              <a:defRPr sz="2000" b="1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为什么需要配置实验环境？</a:t>
            </a:r>
          </a:p>
          <a:p>
            <a:pPr algn="just">
              <a:defRPr sz="2000" b="0"/>
            </a:pP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运行在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架构上，需要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环境、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编译工具链以及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模拟器支持。</a:t>
            </a: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45505A5-AC9E-49F3-B576-F56819E55749}"/>
              </a:ext>
            </a:extLst>
          </p:cNvPr>
          <p:cNvSpPr txBox="1"/>
          <p:nvPr/>
        </p:nvSpPr>
        <p:spPr>
          <a:xfrm>
            <a:off x="2827782" y="502926"/>
            <a:ext cx="609447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sz="36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系统介绍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5438A966-EDA3-47A2-86F2-D6B70E98AD17}"/>
              </a:ext>
            </a:extLst>
          </p:cNvPr>
          <p:cNvSpPr/>
          <p:nvPr/>
        </p:nvSpPr>
        <p:spPr>
          <a:xfrm>
            <a:off x="1244727" y="1764792"/>
            <a:ext cx="9994392" cy="4133088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BA7E1B1-D1D5-4906-836C-585AF286C9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3A379461-208A-40CF-8D46-D636C6ECB64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5550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标题 1"/>
          <p:cNvSpPr>
            <a:spLocks noGrp="1"/>
          </p:cNvSpPr>
          <p:nvPr>
            <p:ph type="title"/>
          </p:nvPr>
        </p:nvSpPr>
        <p:spPr>
          <a:xfrm>
            <a:off x="3072362" y="-44478"/>
            <a:ext cx="5901663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sz="4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系统介绍</a:t>
            </a:r>
            <a:endParaRPr lang="en-US" sz="4000" b="1" dirty="0"/>
          </a:p>
        </p:txBody>
      </p:sp>
      <p:sp>
        <p:nvSpPr>
          <p:cNvPr id="141" name="矩形 5"/>
          <p:cNvSpPr/>
          <p:nvPr/>
        </p:nvSpPr>
        <p:spPr>
          <a:xfrm>
            <a:off x="887103" y="1325563"/>
            <a:ext cx="6121400" cy="4270241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dk1"/>
              </a:solidFill>
            </a:endParaRPr>
          </a:p>
        </p:txBody>
      </p:sp>
      <p:sp>
        <p:nvSpPr>
          <p:cNvPr id="142" name="文本框 6"/>
          <p:cNvSpPr txBox="1"/>
          <p:nvPr/>
        </p:nvSpPr>
        <p:spPr>
          <a:xfrm>
            <a:off x="1034334" y="1471495"/>
            <a:ext cx="1844299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Ubuntu</a:t>
            </a:r>
            <a:endParaRPr lang="zh-CN" sz="2800" b="1"/>
          </a:p>
        </p:txBody>
      </p:sp>
      <p:sp>
        <p:nvSpPr>
          <p:cNvPr id="143" name="矩形 7"/>
          <p:cNvSpPr/>
          <p:nvPr/>
        </p:nvSpPr>
        <p:spPr>
          <a:xfrm>
            <a:off x="1569030" y="2217247"/>
            <a:ext cx="3471620" cy="3153374"/>
          </a:xfrm>
          <a:prstGeom prst="rect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</a:ln>
        </p:spPr>
        <p:txBody>
          <a:bodyPr anchor="ctr"/>
          <a:lstStyle/>
          <a:p>
            <a:pPr algn="ctr"/>
            <a:endParaRPr lang="zh-CN">
              <a:solidFill>
                <a:schemeClr val="dk1"/>
              </a:solidFill>
            </a:endParaRPr>
          </a:p>
        </p:txBody>
      </p:sp>
      <p:sp>
        <p:nvSpPr>
          <p:cNvPr id="144" name="文本框 8"/>
          <p:cNvSpPr txBox="1"/>
          <p:nvPr/>
        </p:nvSpPr>
        <p:spPr>
          <a:xfrm>
            <a:off x="1801501" y="2248538"/>
            <a:ext cx="1270861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800" b="1"/>
              <a:t>qemu</a:t>
            </a:r>
            <a:endParaRPr lang="zh-CN" sz="2800" b="1"/>
          </a:p>
        </p:txBody>
      </p:sp>
      <p:sp>
        <p:nvSpPr>
          <p:cNvPr id="145" name="椭圆 9"/>
          <p:cNvSpPr/>
          <p:nvPr/>
        </p:nvSpPr>
        <p:spPr>
          <a:xfrm>
            <a:off x="2587713" y="3168349"/>
            <a:ext cx="1563059" cy="1515159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chemeClr val="dk1"/>
            </a:solidFill>
            <a:prstDash val="solid"/>
            <a:miter lim="800000"/>
          </a:ln>
        </p:spPr>
        <p:txBody>
          <a:bodyPr anchor="ctr"/>
          <a:lstStyle/>
          <a:p>
            <a:pPr lvl="0" algn="ctr"/>
            <a:r>
              <a:rPr lang="en-US" sz="2800" b="1">
                <a:solidFill>
                  <a:srgbClr val="000000"/>
                </a:solidFill>
              </a:rPr>
              <a:t>xv6 </a:t>
            </a:r>
            <a:endParaRPr/>
          </a:p>
        </p:txBody>
      </p:sp>
      <p:sp>
        <p:nvSpPr>
          <p:cNvPr id="146" name="文本框 18"/>
          <p:cNvSpPr txBox="1"/>
          <p:nvPr/>
        </p:nvSpPr>
        <p:spPr>
          <a:xfrm>
            <a:off x="8107313" y="2073819"/>
            <a:ext cx="3581400" cy="227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lvl="0" indent="-285750">
              <a:buFont typeface="Arial" charset="0"/>
              <a:buChar char="•"/>
            </a:pPr>
            <a:r>
              <a:rPr lang="en-US" sz="2400" b="1" dirty="0" err="1"/>
              <a:t>qemu</a:t>
            </a:r>
            <a:r>
              <a:rPr lang="zh-CN" sz="2400" dirty="0"/>
              <a:t>：硬件模拟器</a:t>
            </a:r>
            <a:endParaRPr lang="en-US" sz="2400" dirty="0"/>
          </a:p>
          <a:p>
            <a:pPr marL="285750" lvl="0" indent="-285750">
              <a:buFont typeface="Arial" charset="0"/>
              <a:buChar char="•"/>
            </a:pPr>
            <a:endParaRPr lang="en-US" sz="2400" dirty="0"/>
          </a:p>
          <a:p>
            <a:pPr marL="285750" lvl="0" indent="-285750">
              <a:buFont typeface="Arial" charset="0"/>
              <a:buChar char="•"/>
            </a:pPr>
            <a:r>
              <a:rPr lang="en-US" sz="2400" b="1" dirty="0"/>
              <a:t>xv6</a:t>
            </a:r>
            <a:r>
              <a:rPr lang="zh-CN" sz="2400" dirty="0"/>
              <a:t>：实验操作系统（类</a:t>
            </a:r>
            <a:r>
              <a:rPr lang="en-US" sz="2400" dirty="0" err="1"/>
              <a:t>unix</a:t>
            </a:r>
            <a:r>
              <a:rPr lang="zh-CN" sz="2400" dirty="0"/>
              <a:t>操作系统）</a:t>
            </a:r>
            <a:endParaRPr dirty="0"/>
          </a:p>
          <a:p>
            <a:pPr marL="285750" lvl="0" indent="-285750">
              <a:buFont typeface="Arial" charset="0"/>
              <a:buChar char="•"/>
            </a:pPr>
            <a:endParaRPr lang="en-US" sz="2400" dirty="0"/>
          </a:p>
          <a:p>
            <a:pPr marL="285750" lvl="0" indent="-285750">
              <a:buFont typeface="Arial" charset="0"/>
              <a:buChar char="•"/>
            </a:pPr>
            <a:r>
              <a:rPr lang="en-US" sz="2400" b="1" dirty="0" err="1">
                <a:solidFill>
                  <a:srgbClr val="939393"/>
                </a:solidFill>
              </a:rPr>
              <a:t>gdb</a:t>
            </a:r>
            <a:r>
              <a:rPr lang="zh-CN" sz="2400" b="1" dirty="0">
                <a:solidFill>
                  <a:srgbClr val="939393"/>
                </a:solidFill>
              </a:rPr>
              <a:t>：</a:t>
            </a:r>
            <a:r>
              <a:rPr lang="zh-CN" sz="2400" b="0" dirty="0">
                <a:solidFill>
                  <a:srgbClr val="939393"/>
                </a:solidFill>
              </a:rPr>
              <a:t>调试工具</a:t>
            </a:r>
            <a:endParaRPr dirty="0"/>
          </a:p>
        </p:txBody>
      </p:sp>
      <p:pic>
        <p:nvPicPr>
          <p:cNvPr id="147" name="图片 14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91442" y="4997449"/>
            <a:ext cx="4654507" cy="1485900"/>
          </a:xfrm>
          <a:prstGeom prst="rect">
            <a:avLst/>
          </a:prstGeom>
          <a:ln w="12700">
            <a:solidFill>
              <a:srgbClr val="262626"/>
            </a:solidFill>
          </a:ln>
        </p:spPr>
      </p:pic>
      <p:sp>
        <p:nvSpPr>
          <p:cNvPr id="148" name="椭圆 13"/>
          <p:cNvSpPr/>
          <p:nvPr/>
        </p:nvSpPr>
        <p:spPr>
          <a:xfrm>
            <a:off x="5486463" y="1949149"/>
            <a:ext cx="1219200" cy="1219200"/>
          </a:xfrm>
          <a:prstGeom prst="ellipse">
            <a:avLst/>
          </a:prstGeom>
          <a:solidFill>
            <a:schemeClr val="lt1"/>
          </a:solidFill>
          <a:ln w="12700" cap="flat" cmpd="sng">
            <a:solidFill>
              <a:srgbClr val="A5A5A5"/>
            </a:solidFill>
            <a:prstDash val="solid"/>
            <a:miter lim="800000"/>
          </a:ln>
        </p:spPr>
        <p:txBody>
          <a:bodyPr anchor="ctr"/>
          <a:lstStyle>
            <a:lvl1pPr marL="0" lvl="0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1pPr>
            <a:lvl2pPr marL="457200" lvl="1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2pPr>
            <a:lvl3pPr marL="914400" lvl="2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3pPr>
            <a:lvl4pPr marL="1371600" lvl="3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4pPr>
            <a:lvl5pPr marL="1828800" lvl="4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5pPr>
            <a:lvl6pPr marL="2286000" lvl="5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6pPr>
            <a:lvl7pPr marL="2743200" lvl="6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7pPr>
            <a:lvl8pPr marL="3200400" lvl="7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8pPr>
            <a:lvl9pPr marL="3657600" lvl="8" algn="l" defTabSz="914400">
              <a:defRPr sz="1800" kern="1200">
                <a:solidFill>
                  <a:schemeClr val="tx1"/>
                </a:solidFill>
                <a:latin typeface="等线"/>
                <a:ea typeface="等线"/>
              </a:defRPr>
            </a:lvl9pPr>
          </a:lstStyle>
          <a:p>
            <a:pPr lvl="0" algn="ctr"/>
            <a:r>
              <a:rPr lang="en-US" sz="2800" b="1">
                <a:solidFill>
                  <a:srgbClr val="939393"/>
                </a:solidFill>
              </a:rPr>
              <a:t>gdb</a:t>
            </a:r>
            <a:endParaRPr lang="zh-CN" sz="2800" b="1">
              <a:solidFill>
                <a:srgbClr val="000000"/>
              </a:solidFill>
            </a:endParaRPr>
          </a:p>
        </p:txBody>
      </p:sp>
      <p:cxnSp>
        <p:nvCxnSpPr>
          <p:cNvPr id="149" name="直接箭头连接符 15"/>
          <p:cNvCxnSpPr>
            <a:endCxn id="145" idx="7"/>
          </p:cNvCxnSpPr>
          <p:nvPr/>
        </p:nvCxnSpPr>
        <p:spPr>
          <a:xfrm flipH="1">
            <a:off x="3921867" y="2726848"/>
            <a:ext cx="1564596" cy="663390"/>
          </a:xfrm>
          <a:prstGeom prst="straightConnector1">
            <a:avLst/>
          </a:prstGeom>
          <a:ln w="19050">
            <a:solidFill>
              <a:srgbClr val="939393"/>
            </a:solidFill>
            <a:prstDash val="lgDash"/>
            <a:miter lim="800000"/>
            <a:headEnd/>
            <a:tailEnd type="triangle" w="med" len="med"/>
          </a:ln>
        </p:spPr>
      </p:cxnSp>
      <p:cxnSp>
        <p:nvCxnSpPr>
          <p:cNvPr id="150" name="直接箭头连接符 149"/>
          <p:cNvCxnSpPr/>
          <p:nvPr/>
        </p:nvCxnSpPr>
        <p:spPr>
          <a:xfrm>
            <a:off x="4140200" y="3937000"/>
            <a:ext cx="3251200" cy="1060450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dash"/>
            <a:headEnd w="med" len="med"/>
            <a:tailEnd w="med" len="med"/>
          </a:ln>
        </p:spPr>
      </p:cxnSp>
      <p:cxnSp>
        <p:nvCxnSpPr>
          <p:cNvPr id="151" name="直接箭头连接符 150"/>
          <p:cNvCxnSpPr>
            <a:stCxn id="145" idx="5"/>
          </p:cNvCxnSpPr>
          <p:nvPr/>
        </p:nvCxnSpPr>
        <p:spPr>
          <a:xfrm>
            <a:off x="3921867" y="4461618"/>
            <a:ext cx="3469532" cy="2021731"/>
          </a:xfrm>
          <a:prstGeom prst="straightConnector1">
            <a:avLst/>
          </a:prstGeom>
          <a:noFill/>
          <a:ln w="12700">
            <a:solidFill>
              <a:srgbClr val="000000"/>
            </a:solidFill>
            <a:prstDash val="dash"/>
            <a:headEnd w="med" len="med"/>
            <a:tailEnd w="med" len="med"/>
          </a:ln>
        </p:spPr>
      </p:cxn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18726068-201A-4AC9-AE42-50CADE6D8D8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4148BD94-DC47-4C48-908B-C05C87210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6</a:t>
            </a:fld>
            <a:endParaRPr lang="zh-CN" alt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系统配置环境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41D6816-6D0A-433F-8659-8C4E61E8B6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36F0BD3-A204-496C-9202-CD5990DE73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3483175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8E6BF2F0-C638-44FC-9318-103A156955B1}"/>
              </a:ext>
            </a:extLst>
          </p:cNvPr>
          <p:cNvSpPr txBox="1"/>
          <p:nvPr/>
        </p:nvSpPr>
        <p:spPr>
          <a:xfrm>
            <a:off x="6419088" y="1995091"/>
            <a:ext cx="4443984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系统中安装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WSL2+Ubuntu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，开启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子系统安装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701CB69C-7646-40E2-9D37-C4EB9BBA2E98}"/>
              </a:ext>
            </a:extLst>
          </p:cNvPr>
          <p:cNvSpPr txBox="1"/>
          <p:nvPr/>
        </p:nvSpPr>
        <p:spPr>
          <a:xfrm>
            <a:off x="6419088" y="4314269"/>
            <a:ext cx="497128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方法二：下载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镜像，在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VirtualBox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中开启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虚拟机，在虚拟机中安装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实验环境</a:t>
            </a: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0D9CDA4A-AFF6-4FE1-9850-B753F148CA05}"/>
              </a:ext>
            </a:extLst>
          </p:cNvPr>
          <p:cNvSpPr txBox="1"/>
          <p:nvPr/>
        </p:nvSpPr>
        <p:spPr>
          <a:xfrm>
            <a:off x="2450084" y="466171"/>
            <a:ext cx="754735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配置实验环境总流程</a:t>
            </a:r>
          </a:p>
        </p:txBody>
      </p:sp>
      <p:sp>
        <p:nvSpPr>
          <p:cNvPr id="5" name="Rounded Rectangle 3">
            <a:extLst>
              <a:ext uri="{FF2B5EF4-FFF2-40B4-BE49-F238E27FC236}">
                <a16:creationId xmlns:a16="http://schemas.microsoft.com/office/drawing/2014/main" id="{454A857B-BB8A-481F-BE04-7886B9726835}"/>
              </a:ext>
            </a:extLst>
          </p:cNvPr>
          <p:cNvSpPr/>
          <p:nvPr/>
        </p:nvSpPr>
        <p:spPr>
          <a:xfrm>
            <a:off x="1664208" y="1995091"/>
            <a:ext cx="2487168" cy="502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环境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Rounded Rectangle 4">
            <a:extLst>
              <a:ext uri="{FF2B5EF4-FFF2-40B4-BE49-F238E27FC236}">
                <a16:creationId xmlns:a16="http://schemas.microsoft.com/office/drawing/2014/main" id="{7D5DF98F-90CE-4E8D-9EFA-284A6FF03449}"/>
              </a:ext>
            </a:extLst>
          </p:cNvPr>
          <p:cNvSpPr/>
          <p:nvPr/>
        </p:nvSpPr>
        <p:spPr>
          <a:xfrm>
            <a:off x="1664208" y="3177540"/>
            <a:ext cx="2487168" cy="502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RISC-V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工具链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Rounded Rectangle 5">
            <a:extLst>
              <a:ext uri="{FF2B5EF4-FFF2-40B4-BE49-F238E27FC236}">
                <a16:creationId xmlns:a16="http://schemas.microsoft.com/office/drawing/2014/main" id="{8D917131-EC8F-4901-BB40-D88726C69E5B}"/>
              </a:ext>
            </a:extLst>
          </p:cNvPr>
          <p:cNvSpPr/>
          <p:nvPr/>
        </p:nvSpPr>
        <p:spPr>
          <a:xfrm>
            <a:off x="1664208" y="4359989"/>
            <a:ext cx="2487168" cy="502920"/>
          </a:xfrm>
          <a:prstGeom prst="roundRect">
            <a:avLst/>
          </a:prstGeom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模拟器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Rounded Rectangle 6">
            <a:extLst>
              <a:ext uri="{FF2B5EF4-FFF2-40B4-BE49-F238E27FC236}">
                <a16:creationId xmlns:a16="http://schemas.microsoft.com/office/drawing/2014/main" id="{98CF790D-52BC-4D08-9658-EB04917D6531}"/>
              </a:ext>
            </a:extLst>
          </p:cNvPr>
          <p:cNvSpPr/>
          <p:nvPr/>
        </p:nvSpPr>
        <p:spPr>
          <a:xfrm>
            <a:off x="1664208" y="5542438"/>
            <a:ext cx="2487168" cy="502920"/>
          </a:xfrm>
          <a:prstGeom prst="roundRect">
            <a:avLst/>
          </a:prstGeom>
          <a:ln/>
        </p:spPr>
        <p:style>
          <a:lnRef idx="1">
            <a:schemeClr val="accent3"/>
          </a:lnRef>
          <a:fillRef idx="3">
            <a:schemeClr val="accent3"/>
          </a:fillRef>
          <a:effectRef idx="2">
            <a:schemeClr val="accent3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defRPr sz="2000"/>
            </a:pPr>
            <a:r>
              <a:rPr sz="24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sz="24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endParaRPr sz="24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5FCBC895-1283-4C70-A760-6F50B83A3CC2}"/>
              </a:ext>
            </a:extLst>
          </p:cNvPr>
          <p:cNvCxnSpPr/>
          <p:nvPr/>
        </p:nvCxnSpPr>
        <p:spPr>
          <a:xfrm>
            <a:off x="2907792" y="1225296"/>
            <a:ext cx="0" cy="76979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5" name="直接箭头连接符 14">
            <a:extLst>
              <a:ext uri="{FF2B5EF4-FFF2-40B4-BE49-F238E27FC236}">
                <a16:creationId xmlns:a16="http://schemas.microsoft.com/office/drawing/2014/main" id="{43C54A77-A1CB-4367-BE45-F70AA6175AFE}"/>
              </a:ext>
            </a:extLst>
          </p:cNvPr>
          <p:cNvCxnSpPr>
            <a:cxnSpLocks/>
            <a:stCxn id="5" idx="2"/>
            <a:endCxn id="6" idx="0"/>
          </p:cNvCxnSpPr>
          <p:nvPr/>
        </p:nvCxnSpPr>
        <p:spPr>
          <a:xfrm>
            <a:off x="2907792" y="2498011"/>
            <a:ext cx="0" cy="679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9" name="直接箭头连接符 18">
            <a:extLst>
              <a:ext uri="{FF2B5EF4-FFF2-40B4-BE49-F238E27FC236}">
                <a16:creationId xmlns:a16="http://schemas.microsoft.com/office/drawing/2014/main" id="{0422458A-3280-46C9-91C8-5665EE63EE04}"/>
              </a:ext>
            </a:extLst>
          </p:cNvPr>
          <p:cNvCxnSpPr>
            <a:cxnSpLocks/>
          </p:cNvCxnSpPr>
          <p:nvPr/>
        </p:nvCxnSpPr>
        <p:spPr>
          <a:xfrm>
            <a:off x="2904744" y="3680460"/>
            <a:ext cx="0" cy="679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9EB73AE-A2ED-4A6F-A976-B26FF91DEF2A}"/>
              </a:ext>
            </a:extLst>
          </p:cNvPr>
          <p:cNvCxnSpPr>
            <a:cxnSpLocks/>
          </p:cNvCxnSpPr>
          <p:nvPr/>
        </p:nvCxnSpPr>
        <p:spPr>
          <a:xfrm>
            <a:off x="2883408" y="4862909"/>
            <a:ext cx="0" cy="679529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页脚占位符 8">
            <a:extLst>
              <a:ext uri="{FF2B5EF4-FFF2-40B4-BE49-F238E27FC236}">
                <a16:creationId xmlns:a16="http://schemas.microsoft.com/office/drawing/2014/main" id="{E0A811B3-4676-472C-86F5-D77660D5D5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0" name="灯片编号占位符 9">
            <a:extLst>
              <a:ext uri="{FF2B5EF4-FFF2-40B4-BE49-F238E27FC236}">
                <a16:creationId xmlns:a16="http://schemas.microsoft.com/office/drawing/2014/main" id="{CA443491-5397-4136-90AC-D2DAC1EA14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969745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0FF40C-DB93-4438-875C-CE309D8B6BD3}"/>
              </a:ext>
            </a:extLst>
          </p:cNvPr>
          <p:cNvSpPr txBox="1"/>
          <p:nvPr/>
        </p:nvSpPr>
        <p:spPr>
          <a:xfrm>
            <a:off x="1828800" y="1859357"/>
            <a:ext cx="81198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第一步：打开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cmd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，注意要使用管理员身份打开，使用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wsl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--install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，系统自动安装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WSL2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系统，安装完成后第一次进入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系统需要设置登录的账号和密码，安装完成之后需要重启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0142E9-A136-4104-9B7D-A709C65546F9}"/>
              </a:ext>
            </a:extLst>
          </p:cNvPr>
          <p:cNvSpPr txBox="1"/>
          <p:nvPr/>
        </p:nvSpPr>
        <p:spPr>
          <a:xfrm>
            <a:off x="1705356" y="4067896"/>
            <a:ext cx="83667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第二步：使用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wsl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-l –v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确认安装是否成功，出现下图的界面表示安装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WSL2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系统已经安装成功，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中成功运行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子系统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69338" y="450502"/>
            <a:ext cx="800277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BA45ED5F-C33E-4195-9E2A-EBE11968C7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25446" y="4849823"/>
            <a:ext cx="6753801" cy="1108492"/>
          </a:xfrm>
          <a:prstGeom prst="rect">
            <a:avLst/>
          </a:prstGeom>
        </p:spPr>
      </p:pic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59EA20-C95E-431F-87C0-EF6A603E0462}"/>
              </a:ext>
            </a:extLst>
          </p:cNvPr>
          <p:cNvSpPr/>
          <p:nvPr/>
        </p:nvSpPr>
        <p:spPr>
          <a:xfrm>
            <a:off x="1705356" y="1755648"/>
            <a:ext cx="8366760" cy="11276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AE764A-EB1C-4428-8BA7-07C2CA68F686}"/>
              </a:ext>
            </a:extLst>
          </p:cNvPr>
          <p:cNvSpPr/>
          <p:nvPr/>
        </p:nvSpPr>
        <p:spPr>
          <a:xfrm>
            <a:off x="1705356" y="3739239"/>
            <a:ext cx="8366760" cy="257012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AB26EF2-589A-4C59-A0E9-4AFE613E652F}"/>
              </a:ext>
            </a:extLst>
          </p:cNvPr>
          <p:cNvCxnSpPr>
            <a:stCxn id="9" idx="2"/>
            <a:endCxn id="10" idx="0"/>
          </p:cNvCxnSpPr>
          <p:nvPr/>
        </p:nvCxnSpPr>
        <p:spPr>
          <a:xfrm>
            <a:off x="5888736" y="2883271"/>
            <a:ext cx="0" cy="855968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226937C-41FA-46F7-9489-246CF4F2B3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534A6A-947A-43D2-A92D-312C56FF68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874295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0FF40C-DB93-4438-875C-CE309D8B6BD3}"/>
              </a:ext>
            </a:extLst>
          </p:cNvPr>
          <p:cNvSpPr txBox="1"/>
          <p:nvPr/>
        </p:nvSpPr>
        <p:spPr>
          <a:xfrm>
            <a:off x="1828800" y="1859357"/>
            <a:ext cx="81198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第三步：启动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：输入命令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wsl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-d Ubuntu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C50142E9-A136-4104-9B7D-A709C65546F9}"/>
              </a:ext>
            </a:extLst>
          </p:cNvPr>
          <p:cNvSpPr txBox="1"/>
          <p:nvPr/>
        </p:nvSpPr>
        <p:spPr>
          <a:xfrm>
            <a:off x="1965954" y="3075057"/>
            <a:ext cx="8435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第四步：更新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软件源，先输入命令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update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，然后输入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upgrade -y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64258" y="520394"/>
            <a:ext cx="7884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59EA20-C95E-431F-87C0-EF6A603E0462}"/>
              </a:ext>
            </a:extLst>
          </p:cNvPr>
          <p:cNvSpPr/>
          <p:nvPr/>
        </p:nvSpPr>
        <p:spPr>
          <a:xfrm>
            <a:off x="1705356" y="1755649"/>
            <a:ext cx="8366760" cy="58477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AE764A-EB1C-4428-8BA7-07C2CA68F686}"/>
              </a:ext>
            </a:extLst>
          </p:cNvPr>
          <p:cNvSpPr/>
          <p:nvPr/>
        </p:nvSpPr>
        <p:spPr>
          <a:xfrm>
            <a:off x="1705356" y="2880361"/>
            <a:ext cx="8695938" cy="342900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DAB26EF2-589A-4C59-A0E9-4AFE613E652F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5888736" y="2340425"/>
            <a:ext cx="0" cy="539935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图片 10">
            <a:extLst>
              <a:ext uri="{FF2B5EF4-FFF2-40B4-BE49-F238E27FC236}">
                <a16:creationId xmlns:a16="http://schemas.microsoft.com/office/drawing/2014/main" id="{DF337959-DB0F-4ECD-94EA-60E08D4449E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83876" y="3765428"/>
            <a:ext cx="6790008" cy="1356478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38245BAB-B44A-4318-B69D-63F8E16076D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83045" y="5204974"/>
            <a:ext cx="5425910" cy="92210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AFB1196C-BF98-4ABA-905B-3D902DAD0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0001A5B-BF26-4F5C-BC96-4683554B0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0175850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0FF40C-DB93-4438-875C-CE309D8B6BD3}"/>
              </a:ext>
            </a:extLst>
          </p:cNvPr>
          <p:cNvSpPr txBox="1"/>
          <p:nvPr/>
        </p:nvSpPr>
        <p:spPr>
          <a:xfrm>
            <a:off x="1714500" y="1757210"/>
            <a:ext cx="8590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所需的工具，命令：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install -y git build-essential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-system-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misc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gcc-riscv64-linux-gnu binutils-riscv64-linux-gnu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74545" y="464269"/>
            <a:ext cx="7870698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59EA20-C95E-431F-87C0-EF6A603E0462}"/>
              </a:ext>
            </a:extLst>
          </p:cNvPr>
          <p:cNvSpPr/>
          <p:nvPr/>
        </p:nvSpPr>
        <p:spPr>
          <a:xfrm>
            <a:off x="1447800" y="1655064"/>
            <a:ext cx="8936736" cy="11276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01B6BDC8-2A34-4992-8ECC-5D162BEBB8F9}"/>
              </a:ext>
            </a:extLst>
          </p:cNvPr>
          <p:cNvSpPr txBox="1"/>
          <p:nvPr/>
        </p:nvSpPr>
        <p:spPr>
          <a:xfrm>
            <a:off x="1865376" y="3081528"/>
            <a:ext cx="405079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总共需要安装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种工具：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graphicFrame>
        <p:nvGraphicFramePr>
          <p:cNvPr id="15" name="表格 15">
            <a:extLst>
              <a:ext uri="{FF2B5EF4-FFF2-40B4-BE49-F238E27FC236}">
                <a16:creationId xmlns:a16="http://schemas.microsoft.com/office/drawing/2014/main" id="{1E877060-8FB2-454D-894B-A03EC2B584A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12348229"/>
              </p:ext>
            </p:extLst>
          </p:nvPr>
        </p:nvGraphicFramePr>
        <p:xfrm>
          <a:off x="1714500" y="3614244"/>
          <a:ext cx="8398764" cy="2590800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4199382">
                  <a:extLst>
                    <a:ext uri="{9D8B030D-6E8A-4147-A177-3AD203B41FA5}">
                      <a16:colId xmlns:a16="http://schemas.microsoft.com/office/drawing/2014/main" val="3927281682"/>
                    </a:ext>
                  </a:extLst>
                </a:gridCol>
                <a:gridCol w="4199382">
                  <a:extLst>
                    <a:ext uri="{9D8B030D-6E8A-4147-A177-3AD203B41FA5}">
                      <a16:colId xmlns:a16="http://schemas.microsoft.com/office/drawing/2014/main" val="412508344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工具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作用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17441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Git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下载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xv6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746015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Make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xv6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3219153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RISC-V GCC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编译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RISC-V 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版本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xv6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9482141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err="1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Binutils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链接、反汇编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015461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QEMU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模拟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RISC-V </a:t>
                      </a:r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计算机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6082702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GDB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调试 </a:t>
                      </a:r>
                      <a:r>
                        <a:rPr lang="en-US" altLang="zh-CN" dirty="0"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xv6</a:t>
                      </a:r>
                      <a:endParaRPr lang="zh-CN" altLang="en-US" dirty="0"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37966017"/>
                  </a:ext>
                </a:extLst>
              </a:tr>
            </a:tbl>
          </a:graphicData>
        </a:graphic>
      </p:graphicFrame>
      <p:sp>
        <p:nvSpPr>
          <p:cNvPr id="3" name="页脚占位符 2">
            <a:extLst>
              <a:ext uri="{FF2B5EF4-FFF2-40B4-BE49-F238E27FC236}">
                <a16:creationId xmlns:a16="http://schemas.microsoft.com/office/drawing/2014/main" id="{859A5A1C-F866-497F-BE44-3132397DAB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4191B7DC-F35C-4330-BD76-18DBB5F878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7600909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CC0FF40C-DB93-4438-875C-CE309D8B6BD3}"/>
              </a:ext>
            </a:extLst>
          </p:cNvPr>
          <p:cNvSpPr txBox="1"/>
          <p:nvPr/>
        </p:nvSpPr>
        <p:spPr>
          <a:xfrm>
            <a:off x="3032748" y="1654344"/>
            <a:ext cx="8590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第六步：检查工具是否安装成功，执行如下命令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riscv64-linux-gnu-gcc --version</a:t>
            </a: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qemu-system-riscv64 --version</a:t>
            </a:r>
          </a:p>
          <a:p>
            <a:pPr algn="just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---version</a:t>
            </a: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三个都要能正常显示出版本号，不能显示的重新安装一次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80058" y="511087"/>
            <a:ext cx="803188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9" name="矩形: 圆角 8">
            <a:extLst>
              <a:ext uri="{FF2B5EF4-FFF2-40B4-BE49-F238E27FC236}">
                <a16:creationId xmlns:a16="http://schemas.microsoft.com/office/drawing/2014/main" id="{8459EA20-C95E-431F-87C0-EF6A603E0462}"/>
              </a:ext>
            </a:extLst>
          </p:cNvPr>
          <p:cNvSpPr/>
          <p:nvPr/>
        </p:nvSpPr>
        <p:spPr>
          <a:xfrm>
            <a:off x="2253248" y="1505680"/>
            <a:ext cx="7685503" cy="17746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DBFAC266-C36E-4A0A-A681-7EAC0735B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8606" y="3429000"/>
            <a:ext cx="6314842" cy="806357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42DE2773-42B1-45E7-A18D-96673EB1CF2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31714" y="4527129"/>
            <a:ext cx="6248626" cy="533419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5E8692B2-944F-4D9C-B876-85A47FD61AC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98606" y="5352320"/>
            <a:ext cx="6248626" cy="937679"/>
          </a:xfrm>
          <a:prstGeom prst="rect">
            <a:avLst/>
          </a:prstGeom>
        </p:spPr>
      </p:pic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8490973-BFA5-4FA6-98BA-FD04131A3F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CA2D627-6B9E-4F23-8F86-F21592D56C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9434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321157" y="383672"/>
            <a:ext cx="8063483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8CA023-1F4B-42D3-BF78-B1BE97E9BDF3}"/>
              </a:ext>
            </a:extLst>
          </p:cNvPr>
          <p:cNvSpPr txBox="1"/>
          <p:nvPr/>
        </p:nvSpPr>
        <p:spPr>
          <a:xfrm>
            <a:off x="3002012" y="1733293"/>
            <a:ext cx="6109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第七步：下载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，建议源码放在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自己的文件系统里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~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mkdir os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os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clone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https://github.com/mit-pdos/xv6-riscv.git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0" name="图片 9">
            <a:extLst>
              <a:ext uri="{FF2B5EF4-FFF2-40B4-BE49-F238E27FC236}">
                <a16:creationId xmlns:a16="http://schemas.microsoft.com/office/drawing/2014/main" id="{D4955CAB-1119-4B66-A181-AF9E3413D4F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41838" y="3547927"/>
            <a:ext cx="7922001" cy="1190252"/>
          </a:xfrm>
          <a:prstGeom prst="rect">
            <a:avLst/>
          </a:prstGeom>
        </p:spPr>
      </p:pic>
      <p:sp>
        <p:nvSpPr>
          <p:cNvPr id="11" name="文本框 10">
            <a:extLst>
              <a:ext uri="{FF2B5EF4-FFF2-40B4-BE49-F238E27FC236}">
                <a16:creationId xmlns:a16="http://schemas.microsoft.com/office/drawing/2014/main" id="{FD59051E-AE36-49C4-81F8-DFA6770671AD}"/>
              </a:ext>
            </a:extLst>
          </p:cNvPr>
          <p:cNvSpPr txBox="1"/>
          <p:nvPr/>
        </p:nvSpPr>
        <p:spPr>
          <a:xfrm>
            <a:off x="3041210" y="4913328"/>
            <a:ext cx="61095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xv6-riscv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进入文件夹之后用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命令应该看到如下输出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60DF106A-2CC4-42E4-AB4D-CD46A85B366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21158" y="5399898"/>
            <a:ext cx="8063483" cy="544480"/>
          </a:xfrm>
          <a:prstGeom prst="rect">
            <a:avLst/>
          </a:prstGeom>
        </p:spPr>
      </p:pic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91B9FAF-5844-4B8B-9337-D725F7E2A66C}"/>
              </a:ext>
            </a:extLst>
          </p:cNvPr>
          <p:cNvSpPr/>
          <p:nvPr/>
        </p:nvSpPr>
        <p:spPr>
          <a:xfrm>
            <a:off x="1807358" y="1575340"/>
            <a:ext cx="9003395" cy="49759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583ADFCA-E9B2-4BEE-925B-E45799E687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A7C3B7A-ACE7-4B0F-8229-BC06EDF0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1311815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70734" y="450404"/>
            <a:ext cx="78759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方法一：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A8CA023-1F4B-42D3-BF78-B1BE97E9BDF3}"/>
              </a:ext>
            </a:extLst>
          </p:cNvPr>
          <p:cNvSpPr txBox="1"/>
          <p:nvPr/>
        </p:nvSpPr>
        <p:spPr>
          <a:xfrm>
            <a:off x="2570480" y="1809747"/>
            <a:ext cx="7253769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第八步：编译并运行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，运行命令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，最后应该出现：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完成之后可以进行简单的测试，比如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echo hello 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3" name="矩形: 圆角 12">
            <a:extLst>
              <a:ext uri="{FF2B5EF4-FFF2-40B4-BE49-F238E27FC236}">
                <a16:creationId xmlns:a16="http://schemas.microsoft.com/office/drawing/2014/main" id="{691B9FAF-5844-4B8B-9337-D725F7E2A66C}"/>
              </a:ext>
            </a:extLst>
          </p:cNvPr>
          <p:cNvSpPr/>
          <p:nvPr/>
        </p:nvSpPr>
        <p:spPr>
          <a:xfrm>
            <a:off x="1594302" y="1463827"/>
            <a:ext cx="9003395" cy="497593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" name="图片 3">
            <a:extLst>
              <a:ext uri="{FF2B5EF4-FFF2-40B4-BE49-F238E27FC236}">
                <a16:creationId xmlns:a16="http://schemas.microsoft.com/office/drawing/2014/main" id="{FE14DD91-F16E-4E71-A458-01216A238E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82414" y="2285706"/>
            <a:ext cx="3262033" cy="1307819"/>
          </a:xfrm>
          <a:prstGeom prst="rect">
            <a:avLst/>
          </a:prstGeom>
        </p:spPr>
      </p:pic>
      <p:pic>
        <p:nvPicPr>
          <p:cNvPr id="7" name="图片 6">
            <a:extLst>
              <a:ext uri="{FF2B5EF4-FFF2-40B4-BE49-F238E27FC236}">
                <a16:creationId xmlns:a16="http://schemas.microsoft.com/office/drawing/2014/main" id="{C72F3E50-080A-45D5-A205-29ED7FC91A8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57836"/>
          <a:stretch/>
        </p:blipFill>
        <p:spPr>
          <a:xfrm>
            <a:off x="4082414" y="4228794"/>
            <a:ext cx="3406123" cy="1935334"/>
          </a:xfrm>
          <a:prstGeom prst="rect">
            <a:avLst/>
          </a:prstGeom>
        </p:spPr>
      </p:pic>
      <p:sp>
        <p:nvSpPr>
          <p:cNvPr id="2" name="页脚占位符 1">
            <a:extLst>
              <a:ext uri="{FF2B5EF4-FFF2-40B4-BE49-F238E27FC236}">
                <a16:creationId xmlns:a16="http://schemas.microsoft.com/office/drawing/2014/main" id="{CCD42B59-2D76-4697-A14B-879B6B00A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CD5C7003-BB33-46F7-B2DE-45AFCA4465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943672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70734" y="450404"/>
            <a:ext cx="787590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F6F55B17-D3CE-4B72-9AA6-61235F7D6952}"/>
              </a:ext>
            </a:extLst>
          </p:cNvPr>
          <p:cNvSpPr txBox="1"/>
          <p:nvPr/>
        </p:nvSpPr>
        <p:spPr>
          <a:xfrm>
            <a:off x="1086136" y="1630032"/>
            <a:ext cx="402736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第一步：搭建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环境，下载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操作系统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.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文件，可从清华源中直接下载</a:t>
            </a:r>
            <a:r>
              <a:rPr lang="en-US" altLang="zh-CN" dirty="0">
                <a:hlinkClick r:id="rId2"/>
              </a:rPr>
              <a:t>Index of /ubuntu-releases/ | </a:t>
            </a:r>
            <a:r>
              <a:rPr lang="zh-CN" altLang="en-US" dirty="0">
                <a:hlinkClick r:id="rId2"/>
              </a:rPr>
              <a:t>清华大学开源软件镜像站 </a:t>
            </a:r>
            <a:r>
              <a:rPr lang="en-US" altLang="zh-CN" dirty="0">
                <a:hlinkClick r:id="rId2"/>
              </a:rPr>
              <a:t>| Tsinghua Open Source Mirror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。并且下载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virtualBox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3DC3F25F-DD64-4B6E-BA9D-11A4F874DBED}"/>
              </a:ext>
            </a:extLst>
          </p:cNvPr>
          <p:cNvSpPr txBox="1"/>
          <p:nvPr/>
        </p:nvSpPr>
        <p:spPr>
          <a:xfrm>
            <a:off x="1124204" y="4355380"/>
            <a:ext cx="39964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第二步：在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virtualBox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当中导入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ios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镜像 ，打开虚拟机，并且打开虚拟机的终端</a:t>
            </a:r>
          </a:p>
        </p:txBody>
      </p:sp>
      <p:sp>
        <p:nvSpPr>
          <p:cNvPr id="3" name="矩形: 圆角 2">
            <a:extLst>
              <a:ext uri="{FF2B5EF4-FFF2-40B4-BE49-F238E27FC236}">
                <a16:creationId xmlns:a16="http://schemas.microsoft.com/office/drawing/2014/main" id="{82206F96-D563-48E5-856D-CE3243F08529}"/>
              </a:ext>
            </a:extLst>
          </p:cNvPr>
          <p:cNvSpPr/>
          <p:nvPr/>
        </p:nvSpPr>
        <p:spPr>
          <a:xfrm>
            <a:off x="914401" y="1472184"/>
            <a:ext cx="4306824" cy="195681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" name="矩形: 圆角 6">
            <a:extLst>
              <a:ext uri="{FF2B5EF4-FFF2-40B4-BE49-F238E27FC236}">
                <a16:creationId xmlns:a16="http://schemas.microsoft.com/office/drawing/2014/main" id="{0BCF7B96-32D3-4026-8738-4C9026D72AB5}"/>
              </a:ext>
            </a:extLst>
          </p:cNvPr>
          <p:cNvSpPr/>
          <p:nvPr/>
        </p:nvSpPr>
        <p:spPr>
          <a:xfrm>
            <a:off x="1078992" y="4263047"/>
            <a:ext cx="4041648" cy="124164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9" name="直接箭头连接符 8">
            <a:extLst>
              <a:ext uri="{FF2B5EF4-FFF2-40B4-BE49-F238E27FC236}">
                <a16:creationId xmlns:a16="http://schemas.microsoft.com/office/drawing/2014/main" id="{6A50F7DC-93C9-4A1C-939C-DDD6264E39B9}"/>
              </a:ext>
            </a:extLst>
          </p:cNvPr>
          <p:cNvCxnSpPr>
            <a:cxnSpLocks/>
            <a:stCxn id="3" idx="2"/>
            <a:endCxn id="7" idx="0"/>
          </p:cNvCxnSpPr>
          <p:nvPr/>
        </p:nvCxnSpPr>
        <p:spPr>
          <a:xfrm>
            <a:off x="3067813" y="3429000"/>
            <a:ext cx="32003" cy="834047"/>
          </a:xfrm>
          <a:prstGeom prst="straightConnector1">
            <a:avLst/>
          </a:prstGeom>
          <a:ln w="190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图片 12">
            <a:extLst>
              <a:ext uri="{FF2B5EF4-FFF2-40B4-BE49-F238E27FC236}">
                <a16:creationId xmlns:a16="http://schemas.microsoft.com/office/drawing/2014/main" id="{B7DE5375-46F5-4390-881E-02FB7C3F36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18263" y="1716786"/>
            <a:ext cx="5517135" cy="3424428"/>
          </a:xfrm>
          <a:prstGeom prst="rect">
            <a:avLst/>
          </a:prstGeom>
        </p:spPr>
      </p:pic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E0451B8-5CE6-456E-99B2-3577F49324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8" name="灯片编号占位符 7">
            <a:extLst>
              <a:ext uri="{FF2B5EF4-FFF2-40B4-BE49-F238E27FC236}">
                <a16:creationId xmlns:a16="http://schemas.microsoft.com/office/drawing/2014/main" id="{E39F468B-0575-48D2-90ED-15A193F074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33585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C50142E9-A136-4104-9B7D-A709C65546F9}"/>
              </a:ext>
            </a:extLst>
          </p:cNvPr>
          <p:cNvSpPr txBox="1"/>
          <p:nvPr/>
        </p:nvSpPr>
        <p:spPr>
          <a:xfrm>
            <a:off x="1868430" y="1630305"/>
            <a:ext cx="8435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第三步：更新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软件源，先输入命令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update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，然后输入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upgrade -y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64258" y="520394"/>
            <a:ext cx="7884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AE764A-EB1C-4428-8BA7-07C2CA68F686}"/>
              </a:ext>
            </a:extLst>
          </p:cNvPr>
          <p:cNvSpPr/>
          <p:nvPr/>
        </p:nvSpPr>
        <p:spPr>
          <a:xfrm>
            <a:off x="1627632" y="1435609"/>
            <a:ext cx="8936736" cy="902582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2C7A55F7-5200-42D2-BB5B-74B9099C0575}"/>
              </a:ext>
            </a:extLst>
          </p:cNvPr>
          <p:cNvSpPr txBox="1"/>
          <p:nvPr/>
        </p:nvSpPr>
        <p:spPr>
          <a:xfrm>
            <a:off x="1894332" y="3023894"/>
            <a:ext cx="8590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第四步：安装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所需的工具，命令：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install -y git build-essential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-system-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misc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gcc-riscv64-linux-gnu binutils-riscv64-linux-gnu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5" name="矩形: 圆角 14">
            <a:extLst>
              <a:ext uri="{FF2B5EF4-FFF2-40B4-BE49-F238E27FC236}">
                <a16:creationId xmlns:a16="http://schemas.microsoft.com/office/drawing/2014/main" id="{7EF835AD-455B-4C62-BA0C-5C1933779DEB}"/>
              </a:ext>
            </a:extLst>
          </p:cNvPr>
          <p:cNvSpPr/>
          <p:nvPr/>
        </p:nvSpPr>
        <p:spPr>
          <a:xfrm>
            <a:off x="1627632" y="2921748"/>
            <a:ext cx="8936736" cy="11276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: 圆角 15">
            <a:extLst>
              <a:ext uri="{FF2B5EF4-FFF2-40B4-BE49-F238E27FC236}">
                <a16:creationId xmlns:a16="http://schemas.microsoft.com/office/drawing/2014/main" id="{C76321C0-6255-4A1D-B5A9-6C794A554904}"/>
              </a:ext>
            </a:extLst>
          </p:cNvPr>
          <p:cNvSpPr/>
          <p:nvPr/>
        </p:nvSpPr>
        <p:spPr>
          <a:xfrm>
            <a:off x="1627632" y="4669504"/>
            <a:ext cx="8936736" cy="17746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C78E99A8-565B-4CFC-A3AD-32762CB08F08}"/>
              </a:ext>
            </a:extLst>
          </p:cNvPr>
          <p:cNvSpPr txBox="1"/>
          <p:nvPr/>
        </p:nvSpPr>
        <p:spPr>
          <a:xfrm>
            <a:off x="2071500" y="4754160"/>
            <a:ext cx="8590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第五步：检查工具是否安装成功，执行如下命令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riscv64-linux-gnu-gcc --version</a:t>
            </a: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qemu-system-riscv64 --version</a:t>
            </a:r>
          </a:p>
          <a:p>
            <a:pPr algn="just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---version</a:t>
            </a: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三个都要能正常显示出版本号，不能显示的重新安装一次</a:t>
            </a: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2778F33F-E2E9-48FD-9D11-BBEB5F835E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E78876B2-1568-4087-9774-93DC876890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206016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64258" y="520394"/>
            <a:ext cx="7884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方法二：</a:t>
            </a:r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Windows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AE764A-EB1C-4428-8BA7-07C2CA68F686}"/>
              </a:ext>
            </a:extLst>
          </p:cNvPr>
          <p:cNvSpPr/>
          <p:nvPr/>
        </p:nvSpPr>
        <p:spPr>
          <a:xfrm>
            <a:off x="1627632" y="1435608"/>
            <a:ext cx="8936736" cy="1993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9EBA13-C69C-4D16-9E74-C1988277B653}"/>
              </a:ext>
            </a:extLst>
          </p:cNvPr>
          <p:cNvSpPr txBox="1"/>
          <p:nvPr/>
        </p:nvSpPr>
        <p:spPr>
          <a:xfrm>
            <a:off x="2590532" y="1481196"/>
            <a:ext cx="6109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第六步：下载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，建议源码放在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自己的文件系统里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~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mkdir os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os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clone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https://github.com/mit-pdos/xv6-riscv.git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501D32E-192A-48EB-B003-644A927BC0AF}"/>
              </a:ext>
            </a:extLst>
          </p:cNvPr>
          <p:cNvSpPr/>
          <p:nvPr/>
        </p:nvSpPr>
        <p:spPr>
          <a:xfrm>
            <a:off x="1627632" y="4344215"/>
            <a:ext cx="8936736" cy="1993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1E2512-25E9-4D66-8805-466291021B80}"/>
              </a:ext>
            </a:extLst>
          </p:cNvPr>
          <p:cNvSpPr txBox="1"/>
          <p:nvPr/>
        </p:nvSpPr>
        <p:spPr>
          <a:xfrm>
            <a:off x="2514600" y="4960727"/>
            <a:ext cx="7434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第七步：编译并运行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，运行命令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，完成之后可以进行简单的测试，比如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echo hello 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5F3A18D-35BF-468D-BC07-2B1B84A6B6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A44BA8A7-C376-4917-8342-7AF9D9EB64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178363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系统配置环境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3B2EAF-29A7-4E65-B7D7-ADC622D213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33E8652B-9767-4359-AD3F-031E35574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0594759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4A7E391D-A3E0-4B31-8139-EE5B1403EC18}"/>
              </a:ext>
            </a:extLst>
          </p:cNvPr>
          <p:cNvSpPr txBox="1"/>
          <p:nvPr/>
        </p:nvSpPr>
        <p:spPr>
          <a:xfrm>
            <a:off x="2064258" y="520394"/>
            <a:ext cx="7884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B42A3DB4-234E-447D-8059-89376CC7478E}"/>
              </a:ext>
            </a:extLst>
          </p:cNvPr>
          <p:cNvSpPr txBox="1"/>
          <p:nvPr/>
        </p:nvSpPr>
        <p:spPr>
          <a:xfrm>
            <a:off x="1868430" y="2037766"/>
            <a:ext cx="843534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第三步：更新 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 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软件源，先输入命令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update</a:t>
            </a:r>
            <a:r>
              <a:rPr lang="zh-CN" altLang="en-US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，然后输入</a:t>
            </a:r>
            <a:r>
              <a:rPr lang="en-US" altLang="zh-CN" sz="2000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sz="2000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upgrade -y</a:t>
            </a:r>
            <a:endParaRPr lang="zh-CN" altLang="en-US" sz="20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BEEB6085-0B58-475D-87CF-4D3E7FA99E59}"/>
              </a:ext>
            </a:extLst>
          </p:cNvPr>
          <p:cNvSpPr txBox="1"/>
          <p:nvPr/>
        </p:nvSpPr>
        <p:spPr>
          <a:xfrm>
            <a:off x="1894332" y="3431355"/>
            <a:ext cx="859078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第五步：安装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所需的工具，命令：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sudo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apt install -y git build-essential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-system-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misc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gcc-riscv64-linux-gnu binutils-riscv64-linux-gnu</a:t>
            </a:r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矩形: 圆角 4">
            <a:extLst>
              <a:ext uri="{FF2B5EF4-FFF2-40B4-BE49-F238E27FC236}">
                <a16:creationId xmlns:a16="http://schemas.microsoft.com/office/drawing/2014/main" id="{BDA15D12-DA21-4071-87DE-5A00C8CEE986}"/>
              </a:ext>
            </a:extLst>
          </p:cNvPr>
          <p:cNvSpPr/>
          <p:nvPr/>
        </p:nvSpPr>
        <p:spPr>
          <a:xfrm>
            <a:off x="1627632" y="3329209"/>
            <a:ext cx="8936736" cy="11276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0029431A-46AD-47A3-87BE-CCF72E4460C3}"/>
              </a:ext>
            </a:extLst>
          </p:cNvPr>
          <p:cNvSpPr/>
          <p:nvPr/>
        </p:nvSpPr>
        <p:spPr>
          <a:xfrm>
            <a:off x="1627632" y="4669504"/>
            <a:ext cx="8936736" cy="1774656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4894F47-5D86-489B-812B-10D30457B7D5}"/>
              </a:ext>
            </a:extLst>
          </p:cNvPr>
          <p:cNvSpPr txBox="1"/>
          <p:nvPr/>
        </p:nvSpPr>
        <p:spPr>
          <a:xfrm>
            <a:off x="2071500" y="4754160"/>
            <a:ext cx="859078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第六步：检查工具是否安装成功，执行如下命令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riscv64-linux-gnu-gcc --version</a:t>
            </a: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qemu-system-riscv64 --version</a:t>
            </a:r>
          </a:p>
          <a:p>
            <a:pPr algn="just"/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---version</a:t>
            </a: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三个都要能正常显示出版本号，不能显示的重新安装一次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883F6629-C3C9-4EC1-8105-CF4F4E4DFF92}"/>
              </a:ext>
            </a:extLst>
          </p:cNvPr>
          <p:cNvSpPr/>
          <p:nvPr/>
        </p:nvSpPr>
        <p:spPr>
          <a:xfrm>
            <a:off x="1627632" y="1891519"/>
            <a:ext cx="8936736" cy="1127623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5B3016C-BAB9-4D23-A65D-1C9167481EEF}"/>
              </a:ext>
            </a:extLst>
          </p:cNvPr>
          <p:cNvSpPr txBox="1"/>
          <p:nvPr/>
        </p:nvSpPr>
        <p:spPr>
          <a:xfrm>
            <a:off x="1801368" y="1286448"/>
            <a:ext cx="61264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直接打开终端开始输入命令，无需安装其余软件</a:t>
            </a: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20CFCE3C-96A9-4BF0-9D61-2160A6BBDD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70A0163-F4F2-438F-96C8-72E461BEB4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947305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文本框 4">
            <a:extLst>
              <a:ext uri="{FF2B5EF4-FFF2-40B4-BE49-F238E27FC236}">
                <a16:creationId xmlns:a16="http://schemas.microsoft.com/office/drawing/2014/main" id="{9A960768-A740-4628-8096-5592A3A58949}"/>
              </a:ext>
            </a:extLst>
          </p:cNvPr>
          <p:cNvSpPr txBox="1"/>
          <p:nvPr/>
        </p:nvSpPr>
        <p:spPr>
          <a:xfrm>
            <a:off x="2064258" y="520394"/>
            <a:ext cx="7884414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32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67AE764A-EB1C-4428-8BA7-07C2CA68F686}"/>
              </a:ext>
            </a:extLst>
          </p:cNvPr>
          <p:cNvSpPr/>
          <p:nvPr/>
        </p:nvSpPr>
        <p:spPr>
          <a:xfrm>
            <a:off x="1627632" y="1435608"/>
            <a:ext cx="8936736" cy="1993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C9EBA13-C69C-4D16-9E74-C1988277B653}"/>
              </a:ext>
            </a:extLst>
          </p:cNvPr>
          <p:cNvSpPr txBox="1"/>
          <p:nvPr/>
        </p:nvSpPr>
        <p:spPr>
          <a:xfrm>
            <a:off x="2590532" y="1481196"/>
            <a:ext cx="610958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第六步：下载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，建议源码放在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Ubuntu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自己的文件系统里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~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mkdir os</a:t>
            </a:r>
          </a:p>
          <a:p>
            <a:r>
              <a:rPr lang="pt-BR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os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git clone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  <a:hlinkClick r:id="rId2"/>
              </a:rPr>
              <a:t>https://github.com/mit-pdos/xv6-riscv.git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9" name="矩形: 圆角 18">
            <a:extLst>
              <a:ext uri="{FF2B5EF4-FFF2-40B4-BE49-F238E27FC236}">
                <a16:creationId xmlns:a16="http://schemas.microsoft.com/office/drawing/2014/main" id="{4501D32E-192A-48EB-B003-644A927BC0AF}"/>
              </a:ext>
            </a:extLst>
          </p:cNvPr>
          <p:cNvSpPr/>
          <p:nvPr/>
        </p:nvSpPr>
        <p:spPr>
          <a:xfrm>
            <a:off x="1627632" y="4344215"/>
            <a:ext cx="8936736" cy="199339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1E2512-25E9-4D66-8805-466291021B80}"/>
              </a:ext>
            </a:extLst>
          </p:cNvPr>
          <p:cNvSpPr txBox="1"/>
          <p:nvPr/>
        </p:nvSpPr>
        <p:spPr>
          <a:xfrm>
            <a:off x="2514600" y="4960727"/>
            <a:ext cx="74340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第七步：编译并运行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，运行命令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，完成之后可以进行简单的测试，比如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ls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、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echo hello xv6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等命令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C6105802-7D2E-488B-BECE-B1430DAC88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109A056-AD2A-4A1C-B5CE-362CD785A2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2320866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系统配置环境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91A248C-C82F-43D9-852E-DA132A2B62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2DC0DAA8-9D0F-4864-AD2B-1DD7949A73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75854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2">
            <a:extLst>
              <a:ext uri="{FF2B5EF4-FFF2-40B4-BE49-F238E27FC236}">
                <a16:creationId xmlns:a16="http://schemas.microsoft.com/office/drawing/2014/main" id="{ED87E409-836D-4819-8643-6C0E31534BEA}"/>
              </a:ext>
            </a:extLst>
          </p:cNvPr>
          <p:cNvSpPr/>
          <p:nvPr/>
        </p:nvSpPr>
        <p:spPr>
          <a:xfrm>
            <a:off x="2493264" y="1179576"/>
            <a:ext cx="6949440" cy="1220724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3" name="Rounded Rectangle 3">
            <a:extLst>
              <a:ext uri="{FF2B5EF4-FFF2-40B4-BE49-F238E27FC236}">
                <a16:creationId xmlns:a16="http://schemas.microsoft.com/office/drawing/2014/main" id="{FCB092C5-EB1C-4543-981F-EF5B57BAAFDA}"/>
              </a:ext>
            </a:extLst>
          </p:cNvPr>
          <p:cNvSpPr/>
          <p:nvPr/>
        </p:nvSpPr>
        <p:spPr>
          <a:xfrm>
            <a:off x="2493264" y="2640330"/>
            <a:ext cx="6949440" cy="891540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4" name="Rounded Rectangle 4">
            <a:extLst>
              <a:ext uri="{FF2B5EF4-FFF2-40B4-BE49-F238E27FC236}">
                <a16:creationId xmlns:a16="http://schemas.microsoft.com/office/drawing/2014/main" id="{6B7DC64F-C0BE-4207-A84E-D9CC2853616D}"/>
              </a:ext>
            </a:extLst>
          </p:cNvPr>
          <p:cNvSpPr/>
          <p:nvPr/>
        </p:nvSpPr>
        <p:spPr>
          <a:xfrm>
            <a:off x="2493264" y="3784472"/>
            <a:ext cx="6949440" cy="137160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Rounded Rectangle 5">
            <a:extLst>
              <a:ext uri="{FF2B5EF4-FFF2-40B4-BE49-F238E27FC236}">
                <a16:creationId xmlns:a16="http://schemas.microsoft.com/office/drawing/2014/main" id="{6F2C1188-B6CF-4C3B-87D4-1E1468530207}"/>
              </a:ext>
            </a:extLst>
          </p:cNvPr>
          <p:cNvSpPr/>
          <p:nvPr/>
        </p:nvSpPr>
        <p:spPr>
          <a:xfrm>
            <a:off x="2493264" y="5303519"/>
            <a:ext cx="6949440" cy="1371601"/>
          </a:xfrm>
          <a:prstGeom prst="roundRect">
            <a:avLst/>
          </a:prstGeom>
          <a:noFill/>
          <a:ln w="19050">
            <a:solidFill>
              <a:schemeClr val="tx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 anchor="ctr"/>
          <a:lstStyle>
            <a:defPPr>
              <a:defRPr lang="en-US">
                <a:solidFill>
                  <a:schemeClr val="lt1"/>
                </a:solidFill>
              </a:defRPr>
            </a:defPPr>
            <a:lvl1pPr marL="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defRPr sz="1400"/>
            </a:pPr>
            <a:endParaRPr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807837A-7A19-4EE5-87BD-F6B84D9EB67D}"/>
              </a:ext>
            </a:extLst>
          </p:cNvPr>
          <p:cNvSpPr txBox="1"/>
          <p:nvPr/>
        </p:nvSpPr>
        <p:spPr>
          <a:xfrm>
            <a:off x="2749296" y="1261778"/>
            <a:ext cx="6595872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第一步：安装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Homebrew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软件包管理器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打开终端，输入命令安装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Homebrew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>
              <a:defRPr sz="14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/bin/bash -c "$(curl –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fsSL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https://raw.githubusercontent.com/Homebrew/install/HEAD/install.sh)"</a:t>
            </a:r>
          </a:p>
          <a:p>
            <a:endParaRPr lang="zh-CN" altLang="en-US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19396C71-C515-4A39-80A5-C74E0A7F3361}"/>
              </a:ext>
            </a:extLst>
          </p:cNvPr>
          <p:cNvSpPr txBox="1"/>
          <p:nvPr/>
        </p:nvSpPr>
        <p:spPr>
          <a:xfrm>
            <a:off x="2749296" y="2732914"/>
            <a:ext cx="65958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第二步：安装 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所需工具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执行命令：</a:t>
            </a:r>
          </a:p>
          <a:p>
            <a:pPr>
              <a:defRPr sz="14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brew install git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-tools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endParaRPr lang="en-US" altLang="zh-CN" dirty="0">
              <a:solidFill>
                <a:schemeClr val="tx1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zh-CN" altLang="en-US" dirty="0"/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79920EB0-5F16-480F-AA2F-1C8280511035}"/>
              </a:ext>
            </a:extLst>
          </p:cNvPr>
          <p:cNvSpPr txBox="1"/>
          <p:nvPr/>
        </p:nvSpPr>
        <p:spPr>
          <a:xfrm>
            <a:off x="2749296" y="3771900"/>
            <a:ext cx="6595872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第三步：检查工具是否安装成功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执行以下命令：</a:t>
            </a:r>
          </a:p>
          <a:p>
            <a:pPr>
              <a:defRPr sz="14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riscv64-unknown-elf-gcc --version</a:t>
            </a:r>
          </a:p>
          <a:p>
            <a:pPr>
              <a:defRPr sz="14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qemu-system-riscv64 --version</a:t>
            </a:r>
          </a:p>
          <a:p>
            <a:pPr>
              <a:defRPr sz="1400"/>
            </a:pP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--version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三个命令均正常显示版本号表示安装成功</a:t>
            </a:r>
          </a:p>
          <a:p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8E2AB9C-F6F0-4E55-A212-BE35EFE839A3}"/>
              </a:ext>
            </a:extLst>
          </p:cNvPr>
          <p:cNvSpPr txBox="1"/>
          <p:nvPr/>
        </p:nvSpPr>
        <p:spPr>
          <a:xfrm>
            <a:off x="2798064" y="5469788"/>
            <a:ext cx="6595872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下载源码：</a:t>
            </a:r>
          </a:p>
          <a:p>
            <a:pPr>
              <a:defRPr sz="1400"/>
            </a:pP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git clone https://github.com/mit-pdos/xv6-riscv.git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进入目录：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cd xv6-riscv</a:t>
            </a:r>
          </a:p>
          <a:p>
            <a:pPr>
              <a:defRPr sz="1400"/>
            </a:pPr>
            <a:r>
              <a:rPr lang="zh-CN" altLang="en-US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运行：</a:t>
            </a:r>
            <a:r>
              <a:rPr lang="en-US" altLang="zh-CN" dirty="0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lang="en-US" altLang="zh-CN" dirty="0" err="1">
                <a:solidFill>
                  <a:schemeClr val="tx1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endParaRPr lang="zh-CN" altLang="en-US" dirty="0"/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2850290A-4D2C-4548-9217-307F82EEE873}"/>
              </a:ext>
            </a:extLst>
          </p:cNvPr>
          <p:cNvSpPr txBox="1"/>
          <p:nvPr/>
        </p:nvSpPr>
        <p:spPr>
          <a:xfrm>
            <a:off x="2590038" y="454194"/>
            <a:ext cx="609447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macOS</a:t>
            </a:r>
            <a:r>
              <a:rPr lang="zh-CN" altLang="en-US" sz="28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配置实验环境具体步骤</a:t>
            </a:r>
          </a:p>
        </p:txBody>
      </p:sp>
      <p:sp>
        <p:nvSpPr>
          <p:cNvPr id="10" name="页脚占位符 9">
            <a:extLst>
              <a:ext uri="{FF2B5EF4-FFF2-40B4-BE49-F238E27FC236}">
                <a16:creationId xmlns:a16="http://schemas.microsoft.com/office/drawing/2014/main" id="{11BD29B5-9416-40B2-84FD-1AE13E2A0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031A7D6A-1444-4D32-8A33-EB79D759ED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8321491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调试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7E04B87-5B8D-4786-9249-EA3C43D6E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FBCB148-750E-4A89-8F3C-40C70834AC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6387085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GDB</a:t>
            </a:r>
          </a:p>
        </p:txBody>
      </p:sp>
      <p:sp>
        <p:nvSpPr>
          <p:cNvPr id="3" name="Text 1"/>
          <p:cNvSpPr/>
          <p:nvPr/>
        </p:nvSpPr>
        <p:spPr>
          <a:xfrm>
            <a:off x="438784" y="658495"/>
            <a:ext cx="10854055" cy="409575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  <a:defRPr sz="1300" b="0">
                <a:latin typeface="宋体" panose="02010600030101010101" pitchFamily="2" charset="-122"/>
              </a:defRPr>
            </a:pP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GDB（GNU Debugger）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是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GNU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项目调试器的缩写，它是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Linux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下一个强大的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C/C++（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以及其他如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xv6）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程序调试工具</a:t>
            </a:r>
            <a:r>
              <a:rPr lang="zh-CN" altLang="en-US" sz="1600" b="0" dirty="0">
                <a:latin typeface="宋体" panose="02010600030101010101" pitchFamily="2" charset="-122"/>
              </a:rPr>
              <a:t>。</a:t>
            </a:r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1508760" cy="475488"/>
          </a:xfrm>
          <a:prstGeom prst="roundRect">
            <a:avLst>
              <a:gd name="adj" fmla="val 15385"/>
            </a:avLst>
          </a:prstGeom>
          <a:solidFill>
            <a:srgbClr val="F3F4F6"/>
          </a:solidFill>
          <a:ln w="8890">
            <a:solidFill>
              <a:srgbClr val="D5DC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307592"/>
            <a:ext cx="136245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程序运行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2834640" y="1115568"/>
            <a:ext cx="1737360" cy="713232"/>
          </a:xfrm>
          <a:prstGeom prst="roundRect">
            <a:avLst>
              <a:gd name="adj" fmla="val 10256"/>
            </a:avLst>
          </a:prstGeom>
          <a:solidFill>
            <a:srgbClr val="EAF2FF"/>
          </a:solidFill>
          <a:ln w="8890">
            <a:solidFill>
              <a:srgbClr val="D5DC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2907792" y="1188720"/>
            <a:ext cx="159105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设置断点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程序暂停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257800" y="1115568"/>
            <a:ext cx="2148840" cy="713232"/>
          </a:xfrm>
          <a:prstGeom prst="roundRect">
            <a:avLst>
              <a:gd name="adj" fmla="val 10256"/>
            </a:avLst>
          </a:prstGeom>
          <a:solidFill>
            <a:srgbClr val="EAF7EC"/>
          </a:solidFill>
          <a:ln w="8890">
            <a:solidFill>
              <a:srgbClr val="D5DCE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330952" y="1188720"/>
            <a:ext cx="2002536" cy="56692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查看现场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变量 / 栈 / 寄存器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092440" y="1234440"/>
            <a:ext cx="1874520" cy="475488"/>
          </a:xfrm>
          <a:prstGeom prst="roundRect">
            <a:avLst>
              <a:gd name="adj" fmla="val 15385"/>
            </a:avLst>
          </a:prstGeom>
          <a:solidFill>
            <a:srgbClr val="FFF4E5"/>
          </a:solidFill>
          <a:ln w="8890">
            <a:solidFill>
              <a:srgbClr val="D5DCE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165592" y="1307592"/>
            <a:ext cx="1728216" cy="329184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继续 / 单步执行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2194560" y="1472184"/>
            <a:ext cx="594360" cy="0"/>
          </a:xfrm>
          <a:prstGeom prst="line">
            <a:avLst/>
          </a:prstGeom>
          <a:noFill/>
          <a:ln w="19050">
            <a:solidFill>
              <a:srgbClr val="1F5A9D"/>
            </a:solidFill>
            <a:prstDash val="solid"/>
            <a:headEnd type="none"/>
            <a:tailEnd type="triangle"/>
          </a:ln>
        </p:spPr>
      </p:sp>
      <p:sp>
        <p:nvSpPr>
          <p:cNvPr id="13" name="Shape 11"/>
          <p:cNvSpPr/>
          <p:nvPr/>
        </p:nvSpPr>
        <p:spPr>
          <a:xfrm>
            <a:off x="4617720" y="1472184"/>
            <a:ext cx="594360" cy="0"/>
          </a:xfrm>
          <a:prstGeom prst="line">
            <a:avLst/>
          </a:prstGeom>
          <a:noFill/>
          <a:ln w="19050">
            <a:solidFill>
              <a:srgbClr val="1F5A9D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452360" y="1472184"/>
            <a:ext cx="594360" cy="0"/>
          </a:xfrm>
          <a:prstGeom prst="line">
            <a:avLst/>
          </a:prstGeom>
          <a:noFill/>
          <a:ln w="19050">
            <a:solidFill>
              <a:srgbClr val="1F5A9D"/>
            </a:solidFill>
            <a:prstDash val="solid"/>
            <a:headEnd type="none"/>
            <a:tailEnd type="triangle"/>
          </a:ln>
        </p:spPr>
      </p:sp>
      <p:sp>
        <p:nvSpPr>
          <p:cNvPr id="15" name="Shape 13"/>
          <p:cNvSpPr/>
          <p:nvPr/>
        </p:nvSpPr>
        <p:spPr>
          <a:xfrm>
            <a:off x="640080" y="2240280"/>
            <a:ext cx="5166360" cy="3326765"/>
          </a:xfrm>
          <a:prstGeom prst="roundRect">
            <a:avLst>
              <a:gd name="adj" fmla="val 2540"/>
            </a:avLst>
          </a:prstGeom>
          <a:solidFill>
            <a:srgbClr val="F6F8FA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68680" y="2468880"/>
            <a:ext cx="265176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GDB</a:t>
            </a:r>
            <a:r>
              <a:rPr lang="zh-CN" altLang="en-US" sz="20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的功能</a:t>
            </a:r>
          </a:p>
        </p:txBody>
      </p:sp>
      <p:sp>
        <p:nvSpPr>
          <p:cNvPr id="17" name="Text 15"/>
          <p:cNvSpPr/>
          <p:nvPr/>
        </p:nvSpPr>
        <p:spPr>
          <a:xfrm>
            <a:off x="895985" y="2926080"/>
            <a:ext cx="4389120" cy="242316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285750" indent="-285750"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设置断点：开发者可以在程序的特定位置设置断点，当程序运行到这些位置时，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会暂停程序的执行，以便开发者进行调试。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单步调试：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允许开发者逐行执行程序，以便观察程序在每一步的执行情况。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查看变量的值：开发者可以在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中查看程序中变量的当前值，以便了解程序的内部状态。</a:t>
            </a:r>
          </a:p>
          <a:p>
            <a:pPr marL="285750" indent="-285750"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动态改变程序的执行环境：</a:t>
            </a:r>
            <a:r>
              <a:rPr lang="en-US" altLang="zh-CN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  <a:r>
              <a:rPr lang="zh-CN" altLang="en-US" sz="1600" b="0" dirty="0">
                <a:latin typeface="微软雅黑" panose="020B0503020204020204" pitchFamily="34" charset="-122"/>
                <a:ea typeface="微软雅黑" panose="020B0503020204020204" pitchFamily="34" charset="-122"/>
              </a:rPr>
              <a:t>允许开发者在程序运行时动态地改变程序的执行环境，如修改变量的值、改变程序的输入等。</a:t>
            </a:r>
          </a:p>
          <a:p>
            <a:pPr marL="0" indent="0">
              <a:buNone/>
              <a:defRPr sz="1250" b="0">
                <a:latin typeface="宋体" panose="02010600030101010101" pitchFamily="2" charset="-122"/>
              </a:defRPr>
            </a:pPr>
            <a:endParaRPr lang="zh-CN" altLang="en-US" sz="1600" b="0" dirty="0">
              <a:latin typeface="宋体" panose="02010600030101010101" pitchFamily="2" charset="-122"/>
            </a:endParaRPr>
          </a:p>
        </p:txBody>
      </p:sp>
      <p:sp>
        <p:nvSpPr>
          <p:cNvPr id="18" name="Shape 16"/>
          <p:cNvSpPr/>
          <p:nvPr/>
        </p:nvSpPr>
        <p:spPr>
          <a:xfrm>
            <a:off x="6172200" y="2240280"/>
            <a:ext cx="5212080" cy="3300730"/>
          </a:xfrm>
          <a:prstGeom prst="roundRect">
            <a:avLst>
              <a:gd name="adj" fmla="val 2540"/>
            </a:avLst>
          </a:prstGeom>
          <a:solidFill>
            <a:srgbClr val="FBFBFB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400800" y="2468880"/>
            <a:ext cx="2743200" cy="292608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111111"/>
                </a:solidFill>
                <a:latin typeface="黑体" panose="02010609060101010101" pitchFamily="34" charset="-122"/>
                <a:ea typeface="黑体" panose="02010609060101010101" pitchFamily="34" charset="-122"/>
                <a:cs typeface="黑体" panose="02010609060101010101" pitchFamily="34" charset="-120"/>
              </a:rPr>
              <a:t>在 xv6 实验中怎么用？</a:t>
            </a:r>
          </a:p>
        </p:txBody>
      </p:sp>
      <p:sp>
        <p:nvSpPr>
          <p:cNvPr id="20" name="Text 18"/>
          <p:cNvSpPr/>
          <p:nvPr/>
        </p:nvSpPr>
        <p:spPr>
          <a:xfrm>
            <a:off x="6428105" y="2926080"/>
            <a:ext cx="4480560" cy="2404745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Autofit/>
          </a:bodyPr>
          <a:lstStyle/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xv6 属于内核程序，错误信息通常不如普通应用程序直观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普通 make qemu 主要用于观察系统运行结果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GDB 可用于观察执行过程：暂停位置、变量值和函数调用链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常用于 syscall、trap、pagetable、lock 等实验排错</a:t>
            </a:r>
          </a:p>
          <a:p>
            <a:pPr marL="285750" indent="-285750" algn="l">
              <a:buClrTx/>
              <a:buSzTx/>
              <a:buFont typeface="Arial" panose="020B0604020202020204" pitchFamily="34" charset="0"/>
              <a:buChar char="•"/>
              <a:defRPr sz="1250" b="0">
                <a:latin typeface="宋体" panose="02010600030101010101" pitchFamily="2" charset="-122"/>
              </a:defRPr>
            </a:pPr>
            <a:r>
              <a:rPr lang="zh-CN" altLang="en-US" sz="1600" dirty="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调试时 QEMU 负责运行 xv6，GDB 通过调试端口进行控制</a:t>
            </a:r>
            <a:endParaRPr lang="zh-CN" altLang="en-US" sz="1600" b="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2" name="Text 20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1/4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798" y="228600"/>
            <a:ext cx="6615914" cy="5232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 sz="2800">
                <a:latin typeface="微软雅黑" panose="020B0503020204020204" pitchFamily="34" charset="-122"/>
                <a:ea typeface="微软雅黑" panose="020B0503020204020204" pitchFamily="34" charset="-122"/>
              </a:rPr>
              <a:t>xv6 中的 GDB 调试模型：两个终端配合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086" y="685800"/>
            <a:ext cx="5052986" cy="33855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QEMU 负责运行 xv6，GDB 负责连接并控制其执行。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68414" y="1984248"/>
            <a:ext cx="2103120" cy="731520"/>
          </a:xfrm>
          <a:prstGeom prst="roundRect">
            <a:avLst/>
          </a:prstGeom>
          <a:solidFill>
            <a:srgbClr val="FFFAE8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终端一</a:t>
            </a:r>
            <a:b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QEMU / xv6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608894" y="1984248"/>
            <a:ext cx="2834640" cy="73152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200" b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调试连接</a:t>
            </a:r>
            <a:br>
              <a:rPr sz="1200" b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1200" b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 通过 QEMU 暴露的端口控制虚拟 CPU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409494" y="1984248"/>
            <a:ext cx="1920240" cy="73152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终端二</a:t>
            </a:r>
            <a:b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</a:br>
            <a:r>
              <a:rPr sz="15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GDB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2871534" y="2350008"/>
            <a:ext cx="1737360" cy="0"/>
          </a:xfrm>
          <a:prstGeom prst="line">
            <a:avLst/>
          </a:prstGeom>
          <a:ln w="25400">
            <a:solidFill>
              <a:srgbClr val="1F5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7443534" y="2350008"/>
            <a:ext cx="1965960" cy="0"/>
          </a:xfrm>
          <a:prstGeom prst="line">
            <a:avLst/>
          </a:prstGeom>
          <a:ln w="25400">
            <a:solidFill>
              <a:srgbClr val="1F5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ectangle 8"/>
          <p:cNvSpPr/>
          <p:nvPr/>
        </p:nvSpPr>
        <p:spPr>
          <a:xfrm>
            <a:off x="768414" y="2807208"/>
            <a:ext cx="2514600" cy="731520"/>
          </a:xfrm>
          <a:prstGeom prst="rect">
            <a:avLst/>
          </a:prstGeom>
          <a:solidFill>
            <a:srgbClr val="F5F6F8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l">
              <a:defRPr sz="1200">
                <a:solidFill>
                  <a:srgbClr val="141414"/>
                </a:solidFill>
                <a:latin typeface="Consolas" panose="020B0609020204030204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cd ~/xv6-labs-2026</a:t>
            </a:r>
          </a:p>
          <a:p>
            <a:pPr algn="l">
              <a:defRPr sz="1200">
                <a:solidFill>
                  <a:srgbClr val="141414"/>
                </a:solidFill>
                <a:latin typeface="Consolas" panose="020B0609020204030204"/>
              </a:defRPr>
            </a:pPr>
            <a:r>
              <a:rPr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qemu-gdb</a:t>
            </a:r>
            <a:endParaRPr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9135174" y="2807208"/>
            <a:ext cx="2514600" cy="731520"/>
          </a:xfrm>
          <a:prstGeom prst="rect">
            <a:avLst/>
          </a:prstGeom>
          <a:solidFill>
            <a:srgbClr val="F5F6F8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l">
              <a:defRPr sz="1200">
                <a:solidFill>
                  <a:srgbClr val="141414"/>
                </a:solidFill>
                <a:latin typeface="Consolas" panose="020B0609020204030204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cd ~/xv6-labs-2026</a:t>
            </a:r>
          </a:p>
          <a:p>
            <a:pPr algn="l">
              <a:defRPr sz="1200">
                <a:solidFill>
                  <a:srgbClr val="141414"/>
                </a:solidFill>
                <a:latin typeface="Consolas" panose="020B0609020204030204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06742" y="4507992"/>
            <a:ext cx="22860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7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基本调试流程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1792542" y="5010912"/>
            <a:ext cx="1874519" cy="45720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先启动 QEMU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078542" y="5010912"/>
            <a:ext cx="1874519" cy="457200"/>
          </a:xfrm>
          <a:prstGeom prst="roundRect">
            <a:avLst/>
          </a:prstGeom>
          <a:solidFill>
            <a:srgbClr val="E8F5E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 dirty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 </a:t>
            </a:r>
            <a:r>
              <a:rPr sz="1600" b="1" dirty="0" err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再启动</a:t>
            </a:r>
            <a:r>
              <a:rPr sz="1600" b="1" dirty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GDB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64542" y="5010912"/>
            <a:ext cx="1874519" cy="457200"/>
          </a:xfrm>
          <a:prstGeom prst="roundRect">
            <a:avLst/>
          </a:prstGeom>
          <a:solidFill>
            <a:srgbClr val="E8F1FD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3 设置断点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650542" y="5010912"/>
            <a:ext cx="1874519" cy="457200"/>
          </a:xfrm>
          <a:prstGeom prst="roundRect">
            <a:avLst/>
          </a:prstGeom>
          <a:solidFill>
            <a:srgbClr val="E8F5EA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1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4 继续运行并观察</a:t>
            </a:r>
          </a:p>
        </p:txBody>
      </p:sp>
      <p:cxnSp>
        <p:nvCxnSpPr>
          <p:cNvPr id="20" name="Connector 19"/>
          <p:cNvCxnSpPr>
            <a:cxnSpLocks/>
          </p:cNvCxnSpPr>
          <p:nvPr/>
        </p:nvCxnSpPr>
        <p:spPr>
          <a:xfrm>
            <a:off x="3667062" y="5239512"/>
            <a:ext cx="411480" cy="0"/>
          </a:xfrm>
          <a:prstGeom prst="line">
            <a:avLst/>
          </a:prstGeom>
          <a:ln w="22860">
            <a:solidFill>
              <a:srgbClr val="1F5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>
            <a:cxnSpLocks/>
          </p:cNvCxnSpPr>
          <p:nvPr/>
        </p:nvCxnSpPr>
        <p:spPr>
          <a:xfrm>
            <a:off x="5953062" y="5239512"/>
            <a:ext cx="411480" cy="0"/>
          </a:xfrm>
          <a:prstGeom prst="line">
            <a:avLst/>
          </a:prstGeom>
          <a:ln w="22860">
            <a:solidFill>
              <a:srgbClr val="1F5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>
            <a:cxnSpLocks/>
          </p:cNvCxnSpPr>
          <p:nvPr/>
        </p:nvCxnSpPr>
        <p:spPr>
          <a:xfrm>
            <a:off x="8239062" y="5239512"/>
            <a:ext cx="411480" cy="0"/>
          </a:xfrm>
          <a:prstGeom prst="line">
            <a:avLst/>
          </a:prstGeom>
          <a:ln w="22860">
            <a:solidFill>
              <a:srgbClr val="1F5D9D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TextBox 22"/>
          <p:cNvSpPr txBox="1"/>
          <p:nvPr/>
        </p:nvSpPr>
        <p:spPr>
          <a:xfrm>
            <a:off x="11506518" y="6492240"/>
            <a:ext cx="33528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宋体" panose="02010600030101010101" pitchFamily="2" charset="-122"/>
              </a:defRPr>
            </a:pPr>
            <a:r>
              <a:t>2/4</a:t>
            </a:r>
          </a:p>
        </p:txBody>
      </p:sp>
      <p:sp>
        <p:nvSpPr>
          <p:cNvPr id="11" name="页脚占位符 10">
            <a:extLst>
              <a:ext uri="{FF2B5EF4-FFF2-40B4-BE49-F238E27FC236}">
                <a16:creationId xmlns:a16="http://schemas.microsoft.com/office/drawing/2014/main" id="{8512C06D-E95B-4CA8-B7B3-EA5733DBB0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2" name="灯片编号占位符 11">
            <a:extLst>
              <a:ext uri="{FF2B5EF4-FFF2-40B4-BE49-F238E27FC236}">
                <a16:creationId xmlns:a16="http://schemas.microsoft.com/office/drawing/2014/main" id="{2739A652-2186-45ED-B019-4BAE6252F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25</a:t>
            </a:fld>
            <a:endParaRPr lang="zh-CN" alt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256032"/>
            <a:ext cx="8686800" cy="34747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11111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黑体" panose="02010609060101010101" pitchFamily="34" charset="-120"/>
              </a:rPr>
              <a:t>GDB 常用命令</a:t>
            </a:r>
            <a:endParaRPr lang="en-US" sz="28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1" name="Shape 69"/>
          <p:cNvSpPr/>
          <p:nvPr/>
        </p:nvSpPr>
        <p:spPr>
          <a:xfrm>
            <a:off x="8001000" y="1060704"/>
            <a:ext cx="3611880" cy="4069080"/>
          </a:xfrm>
          <a:prstGeom prst="roundRect">
            <a:avLst>
              <a:gd name="adj" fmla="val 2025"/>
            </a:avLst>
          </a:prstGeom>
          <a:solidFill>
            <a:srgbClr val="F7F7F7"/>
          </a:solidFill>
          <a:ln w="10160">
            <a:solidFill>
              <a:srgbClr val="E5E7EB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8275320" y="1298448"/>
            <a:ext cx="1645920" cy="2286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使用要点</a:t>
            </a:r>
          </a:p>
        </p:txBody>
      </p:sp>
      <p:sp>
        <p:nvSpPr>
          <p:cNvPr id="73" name="Text 71"/>
          <p:cNvSpPr/>
          <p:nvPr/>
        </p:nvSpPr>
        <p:spPr>
          <a:xfrm>
            <a:off x="8275320" y="1764792"/>
            <a:ext cx="2743200" cy="1325880"/>
          </a:xfrm>
          <a:prstGeom prst="rect">
            <a:avLst/>
          </a:prstGeom>
          <a:noFill/>
        </p:spPr>
        <p:txBody>
          <a:bodyPr wrap="square" lIns="635" tIns="635" rIns="635" bIns="635" rtlCol="0" anchor="t">
            <a:normAutofit/>
          </a:bodyPr>
          <a:lstStyle/>
          <a:p>
            <a:pPr>
              <a:defRPr sz="135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b：指定程序暂停的位置</a:t>
            </a:r>
          </a:p>
          <a:p>
            <a:pPr>
              <a:defRPr sz="135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c：从当前位置继续执行</a:t>
            </a:r>
          </a:p>
          <a:p>
            <a:pPr>
              <a:defRPr sz="135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n / s：控制单步执行方式</a:t>
            </a:r>
          </a:p>
          <a:p>
            <a:pPr>
              <a:defRPr sz="135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p / bt：查看变量和调用栈</a:t>
            </a:r>
          </a:p>
          <a:p>
            <a:pPr>
              <a:defRPr sz="135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  <a:sym typeface="+mn-ea"/>
              </a:rPr>
              <a:t>q：退出 GDB</a:t>
            </a:r>
            <a:endParaRPr lang="en-US" sz="1600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6" name="Text 74"/>
          <p:cNvSpPr/>
          <p:nvPr/>
        </p:nvSpPr>
        <p:spPr>
          <a:xfrm>
            <a:off x="11292840" y="6446520"/>
            <a:ext cx="502920" cy="164592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777777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34" charset="-120"/>
              </a:rPr>
              <a:t>3/4</a:t>
            </a:r>
            <a:endParaRPr lang="en-US" sz="900" dirty="0"/>
          </a:p>
        </p:txBody>
      </p:sp>
      <p:graphicFrame>
        <p:nvGraphicFramePr>
          <p:cNvPr id="78" name="Table 3"/>
          <p:cNvGraphicFramePr>
            <a:graphicFrameLocks noGrp="1"/>
          </p:cNvGraphicFramePr>
          <p:nvPr/>
        </p:nvGraphicFramePr>
        <p:xfrm>
          <a:off x="478790" y="802640"/>
          <a:ext cx="7353935" cy="564434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713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03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57873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40574"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 panose="02010609060101010101" pitchFamily="34" charset="-122"/>
                        </a:defRPr>
                      </a:pPr>
                      <a:r>
                        <a:rPr sz="1600"/>
                        <a:t>命令</a:t>
                      </a:r>
                    </a:p>
                  </a:txBody>
                  <a:tcPr>
                    <a:solidFill>
                      <a:srgbClr val="1F5D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 panose="02010609060101010101" pitchFamily="34" charset="-122"/>
                        </a:defRPr>
                      </a:pPr>
                      <a:r>
                        <a:rPr sz="1600"/>
                        <a:t>作用</a:t>
                      </a:r>
                    </a:p>
                  </a:txBody>
                  <a:tcPr>
                    <a:solidFill>
                      <a:srgbClr val="1F5D9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黑体" panose="02010609060101010101" pitchFamily="34" charset="-122"/>
                        </a:defRPr>
                      </a:pPr>
                      <a:r>
                        <a:rPr sz="1600"/>
                        <a:t>常见写法</a:t>
                      </a:r>
                    </a:p>
                  </a:txBody>
                  <a:tcPr>
                    <a:solidFill>
                      <a:srgbClr val="1F5D9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break / b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 dirty="0" err="1"/>
                        <a:t>设置断点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b main；b syscall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continue / 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 dirty="0" err="1"/>
                        <a:t>继续运行到断点</a:t>
                      </a:r>
                      <a:endParaRPr sz="1600" dirty="0"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c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 dirty="0"/>
                        <a:t>next / 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 dirty="0" err="1"/>
                        <a:t>执行下一行，不进入函数内部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n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 dirty="0"/>
                        <a:t>step / 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 dirty="0" err="1"/>
                        <a:t>执行下一行，遇到函数调用则进入函数内部</a:t>
                      </a:r>
                      <a:endParaRPr sz="1600" dirty="0"/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s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print / 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/>
                        <a:t>查看变量或表达式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p x；p/x $pc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backtrace / bt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/>
                        <a:t>查看函数调用栈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bt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info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 dirty="0" err="1"/>
                        <a:t>查看调试信息</a:t>
                      </a:r>
                      <a:endParaRPr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 dirty="0"/>
                        <a:t>info </a:t>
                      </a:r>
                      <a:r>
                        <a:rPr sz="1600" dirty="0" err="1"/>
                        <a:t>args；info</a:t>
                      </a:r>
                      <a:r>
                        <a:rPr sz="1600" dirty="0"/>
                        <a:t> registers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watch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/>
                        <a:t>监视变量变化，变化时暂停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watch x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440574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delete / disable / enable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/>
                        <a:t>删除、禁用或启用断点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 dirty="0"/>
                        <a:t>delete 1；disable 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40580"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/>
                        <a:t>quit / q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宋体" panose="02010600030101010101" pitchFamily="2" charset="-122"/>
                        </a:defRPr>
                      </a:pPr>
                      <a:r>
                        <a:rPr sz="1600"/>
                        <a:t>退出 GDB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>
                          <a:solidFill>
                            <a:srgbClr val="141414"/>
                          </a:solidFill>
                          <a:latin typeface="Consolas" panose="020B0609020204030204"/>
                        </a:defRPr>
                      </a:pPr>
                      <a:r>
                        <a:rPr sz="1600" dirty="0"/>
                        <a:t>q</a:t>
                      </a:r>
                    </a:p>
                  </a:txBody>
                  <a:tcPr>
                    <a:solidFill>
                      <a:srgbClr val="FAFAF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411798" y="228600"/>
            <a:ext cx="7045960" cy="47561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两个基础演示：在 main 与 syscall 处设置断点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30086" y="685800"/>
            <a:ext cx="4310380" cy="29146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5A5A5A"/>
                </a:solidFill>
                <a:latin typeface="宋体" panose="02010600030101010101" pitchFamily="2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演示程序如何在断点处暂停，以及暂停后如何观察状态。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678" y="1097280"/>
            <a:ext cx="5349240" cy="4206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868998" y="1325880"/>
            <a:ext cx="256032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示例一：在 main 函数处暂停</a:t>
            </a:r>
          </a:p>
        </p:txBody>
      </p:sp>
      <p:sp>
        <p:nvSpPr>
          <p:cNvPr id="6" name="Rectangle 5"/>
          <p:cNvSpPr/>
          <p:nvPr/>
        </p:nvSpPr>
        <p:spPr>
          <a:xfrm>
            <a:off x="868998" y="2011680"/>
            <a:ext cx="2514600" cy="1783080"/>
          </a:xfrm>
          <a:prstGeom prst="rect">
            <a:avLst/>
          </a:prstGeom>
          <a:solidFill>
            <a:srgbClr val="F5F6F8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# 终端一</a:t>
            </a: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make qemu-gdb</a:t>
            </a: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endParaRPr sz="160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# 终端二</a:t>
            </a: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gdb-multiarch</a:t>
            </a: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b main</a:t>
            </a:r>
          </a:p>
          <a:p>
            <a:pPr algn="l">
              <a:defRPr sz="110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566795" y="1920240"/>
            <a:ext cx="2127885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断点命中的典型输出</a:t>
            </a:r>
          </a:p>
        </p:txBody>
      </p:sp>
      <p:sp>
        <p:nvSpPr>
          <p:cNvPr id="8" name="Rectangle 7"/>
          <p:cNvSpPr/>
          <p:nvPr/>
        </p:nvSpPr>
        <p:spPr>
          <a:xfrm>
            <a:off x="3566478" y="2395728"/>
            <a:ext cx="2057400" cy="685800"/>
          </a:xfrm>
          <a:prstGeom prst="rect">
            <a:avLst/>
          </a:prstGeom>
          <a:solidFill>
            <a:srgbClr val="F5F6F8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ctr">
              <a:defRPr sz="980">
                <a:solidFill>
                  <a:srgbClr val="141414"/>
                </a:solidFill>
                <a:latin typeface="Consolas" panose="020B0609020204030204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Thread ... hit Breakpoint 1,</a:t>
            </a:r>
          </a:p>
          <a:p>
            <a:pPr>
              <a:defRPr sz="980">
                <a:solidFill>
                  <a:srgbClr val="141414"/>
                </a:solidFill>
                <a:latin typeface="Consolas" panose="020B0609020204030204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main() at kernel/main.c:13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66795" y="3337560"/>
            <a:ext cx="2377440" cy="15684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出现该信息，说明 GDB 已成功连接 QEMU 并命中断点</a:t>
            </a:r>
          </a:p>
          <a:p>
            <a:pPr>
              <a:defRPr sz="1130" b="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随后可使用 n、s、bt 等命令继续观察执行过程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263958" y="1097280"/>
            <a:ext cx="5349240" cy="4206240"/>
          </a:xfrm>
          <a:prstGeom prst="roundRect">
            <a:avLst/>
          </a:prstGeom>
          <a:solidFill>
            <a:srgbClr val="F8F9FB"/>
          </a:solidFill>
          <a:ln w="12700">
            <a:solidFill>
              <a:srgbClr val="D2D7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endParaRPr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538278" y="1325880"/>
            <a:ext cx="2697480" cy="645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>
                <a:latin typeface="微软雅黑" panose="020B0503020204020204" pitchFamily="34" charset="-122"/>
                <a:ea typeface="微软雅黑" panose="020B0503020204020204" pitchFamily="34" charset="-122"/>
              </a:rPr>
              <a:t>示例二：在 syscall 函数处暂停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8278" y="2011680"/>
            <a:ext cx="2697480" cy="1783080"/>
          </a:xfrm>
          <a:prstGeom prst="rect">
            <a:avLst/>
          </a:prstGeom>
          <a:solidFill>
            <a:srgbClr val="F5F6F8"/>
          </a:solidFill>
          <a:ln w="12700">
            <a:solidFill>
              <a:srgbClr val="CDD2D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lIns="109728" tIns="73152" rIns="109728" bIns="73152" rtlCol="0" anchor="ctr"/>
          <a:lstStyle/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b syscall</a:t>
            </a:r>
          </a:p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c</a:t>
            </a:r>
          </a:p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# xv6 中发生系统调用后暂停</a:t>
            </a:r>
          </a:p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bt</a:t>
            </a:r>
          </a:p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p /x p-&gt;trapframe-&gt;a7</a:t>
            </a:r>
          </a:p>
          <a:p>
            <a:pPr algn="l">
              <a:defRPr sz="1050">
                <a:solidFill>
                  <a:srgbClr val="141414"/>
                </a:solidFill>
                <a:latin typeface="Consolas" panose="020B0609020204030204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(gdb) info registers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64358" y="1874519"/>
            <a:ext cx="1828800" cy="33718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 b="1">
                <a:solidFill>
                  <a:srgbClr val="141414"/>
                </a:solidFill>
                <a:latin typeface="黑体" panose="02010609060101010101" pitchFamily="34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此时可观察的信息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464675" y="2331720"/>
            <a:ext cx="2145030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30" b="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bt：查看调用链，分析如何进入 syscall</a:t>
            </a:r>
          </a:p>
          <a:p>
            <a:pPr>
              <a:defRPr sz="1130" b="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p /x：以十六进制查看变量或系统调用号</a:t>
            </a:r>
          </a:p>
          <a:p>
            <a:pPr>
              <a:defRPr sz="1130" b="0">
                <a:solidFill>
                  <a:srgbClr val="141414"/>
                </a:solidFill>
                <a:latin typeface="宋体" panose="02010600030101010101" pitchFamily="2" charset="-122"/>
              </a:defRPr>
            </a:pPr>
            <a:r>
              <a:rPr sz="1600">
                <a:latin typeface="微软雅黑" panose="020B0503020204020204" pitchFamily="34" charset="-122"/>
                <a:ea typeface="微软雅黑" panose="020B0503020204020204" pitchFamily="34" charset="-122"/>
              </a:rPr>
              <a:t>• info registers：查看当前 CPU 寄存器状态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86118" y="5715000"/>
            <a:ext cx="10835640" cy="502920"/>
          </a:xfrm>
          <a:prstGeom prst="roundRect">
            <a:avLst/>
          </a:prstGeom>
          <a:solidFill>
            <a:srgbClr val="FFFAE8"/>
          </a:solidFill>
          <a:ln w="12700">
            <a:solidFill>
              <a:srgbClr val="E8D59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lIns="109728" tIns="73152" rIns="109728" bIns="73152" rtlCol="0" anchor="ctr"/>
          <a:lstStyle/>
          <a:p>
            <a:pPr algn="ctr"/>
            <a:r>
              <a:rPr sz="1600" b="0">
                <a:solidFill>
                  <a:srgbClr val="141414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补充说明：退出 GDB 使用 q；退出 QEMU / xv6 使用 Ctrl + A，松开后按 X。GDB 的价值在于使 xv6 在关键位置暂停，并观察变量、调用栈与寄存器状态。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506518" y="6492240"/>
            <a:ext cx="335280" cy="213995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800">
                <a:solidFill>
                  <a:srgbClr val="5A5A5A"/>
                </a:solidFill>
                <a:latin typeface="宋体" panose="02010600030101010101" pitchFamily="2" charset="-122"/>
              </a:defRPr>
            </a:pPr>
            <a:r>
              <a:t>4/4</a:t>
            </a:r>
          </a:p>
        </p:txBody>
      </p:sp>
      <p:sp>
        <p:nvSpPr>
          <p:cNvPr id="17" name="页脚占位符 16">
            <a:extLst>
              <a:ext uri="{FF2B5EF4-FFF2-40B4-BE49-F238E27FC236}">
                <a16:creationId xmlns:a16="http://schemas.microsoft.com/office/drawing/2014/main" id="{D731124C-329E-4537-91F6-C30A48278A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18" name="灯片编号占位符 17">
            <a:extLst>
              <a:ext uri="{FF2B5EF4-FFF2-40B4-BE49-F238E27FC236}">
                <a16:creationId xmlns:a16="http://schemas.microsoft.com/office/drawing/2014/main" id="{93455531-FA4E-4F09-B838-43394EC8D5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27</a:t>
            </a:fld>
            <a:endParaRPr lang="zh-CN" alt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D03FF64-6893-48DB-AD07-75F105CE7A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常用工具介绍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F1B0F67-7A2D-4168-917B-881DF4F387A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6894DB17-6328-4142-9853-905C7559AC1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1240617-2995-4AB0-BE92-459600C84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6759298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C47CD47D-0812-5F5E-8AA0-B4316F994F4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09852" y="1811907"/>
            <a:ext cx="9448800" cy="2491490"/>
          </a:xfrm>
        </p:spPr>
        <p:txBody>
          <a:bodyPr wrap="square" anchor="ctr">
            <a:normAutofit/>
          </a:bodyPr>
          <a:lstStyle/>
          <a:p>
            <a:pPr algn="ctr">
              <a:defRPr sz="49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9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</a:t>
            </a:r>
            <a:r>
              <a:rPr sz="49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简明介绍</a:t>
            </a:r>
            <a:endParaRPr sz="49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283B85AD-626B-46B7-0C36-31F5BABDE10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93700" y="4742208"/>
            <a:ext cx="5702301" cy="1080246"/>
          </a:xfrm>
        </p:spPr>
        <p:txBody>
          <a:bodyPr wrap="square" anchor="t">
            <a:normAutofit/>
          </a:bodyPr>
          <a:lstStyle/>
          <a:p>
            <a:pPr algn="l">
              <a:lnSpc>
                <a:spcPct val="100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 C </a:t>
            </a:r>
            <a:r>
              <a:rPr sz="18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源代码到可执行程序</a:t>
            </a:r>
            <a:endParaRPr sz="180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 algn="l">
              <a:lnSpc>
                <a:spcPct val="100000"/>
              </a:lnSpc>
              <a:buNone/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面向</a:t>
            </a:r>
            <a:r>
              <a:rPr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xv6 </a:t>
            </a:r>
            <a:r>
              <a:rPr sz="18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实验的快速入门</a:t>
            </a:r>
            <a:endParaRPr sz="1800" b="0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6" name="Subtitle 4">
            <a:extLst>
              <a:ext uri="{FF2B5EF4-FFF2-40B4-BE49-F238E27FC236}">
                <a16:creationId xmlns:a16="http://schemas.microsoft.com/office/drawing/2014/main" id="{543BAB87-2ABE-9D84-8400-3B5ABA08B3C2}"/>
              </a:ext>
            </a:extLst>
          </p:cNvPr>
          <p:cNvSpPr>
            <a:spLocks noGrp="1"/>
          </p:cNvSpPr>
          <p:nvPr/>
        </p:nvSpPr>
        <p:spPr>
          <a:xfrm>
            <a:off x="393700" y="392241"/>
            <a:ext cx="5702300" cy="649159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indent="0" algn="ctr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def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GNU Compiler Collection</a:t>
            </a:r>
          </a:p>
        </p:txBody>
      </p:sp>
    </p:spTree>
    <p:extLst>
      <p:ext uri="{BB962C8B-B14F-4D97-AF65-F5344CB8AC3E}">
        <p14:creationId xmlns:p14="http://schemas.microsoft.com/office/powerpoint/2010/main" val="325878331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C936F667-D10C-5292-AA3B-96BE2CAC84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3700" y="1838848"/>
            <a:ext cx="5533190" cy="4155552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GNU 编译器集合</a:t>
            </a: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支持 C、C++ 等多种语言。日常执行的 gcc 命令，通常用于编译 C 程序。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3787D66-ADFA-FEAC-9070-B9C216CEFEAB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C5959EFF-52C4-5B31-3FCE-BFF3A75CF3CF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fld id="{E2598689-54C9-18A7-3A19-ED76AA08988F}" type="slidenum"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30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69ED97F-6CDE-1EE8-6602-FE9CC4D732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是什么</a:t>
            </a:r>
          </a:p>
        </p:txBody>
      </p:sp>
      <p:sp>
        <p:nvSpPr>
          <p:cNvPr id="2" name="Google Shape;534;p58">
            <a:extLst>
              <a:ext uri="{FF2B5EF4-FFF2-40B4-BE49-F238E27FC236}">
                <a16:creationId xmlns:a16="http://schemas.microsoft.com/office/drawing/2014/main" id="{A4A94F3C-B1B2-7289-7098-7C66C8A291D6}"/>
              </a:ext>
            </a:extLst>
          </p:cNvPr>
          <p:cNvSpPr>
            <a:spLocks noGrp="1"/>
          </p:cNvSpPr>
          <p:nvPr/>
        </p:nvSpPr>
        <p:spPr>
          <a:xfrm>
            <a:off x="6265111" y="2192694"/>
            <a:ext cx="5537200" cy="3801706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它完成什么</a:t>
            </a: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把源代码转换为机器代码，并组织预处理、编译、汇编和链接。
C++ 程序通常使用 g++。</a:t>
            </a:r>
          </a:p>
        </p:txBody>
      </p:sp>
    </p:spTree>
    <p:extLst>
      <p:ext uri="{BB962C8B-B14F-4D97-AF65-F5344CB8AC3E}">
        <p14:creationId xmlns:p14="http://schemas.microsoft.com/office/powerpoint/2010/main" val="5462217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C44867F-CEA9-06EF-47ED-8F63A6DAE69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787BCE7D-BEA2-12A4-00CE-1447A3C11BCB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ctr">
            <a:norm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fld id="{202359C0-8A7A-196E-DD58-8E6569619F09}" type="slidenum"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31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451E053B-8CD7-DAF7-BA60-B58D00D61D0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ctr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从源代码到可执行文件</a:t>
            </a:r>
            <a:endParaRPr sz="31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534" name="Google Shape;534;p58">
            <a:extLst>
              <a:ext uri="{FF2B5EF4-FFF2-40B4-BE49-F238E27FC236}">
                <a16:creationId xmlns:a16="http://schemas.microsoft.com/office/drawing/2014/main" id="{92B9D060-8F6B-685E-C699-7CF3FDA228BA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1722438"/>
            <a:ext cx="5537200" cy="865187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 fontScale="90971"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一条命令完成整个流程</a:t>
            </a:r>
            <a:endParaRPr sz="14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1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8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hello.c</a:t>
            </a:r>
            <a:r>
              <a:rPr sz="18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-o hello</a:t>
            </a:r>
          </a:p>
        </p:txBody>
      </p:sp>
      <p:sp>
        <p:nvSpPr>
          <p:cNvPr id="2" name="Content Placeholder 10">
            <a:extLst>
              <a:ext uri="{FF2B5EF4-FFF2-40B4-BE49-F238E27FC236}">
                <a16:creationId xmlns:a16="http://schemas.microsoft.com/office/drawing/2014/main" id="{F1357382-F889-8A40-7C64-C4E276E66544}"/>
              </a:ext>
            </a:extLst>
          </p:cNvPr>
          <p:cNvSpPr>
            <a:spLocks noGrp="1"/>
          </p:cNvSpPr>
          <p:nvPr/>
        </p:nvSpPr>
        <p:spPr>
          <a:xfrm>
            <a:off x="7886700" y="2990317"/>
            <a:ext cx="3911600" cy="54875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① 预处理　展开 #include 与宏</a:t>
            </a:r>
          </a:p>
        </p:txBody>
      </p:sp>
      <p:sp>
        <p:nvSpPr>
          <p:cNvPr id="3" name="Google Shape;340;p61">
            <a:extLst>
              <a:ext uri="{FF2B5EF4-FFF2-40B4-BE49-F238E27FC236}">
                <a16:creationId xmlns:a16="http://schemas.microsoft.com/office/drawing/2014/main" id="{DECE1942-1885-9577-DF5F-685A8B1C7180}"/>
              </a:ext>
            </a:extLst>
          </p:cNvPr>
          <p:cNvSpPr>
            <a:spLocks noGrp="1"/>
          </p:cNvSpPr>
          <p:nvPr/>
        </p:nvSpPr>
        <p:spPr>
          <a:xfrm>
            <a:off x="7507725" y="3015150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0BD0609-EAC0-DFEC-8761-6C5A72DB268A}"/>
              </a:ext>
            </a:extLst>
          </p:cNvPr>
          <p:cNvSpPr>
            <a:spLocks noGrp="1"/>
          </p:cNvSpPr>
          <p:nvPr/>
        </p:nvSpPr>
        <p:spPr>
          <a:xfrm>
            <a:off x="393700" y="2990316"/>
            <a:ext cx="5537200" cy="2884636"/>
          </a:xfrm>
          <a:prstGeom prst="rect">
            <a:avLst/>
          </a:prstGeom>
          <a:noFill/>
        </p:spPr>
        <p:txBody>
          <a:bodyPr wrap="square" lIns="0" tIns="0" rIns="0" bIns="0" anchor="t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常见中间文件</a:t>
            </a:r>
            <a:endParaRPr sz="22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hello.i：预处理结果</a:t>
            </a:r>
            <a:r>
              <a:rPr sz="17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7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hello.s：汇编代码</a:t>
            </a:r>
            <a:r>
              <a:rPr sz="17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7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hello.o：目标文件</a:t>
            </a:r>
            <a:r>
              <a:rPr sz="17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
-E、-S、-c </a:t>
            </a:r>
            <a:r>
              <a:rPr sz="17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可让</a:t>
            </a:r>
            <a:r>
              <a:rPr sz="17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GCC </a:t>
            </a:r>
            <a:r>
              <a:rPr sz="17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停在对应阶段</a:t>
            </a:r>
            <a:r>
              <a:rPr sz="17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6" name="Content Placeholder 10">
            <a:extLst>
              <a:ext uri="{FF2B5EF4-FFF2-40B4-BE49-F238E27FC236}">
                <a16:creationId xmlns:a16="http://schemas.microsoft.com/office/drawing/2014/main" id="{01B260BF-9264-3C70-DF2D-2E6EA83AC133}"/>
              </a:ext>
            </a:extLst>
          </p:cNvPr>
          <p:cNvSpPr>
            <a:spLocks noGrp="1"/>
          </p:cNvSpPr>
          <p:nvPr/>
        </p:nvSpPr>
        <p:spPr>
          <a:xfrm>
            <a:off x="7886700" y="3599916"/>
            <a:ext cx="3911600" cy="54875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② 编译　　C 代码变成汇编代码</a:t>
            </a:r>
          </a:p>
        </p:txBody>
      </p:sp>
      <p:sp>
        <p:nvSpPr>
          <p:cNvPr id="17" name="Google Shape;340;p61">
            <a:extLst>
              <a:ext uri="{FF2B5EF4-FFF2-40B4-BE49-F238E27FC236}">
                <a16:creationId xmlns:a16="http://schemas.microsoft.com/office/drawing/2014/main" id="{A6CF1E9A-BF4C-E7B2-D556-8AB5FB2B65F0}"/>
              </a:ext>
            </a:extLst>
          </p:cNvPr>
          <p:cNvSpPr>
            <a:spLocks noGrp="1"/>
          </p:cNvSpPr>
          <p:nvPr/>
        </p:nvSpPr>
        <p:spPr>
          <a:xfrm>
            <a:off x="7507725" y="3624749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8" name="Content Placeholder 10">
            <a:extLst>
              <a:ext uri="{FF2B5EF4-FFF2-40B4-BE49-F238E27FC236}">
                <a16:creationId xmlns:a16="http://schemas.microsoft.com/office/drawing/2014/main" id="{FE696631-18B5-8115-E5AD-ACCFD6221418}"/>
              </a:ext>
            </a:extLst>
          </p:cNvPr>
          <p:cNvSpPr>
            <a:spLocks noGrp="1"/>
          </p:cNvSpPr>
          <p:nvPr/>
        </p:nvSpPr>
        <p:spPr>
          <a:xfrm>
            <a:off x="7886700" y="4214765"/>
            <a:ext cx="3911600" cy="54875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③ </a:t>
            </a:r>
            <a:r>
              <a:rPr sz="15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汇编</a:t>
            </a: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15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汇编代码变成目标文件</a:t>
            </a: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.o</a:t>
            </a:r>
          </a:p>
        </p:txBody>
      </p:sp>
      <p:sp>
        <p:nvSpPr>
          <p:cNvPr id="19" name="Google Shape;340;p61">
            <a:extLst>
              <a:ext uri="{FF2B5EF4-FFF2-40B4-BE49-F238E27FC236}">
                <a16:creationId xmlns:a16="http://schemas.microsoft.com/office/drawing/2014/main" id="{6ECBDA1E-6C7D-6B0F-A430-DF8A0965C58D}"/>
              </a:ext>
            </a:extLst>
          </p:cNvPr>
          <p:cNvSpPr>
            <a:spLocks noGrp="1"/>
          </p:cNvSpPr>
          <p:nvPr/>
        </p:nvSpPr>
        <p:spPr>
          <a:xfrm>
            <a:off x="7507725" y="4239598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0" name="Content Placeholder 10">
            <a:extLst>
              <a:ext uri="{FF2B5EF4-FFF2-40B4-BE49-F238E27FC236}">
                <a16:creationId xmlns:a16="http://schemas.microsoft.com/office/drawing/2014/main" id="{9FC4B09F-4593-687E-52A3-7E683F7FE9E4}"/>
              </a:ext>
            </a:extLst>
          </p:cNvPr>
          <p:cNvSpPr>
            <a:spLocks noGrp="1"/>
          </p:cNvSpPr>
          <p:nvPr/>
        </p:nvSpPr>
        <p:spPr>
          <a:xfrm>
            <a:off x="7886700" y="4824364"/>
            <a:ext cx="3911600" cy="54875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④ 链接　　合并目标文件与程序库</a:t>
            </a:r>
          </a:p>
        </p:txBody>
      </p:sp>
      <p:sp>
        <p:nvSpPr>
          <p:cNvPr id="21" name="Google Shape;340;p61">
            <a:extLst>
              <a:ext uri="{FF2B5EF4-FFF2-40B4-BE49-F238E27FC236}">
                <a16:creationId xmlns:a16="http://schemas.microsoft.com/office/drawing/2014/main" id="{006032E6-DDFC-FA22-4D08-3BFFC755BB8D}"/>
              </a:ext>
            </a:extLst>
          </p:cNvPr>
          <p:cNvSpPr>
            <a:spLocks noGrp="1"/>
          </p:cNvSpPr>
          <p:nvPr/>
        </p:nvSpPr>
        <p:spPr>
          <a:xfrm>
            <a:off x="7507725" y="48491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23" name="Content Placeholder 10">
            <a:extLst>
              <a:ext uri="{FF2B5EF4-FFF2-40B4-BE49-F238E27FC236}">
                <a16:creationId xmlns:a16="http://schemas.microsoft.com/office/drawing/2014/main" id="{EDAB1F81-E12B-29DC-E09F-27F129E42AE8}"/>
              </a:ext>
            </a:extLst>
          </p:cNvPr>
          <p:cNvSpPr>
            <a:spLocks noGrp="1"/>
          </p:cNvSpPr>
          <p:nvPr/>
        </p:nvSpPr>
        <p:spPr>
          <a:xfrm>
            <a:off x="7886700" y="5446664"/>
            <a:ext cx="3911600" cy="548750"/>
          </a:xfrm>
          <a:prstGeom prst="rect">
            <a:avLst/>
          </a:prstGeom>
        </p:spPr>
        <p:txBody>
          <a:bodyPr vert="horz" wrap="square" lIns="0" tIns="0" rIns="0" bIns="0" anchor="ctr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0000"/>
              </a:lnSpc>
              <a:spcBef>
                <a:spcPts val="0"/>
              </a:spcBef>
              <a:buFontTx/>
              <a:buNone/>
              <a:defRPr sz="15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⑤ </a:t>
            </a:r>
            <a:r>
              <a:rPr sz="15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输出</a:t>
            </a: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　　</a:t>
            </a:r>
            <a:r>
              <a:rPr sz="1500" b="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生成可执行程序</a:t>
            </a:r>
            <a:r>
              <a:rPr sz="15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hello</a:t>
            </a:r>
          </a:p>
        </p:txBody>
      </p:sp>
      <p:sp>
        <p:nvSpPr>
          <p:cNvPr id="24" name="Google Shape;340;p61">
            <a:extLst>
              <a:ext uri="{FF2B5EF4-FFF2-40B4-BE49-F238E27FC236}">
                <a16:creationId xmlns:a16="http://schemas.microsoft.com/office/drawing/2014/main" id="{A052337A-4696-49F7-A089-E21DA71AD3B2}"/>
              </a:ext>
            </a:extLst>
          </p:cNvPr>
          <p:cNvSpPr>
            <a:spLocks noGrp="1"/>
          </p:cNvSpPr>
          <p:nvPr/>
        </p:nvSpPr>
        <p:spPr>
          <a:xfrm>
            <a:off x="7507725" y="5471497"/>
            <a:ext cx="212551" cy="212470"/>
          </a:xfrm>
          <a:custGeom>
            <a:avLst/>
            <a:gdLst/>
            <a:ahLst/>
            <a:cxnLst/>
            <a:rect l="l" t="t" r="r" b="b"/>
            <a:pathLst>
              <a:path w="21600" h="21600">
                <a:moveTo>
                  <a:pt x="10800" y="2160"/>
                </a:moveTo>
                <a:cubicBezTo>
                  <a:pt x="6029" y="2160"/>
                  <a:pt x="2160" y="6029"/>
                  <a:pt x="2160" y="10800"/>
                </a:cubicBezTo>
                <a:cubicBezTo>
                  <a:pt x="2160" y="15571"/>
                  <a:pt x="6029" y="19440"/>
                  <a:pt x="10800" y="19440"/>
                </a:cubicBezTo>
                <a:cubicBezTo>
                  <a:pt x="15571" y="19440"/>
                  <a:pt x="19440" y="15571"/>
                  <a:pt x="19440" y="10800"/>
                </a:cubicBezTo>
                <a:cubicBezTo>
                  <a:pt x="19440" y="6029"/>
                  <a:pt x="15571" y="2160"/>
                  <a:pt x="10800" y="2160"/>
                </a:cubicBezTo>
                <a:close/>
                <a:moveTo>
                  <a:pt x="0" y="10800"/>
                </a:moveTo>
                <a:cubicBezTo>
                  <a:pt x="0" y="4835"/>
                  <a:pt x="4835" y="0"/>
                  <a:pt x="10800" y="0"/>
                </a:cubicBezTo>
                <a:cubicBezTo>
                  <a:pt x="16765" y="0"/>
                  <a:pt x="21600" y="4835"/>
                  <a:pt x="21600" y="10800"/>
                </a:cubicBezTo>
                <a:cubicBezTo>
                  <a:pt x="21600" y="16765"/>
                  <a:pt x="16765" y="21600"/>
                  <a:pt x="10800" y="21600"/>
                </a:cubicBezTo>
                <a:cubicBezTo>
                  <a:pt x="4835" y="21600"/>
                  <a:pt x="0" y="16765"/>
                  <a:pt x="0" y="10800"/>
                </a:cubicBezTo>
                <a:close/>
                <a:moveTo>
                  <a:pt x="15201" y="6407"/>
                </a:moveTo>
                <a:cubicBezTo>
                  <a:pt x="15689" y="6750"/>
                  <a:pt x="15807" y="7424"/>
                  <a:pt x="15463" y="7911"/>
                </a:cubicBezTo>
                <a:lnTo>
                  <a:pt x="10333" y="15201"/>
                </a:lnTo>
                <a:cubicBezTo>
                  <a:pt x="10144" y="15470"/>
                  <a:pt x="9844" y="15637"/>
                  <a:pt x="9517" y="15658"/>
                </a:cubicBezTo>
                <a:cubicBezTo>
                  <a:pt x="9190" y="15678"/>
                  <a:pt x="8871" y="15549"/>
                  <a:pt x="8651" y="15307"/>
                </a:cubicBezTo>
                <a:lnTo>
                  <a:pt x="5951" y="12337"/>
                </a:lnTo>
                <a:cubicBezTo>
                  <a:pt x="5550" y="11895"/>
                  <a:pt x="5583" y="11213"/>
                  <a:pt x="6023" y="10811"/>
                </a:cubicBezTo>
                <a:cubicBezTo>
                  <a:pt x="6465" y="10410"/>
                  <a:pt x="7147" y="10443"/>
                  <a:pt x="7549" y="10883"/>
                </a:cubicBezTo>
                <a:lnTo>
                  <a:pt x="9342" y="12856"/>
                </a:lnTo>
                <a:lnTo>
                  <a:pt x="13697" y="6669"/>
                </a:lnTo>
                <a:cubicBezTo>
                  <a:pt x="14040" y="6181"/>
                  <a:pt x="14714" y="6063"/>
                  <a:pt x="15201" y="6407"/>
                </a:cubicBezTo>
                <a:close/>
              </a:path>
            </a:pathLst>
          </a:custGeom>
          <a:solidFill>
            <a:srgbClr val="000000"/>
          </a:solidFill>
          <a:ln>
            <a:noFill/>
          </a:ln>
        </p:spPr>
        <p:txBody>
          <a:bodyPr spcFirstLastPara="1" wrap="square" lIns="38100" tIns="38100" rIns="38100" bIns="38100" anchor="ctr">
            <a:noAutofit/>
          </a:bodyPr>
          <a:lstStyle/>
          <a:p>
            <a:pPr algn="ctr">
              <a:buClr>
                <a:srgbClr val="FFFFFF"/>
              </a:buClr>
              <a:buSzPts val="2400"/>
              <a:buNone/>
            </a:pPr>
            <a:endParaRPr sz="2400">
              <a:solidFill>
                <a:srgbClr val="FFFFFF"/>
              </a:solidFill>
              <a:latin typeface="Helvetica Neue"/>
              <a:ea typeface="Helvetica Neue"/>
              <a:cs typeface="Helvetica Neue"/>
            </a:endParaRPr>
          </a:p>
        </p:txBody>
      </p:sp>
    </p:spTree>
    <p:extLst>
      <p:ext uri="{BB962C8B-B14F-4D97-AF65-F5344CB8AC3E}">
        <p14:creationId xmlns:p14="http://schemas.microsoft.com/office/powerpoint/2010/main" val="33318791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79D819C-33DB-D779-0CC9-74786C7AA643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B79DB2A-CC47-00B8-FE1C-26473E47EA9C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188" y="6278563"/>
            <a:ext cx="519112" cy="241300"/>
          </a:xfrm>
        </p:spPr>
        <p:txBody>
          <a:bodyPr wrap="square" anchor="ctr">
            <a:norm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fld id="{EFD6AB9A-5F9E-5F59-51AB-3C8734130965}" type="slidenum"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32</a:t>
            </a:fld>
            <a:endParaRPr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89BFFB18-4CB5-6BE2-9B1E-49B4101293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anchor="ctr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四条常用命令</a:t>
            </a:r>
            <a:endParaRPr/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40C911A7-2999-5B10-850F-7785C571AE51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393700" y="2032000"/>
            <a:ext cx="5537200" cy="1643063"/>
          </a:xfrm>
        </p:spPr>
        <p:txBody>
          <a:bodyPr wrap="square" anchor="t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-o main</a:t>
            </a: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编译并指定输出文件名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main。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9591DE77-626F-6364-307D-6A3CECC3E0AC}"/>
              </a:ext>
            </a:extLst>
          </p:cNvPr>
          <p:cNvSpPr>
            <a:spLocks noGrp="1"/>
          </p:cNvSpPr>
          <p:nvPr>
            <p:ph idx="4294967295"/>
          </p:nvPr>
        </p:nvSpPr>
        <p:spPr>
          <a:xfrm>
            <a:off x="6256618" y="2032000"/>
            <a:ext cx="5537200" cy="1643063"/>
          </a:xfrm>
        </p:spPr>
        <p:txBody>
          <a:bodyPr wrap="square" anchor="t">
            <a:normAutofit/>
          </a:bodyPr>
          <a:lstStyle/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-Wall -</a:t>
            </a: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Wextra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endParaRPr sz="21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打开常见警告，适合实验阶段使用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Content Placeholder 9">
            <a:extLst>
              <a:ext uri="{FF2B5EF4-FFF2-40B4-BE49-F238E27FC236}">
                <a16:creationId xmlns:a16="http://schemas.microsoft.com/office/drawing/2014/main" id="{5FBFFE27-6CE4-D49E-8371-7F40817D25C4}"/>
              </a:ext>
            </a:extLst>
          </p:cNvPr>
          <p:cNvSpPr>
            <a:spLocks noGrp="1"/>
          </p:cNvSpPr>
          <p:nvPr/>
        </p:nvSpPr>
        <p:spPr>
          <a:xfrm>
            <a:off x="393700" y="4016975"/>
            <a:ext cx="5537200" cy="1643185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-g -O0 </a:t>
            </a: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endParaRPr sz="21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加入调试信息，并关闭优化，方便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GDB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调试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D6F50C40-7DBA-55A3-751E-00E97654E163}"/>
              </a:ext>
            </a:extLst>
          </p:cNvPr>
          <p:cNvSpPr>
            <a:spLocks noGrp="1"/>
          </p:cNvSpPr>
          <p:nvPr/>
        </p:nvSpPr>
        <p:spPr>
          <a:xfrm>
            <a:off x="6256618" y="4016975"/>
            <a:ext cx="5537200" cy="1643185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</a:t>
            </a:r>
            <a:r>
              <a:rPr sz="21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-c </a:t>
            </a:r>
            <a:r>
              <a:rPr sz="21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main.c</a:t>
            </a:r>
            <a:endParaRPr sz="21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只生成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main.o，不执行链接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360145486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wrap="square" anchor="ctr">
            <a:normAutofit/>
          </a:bodyPr>
          <a:lstStyle/>
          <a:p>
            <a:pPr algn="r">
              <a:def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fld id="{EE5B3003-2C54-13C6-9832-7637201064DE}" type="slidenum">
              <a:rPr sz="9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33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wrap="square" anchor="ctr">
            <a:normAutofit/>
          </a:bodyPr>
          <a:lstStyle/>
          <a:p>
            <a:pPr algn="l">
              <a:defRPr sz="31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15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在 xv6 </a:t>
            </a:r>
            <a:r>
              <a:rPr sz="31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中的角色</a:t>
            </a:r>
            <a:endParaRPr sz="315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</p:txBody>
      </p:sp>
      <p:cxnSp>
        <p:nvCxnSpPr>
          <p:cNvPr id="29" name="Google Shape;2259;p159"/>
          <p:cNvCxnSpPr>
            <a:cxnSpLocks/>
          </p:cNvCxnSpPr>
          <p:nvPr/>
        </p:nvCxnSpPr>
        <p:spPr>
          <a:xfrm>
            <a:off x="337718" y="4679430"/>
            <a:ext cx="12245400" cy="300"/>
          </a:xfrm>
          <a:prstGeom prst="straightConnector1">
            <a:avLst/>
          </a:prstGeom>
          <a:ln w="9525" cap="flat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Google Shape;2260;p159">
            <a:extLst>
              <a:ext uri="{FF2B5EF4-FFF2-40B4-BE49-F238E27FC236}">
                <a16:creationId xmlns:a16="http://schemas.microsoft.com/office/drawing/2014/main" id="{96976673-0764-B027-B369-C8C94D395088}"/>
              </a:ext>
            </a:extLst>
          </p:cNvPr>
          <p:cNvSpPr>
            <a:spLocks noGrp="1"/>
          </p:cNvSpPr>
          <p:nvPr/>
        </p:nvSpPr>
        <p:spPr>
          <a:xfrm>
            <a:off x="337718" y="4636643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5" name="Google Shape;2261;p159">
            <a:extLst>
              <a:ext uri="{FF2B5EF4-FFF2-40B4-BE49-F238E27FC236}">
                <a16:creationId xmlns:a16="http://schemas.microsoft.com/office/drawing/2014/main" id="{80D9DF3C-FD01-7A5C-C521-9B86480D4057}"/>
              </a:ext>
            </a:extLst>
          </p:cNvPr>
          <p:cNvSpPr>
            <a:spLocks noGrp="1"/>
          </p:cNvSpPr>
          <p:nvPr/>
        </p:nvSpPr>
        <p:spPr>
          <a:xfrm>
            <a:off x="4259370" y="4640832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6" name="Google Shape;2262;p159">
            <a:extLst>
              <a:ext uri="{FF2B5EF4-FFF2-40B4-BE49-F238E27FC236}">
                <a16:creationId xmlns:a16="http://schemas.microsoft.com/office/drawing/2014/main" id="{37DF6577-8813-93FC-E0AA-22F96D3445FC}"/>
              </a:ext>
            </a:extLst>
          </p:cNvPr>
          <p:cNvSpPr>
            <a:spLocks noGrp="1"/>
          </p:cNvSpPr>
          <p:nvPr/>
        </p:nvSpPr>
        <p:spPr>
          <a:xfrm>
            <a:off x="8237538" y="4625880"/>
            <a:ext cx="107100" cy="107100"/>
          </a:xfrm>
          <a:prstGeom prst="ellipse">
            <a:avLst/>
          </a:prstGeom>
          <a:solidFill>
            <a:schemeClr val="dk1"/>
          </a:solidFill>
          <a:ln>
            <a:noFill/>
          </a:ln>
        </p:spPr>
        <p:txBody>
          <a:bodyPr spcFirstLastPara="1" wrap="square" lIns="91425" tIns="91425" rIns="91425" bIns="91425" anchor="ctr">
            <a:noAutofit/>
          </a:bodyPr>
          <a:lstStyle/>
          <a:p>
            <a:pPr marL="0" marR="0" lvl="0" indent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OpenAI Sans"/>
              <a:ea typeface="OpenAI Sans"/>
              <a:cs typeface="OpenAI Sans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noGrp="1"/>
          </p:cNvSpPr>
          <p:nvPr/>
        </p:nvSpPr>
        <p:spPr>
          <a:xfrm>
            <a:off x="393700" y="1401762"/>
            <a:ext cx="3568700" cy="2947978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noGrp="1"/>
          </p:cNvSpPr>
          <p:nvPr/>
        </p:nvSpPr>
        <p:spPr>
          <a:xfrm>
            <a:off x="703381" y="1806797"/>
            <a:ext cx="2949339" cy="2566766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WSL2 </a:t>
            </a:r>
            <a:r>
              <a:rPr sz="220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开发环境</a:t>
            </a:r>
            <a:endParaRPr sz="2200" b="1" dirty="0">
              <a:solidFill>
                <a:srgbClr val="000000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 Ubuntu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中编辑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C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源代码。Makefile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负责组织整个构建过程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noGrp="1"/>
          </p:cNvSpPr>
          <p:nvPr/>
        </p:nvSpPr>
        <p:spPr>
          <a:xfrm>
            <a:off x="4308475" y="1401762"/>
            <a:ext cx="3568700" cy="3001528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noGrp="1"/>
          </p:cNvSpPr>
          <p:nvPr/>
        </p:nvSpPr>
        <p:spPr>
          <a:xfrm>
            <a:off x="4618156" y="1806797"/>
            <a:ext cx="2949339" cy="2566766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RISC-V GCC</a:t>
            </a: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交叉编译器把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xv6 的 C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代码转换为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RISC-V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机器代码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noGrp="1"/>
          </p:cNvSpPr>
          <p:nvPr/>
        </p:nvSpPr>
        <p:spPr>
          <a:xfrm>
            <a:off x="8237538" y="1401762"/>
            <a:ext cx="3568700" cy="2946894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noGrp="1"/>
          </p:cNvSpPr>
          <p:nvPr/>
        </p:nvSpPr>
        <p:spPr>
          <a:xfrm>
            <a:off x="8547219" y="1806797"/>
            <a:ext cx="2949339" cy="2566766"/>
          </a:xfrm>
          <a:prstGeom prst="rect">
            <a:avLst/>
          </a:prstGeom>
        </p:spPr>
        <p:txBody>
          <a:bodyPr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lnSpc>
                <a:spcPct val="112000"/>
              </a:lnSpc>
              <a:spcAft>
                <a:spcPts val="900"/>
              </a:spcAft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2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QEMU 与 xv6</a:t>
            </a:r>
          </a:p>
          <a:p>
            <a:pPr>
              <a:lnSpc>
                <a:spcPct val="112000"/>
              </a:lnSpc>
              <a:buNone/>
              <a:defRPr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QEMU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模拟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 RISC-V 计算机，xv6 </a:t>
            </a:r>
            <a:r>
              <a:rPr sz="1600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在其中加载并运行程序</a:t>
            </a:r>
            <a:r>
              <a:rPr sz="160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8" name="Text Placeholder 16">
            <a:extLst>
              <a:ext uri="{FF2B5EF4-FFF2-40B4-BE49-F238E27FC236}">
                <a16:creationId xmlns:a16="http://schemas.microsoft.com/office/drawing/2014/main" id="{013F05BF-0D59-AD7B-B623-A2626D8E3303}"/>
              </a:ext>
            </a:extLst>
          </p:cNvPr>
          <p:cNvSpPr>
            <a:spLocks noGrp="1"/>
          </p:cNvSpPr>
          <p:nvPr/>
        </p:nvSpPr>
        <p:spPr>
          <a:xfrm>
            <a:off x="4259370" y="4861224"/>
            <a:ext cx="2595934" cy="39199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编译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2" name="Text Placeholder 16">
            <a:extLst>
              <a:ext uri="{FF2B5EF4-FFF2-40B4-BE49-F238E27FC236}">
                <a16:creationId xmlns:a16="http://schemas.microsoft.com/office/drawing/2014/main" id="{BD278DD6-3486-8F28-C119-6A1866BD8D2F}"/>
              </a:ext>
            </a:extLst>
          </p:cNvPr>
          <p:cNvSpPr>
            <a:spLocks noGrp="1"/>
          </p:cNvSpPr>
          <p:nvPr/>
        </p:nvSpPr>
        <p:spPr>
          <a:xfrm>
            <a:off x="337718" y="4834649"/>
            <a:ext cx="2595934" cy="39199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编写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13" name="Text Placeholder 16">
            <a:extLst>
              <a:ext uri="{FF2B5EF4-FFF2-40B4-BE49-F238E27FC236}">
                <a16:creationId xmlns:a16="http://schemas.microsoft.com/office/drawing/2014/main" id="{DAB1D750-F0E1-A3C4-989E-260B04C4A85B}"/>
              </a:ext>
            </a:extLst>
          </p:cNvPr>
          <p:cNvSpPr>
            <a:spLocks noGrp="1"/>
          </p:cNvSpPr>
          <p:nvPr/>
        </p:nvSpPr>
        <p:spPr>
          <a:xfrm>
            <a:off x="8237538" y="4952441"/>
            <a:ext cx="2595934" cy="391993"/>
          </a:xfrm>
          <a:prstGeom prst="rect">
            <a:avLst/>
          </a:prstGeom>
        </p:spPr>
        <p:txBody>
          <a:bodyPr wrap="square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marL="0" indent="0" algn="l">
              <a:lnSpc>
                <a:spcPct val="114000"/>
              </a:lnSpc>
              <a:spcBef>
                <a:spcPts val="0"/>
              </a:spcBef>
              <a:spcAft>
                <a:spcPts val="800"/>
              </a:spcAft>
              <a:buFont typeface="Arial"/>
              <a:buNone/>
              <a:defRPr sz="1350" b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 dirty="0" err="1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</a:t>
            </a:r>
            <a:endParaRPr sz="1600" dirty="0">
              <a:solidFill>
                <a:prstClr val="black"/>
              </a:solidFill>
              <a:latin typeface="Helvetica Neue"/>
              <a:ea typeface="Helvetica Neue"/>
              <a:cs typeface="Helvetica Neue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BA1F4010-A542-4FC8-B4C2-165784375915}"/>
              </a:ext>
            </a:extLst>
          </p:cNvPr>
          <p:cNvSpPr txBox="1"/>
          <p:nvPr/>
        </p:nvSpPr>
        <p:spPr>
          <a:xfrm>
            <a:off x="444818" y="5422392"/>
            <a:ext cx="1116806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>
              <a:defRPr sz="1800" b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800" b="1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一句话总结：</a:t>
            </a:r>
            <a:r>
              <a:rPr lang="en-US" altLang="zh-CN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GCC </a:t>
            </a:r>
            <a:r>
              <a:rPr lang="zh-CN" altLang="en-US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把 </a:t>
            </a:r>
            <a:r>
              <a:rPr lang="en-US" altLang="zh-CN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C/C++ </a:t>
            </a:r>
            <a:r>
              <a:rPr lang="zh-CN" altLang="en-US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源代码编译为机器可执行的程序。在 </a:t>
            </a:r>
            <a:r>
              <a:rPr lang="en-US" altLang="zh-CN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xv6 </a:t>
            </a:r>
            <a:r>
              <a:rPr lang="zh-CN" altLang="en-US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中，它生成 </a:t>
            </a:r>
            <a:r>
              <a:rPr lang="en-US" altLang="zh-CN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RISC-V </a:t>
            </a:r>
            <a:r>
              <a:rPr lang="zh-CN" altLang="en-US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代码，由 </a:t>
            </a:r>
            <a:r>
              <a:rPr lang="en-US" altLang="zh-CN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QEMU </a:t>
            </a:r>
            <a:r>
              <a:rPr lang="zh-CN" altLang="en-US" sz="1800" b="0" dirty="0">
                <a:solidFill>
                  <a:srgbClr val="000000"/>
                </a:solidFill>
                <a:latin typeface="Microsoft YaHei"/>
                <a:ea typeface="Microsoft YaHei"/>
                <a:cs typeface="Microsoft YaHei"/>
              </a:rPr>
              <a:t>运行。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00728252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E20367F-43F2-7564-3994-7F969BF46CE8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 anchor="t">
            <a:normAutofit/>
          </a:bodyPr>
          <a:lstStyle/>
          <a:p>
            <a:pPr algn="l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D4C92004-F6FC-8FE6-BAD5-82F7D96E79D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spcFirstLastPara="1" vert="horz"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fld id="{388657AE-30A1-5A7A-6A7F-315D84436430}" type="slidenum">
              <a: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rPr>
              <a:t>34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3A80AAE9-99DA-415B-48E5-DF29485403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00050" y="304800"/>
            <a:ext cx="10953750" cy="666750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Make：自动化构建与增量编译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8" name="Google Shape;534;p58">
            <a:extLst>
              <a:ext uri="{FF2B5EF4-FFF2-40B4-BE49-F238E27FC236}">
                <a16:creationId xmlns:a16="http://schemas.microsoft.com/office/drawing/2014/main" id="{33514EAC-B165-B2D5-733A-EDDA1BA94C46}"/>
              </a:ext>
            </a:extLst>
          </p:cNvPr>
          <p:cNvSpPr>
            <a:spLocks noGrp="1"/>
          </p:cNvSpPr>
          <p:nvPr/>
        </p:nvSpPr>
        <p:spPr>
          <a:xfrm>
            <a:off x="393700" y="2032000"/>
            <a:ext cx="5702300" cy="3962400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Make </a:t>
            </a:r>
            <a:r>
              <a:rPr sz="2000" b="1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解决什么问题</a:t>
            </a:r>
            <a:endParaRPr sz="2000" b="1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一个内核由许多源文件组成。Makefile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记录目标、依赖和构建命令。make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比较文件时间戳，只重建缺失或依赖更新的目标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
</a:t>
            </a: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修改一个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.c </a:t>
            </a: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文件后，不必手工重敲完整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GCC、汇编、链接与镜像生成命令</a:t>
            </a:r>
            <a:r>
              <a:rPr sz="15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4" name="make-rule-bg">
            <a:extLst>
              <a:ext uri="{FF2B5EF4-FFF2-40B4-BE49-F238E27FC236}">
                <a16:creationId xmlns:a16="http://schemas.microsoft.com/office/drawing/2014/main" id="{DF0EE92F-9239-47FA-9CCB-233100837C63}"/>
              </a:ext>
            </a:extLst>
          </p:cNvPr>
          <p:cNvSpPr>
            <a:spLocks noGrp="1"/>
          </p:cNvSpPr>
          <p:nvPr/>
        </p:nvSpPr>
        <p:spPr>
          <a:xfrm>
            <a:off x="6477000" y="1714500"/>
            <a:ext cx="4953000" cy="3524250"/>
          </a:xfrm>
          <a:prstGeom prst="roundRect">
            <a:avLst>
              <a:gd name="adj" fmla="val 2162"/>
            </a:avLst>
          </a:prstGeom>
          <a:solidFill>
            <a:srgbClr val="111827"/>
          </a:solidFill>
          <a:ln w="0">
            <a:solidFill>
              <a:srgbClr val="111827"/>
            </a:solidFill>
          </a:ln>
        </p:spPr>
      </p:sp>
      <p:sp>
        <p:nvSpPr>
          <p:cNvPr id="535" name="make-rule-label">
            <a:extLst>
              <a:ext uri="{FF2B5EF4-FFF2-40B4-BE49-F238E27FC236}">
                <a16:creationId xmlns:a16="http://schemas.microsoft.com/office/drawing/2014/main" id="{A1038240-81B4-4E81-B18E-88355D10B79A}"/>
              </a:ext>
            </a:extLst>
          </p:cNvPr>
          <p:cNvSpPr>
            <a:spLocks noGrp="1"/>
          </p:cNvSpPr>
          <p:nvPr/>
        </p:nvSpPr>
        <p:spPr>
          <a:xfrm>
            <a:off x="6667500" y="1847850"/>
            <a:ext cx="45720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5833"/>
          </a:bodyPr>
          <a:lstStyle/>
          <a:p>
            <a:pPr algn="l">
              <a:def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3C5FD"/>
                </a:solidFill>
                <a:latin typeface="Microsoft YaHei"/>
                <a:ea typeface="Microsoft YaHei"/>
                <a:cs typeface="Microsoft YaHei"/>
              </a:rPr>
              <a:t>Makefile 规则</a:t>
            </a:r>
          </a:p>
        </p:txBody>
      </p:sp>
      <p:sp>
        <p:nvSpPr>
          <p:cNvPr id="536" name="make-rule-code">
            <a:extLst>
              <a:ext uri="{FF2B5EF4-FFF2-40B4-BE49-F238E27FC236}">
                <a16:creationId xmlns:a16="http://schemas.microsoft.com/office/drawing/2014/main" id="{06CC72D4-3C4E-442F-87DB-0BE1F6AE3054}"/>
              </a:ext>
            </a:extLst>
          </p:cNvPr>
          <p:cNvSpPr>
            <a:spLocks noGrp="1"/>
          </p:cNvSpPr>
          <p:nvPr/>
        </p:nvSpPr>
        <p:spPr>
          <a:xfrm>
            <a:off x="6686550" y="2190750"/>
            <a:ext cx="4533900" cy="28956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target: prerequisite1 prerequisite2</a:t>
            </a: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	command to build target</a:t>
            </a:r>
          </a:p>
          <a:p>
            <a:endParaRPr sz="12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kernel/proc.o: kernel/proc.c kernel/proc.h</a:t>
            </a: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	$(CC) $(CFLAGS) -c kernel/proc.c</a:t>
            </a:r>
          </a:p>
          <a:p>
            <a:endParaRPr sz="1275" b="0">
              <a:solidFill>
                <a:srgbClr val="E5E7E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.PHONY: clean</a:t>
            </a: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clean:</a:t>
            </a:r>
          </a:p>
          <a:p>
            <a:pPr algn="l">
              <a:defRPr sz="1275" b="0">
                <a:solidFill>
                  <a:srgbClr val="E5E7EB"/>
                </a:solidFill>
                <a:latin typeface="Consolas"/>
                <a:ea typeface="Consolas"/>
                <a:cs typeface="Consolas"/>
              </a:defRPr>
            </a:pPr>
            <a:r>
              <a:rPr sz="1275" b="0">
                <a:solidFill>
                  <a:srgbClr val="E5E7EB"/>
                </a:solidFill>
                <a:latin typeface="Consolas"/>
                <a:ea typeface="Consolas"/>
                <a:cs typeface="Consolas"/>
              </a:rPr>
              <a:t>	rm -f kernel/*.o</a:t>
            </a:r>
          </a:p>
        </p:txBody>
      </p:sp>
    </p:spTree>
    <p:extLst>
      <p:ext uri="{BB962C8B-B14F-4D97-AF65-F5344CB8AC3E}">
        <p14:creationId xmlns:p14="http://schemas.microsoft.com/office/powerpoint/2010/main" val="3245670770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-10">
            <a:extLst>
              <a:ext uri="{FF2B5EF4-FFF2-40B4-BE49-F238E27FC236}">
                <a16:creationId xmlns:a16="http://schemas.microsoft.com/office/drawing/2014/main" id="{78802419-09FE-43ED-8864-3B1B44437A10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1287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algn="l">
              <a:defRPr sz="21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Makefile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2850" b="1" dirty="0">
                <a:solidFill>
                  <a:srgbClr val="111111"/>
                </a:solidFill>
                <a:latin typeface="Microsoft YaHei"/>
                <a:ea typeface="Microsoft YaHei"/>
              </a:rPr>
              <a:t>规则的组成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" name="top-line-10">
            <a:extLst>
              <a:ext uri="{FF2B5EF4-FFF2-40B4-BE49-F238E27FC236}">
                <a16:creationId xmlns:a16="http://schemas.microsoft.com/office/drawing/2014/main" id="{FCB300EB-CDF4-4F28-AF6C-FF336E5077ED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287125" cy="19050"/>
          </a:xfrm>
          <a:prstGeom prst="rect">
            <a:avLst/>
          </a:prstGeom>
          <a:solidFill>
            <a:srgbClr val="A7A9AC"/>
          </a:solidFill>
          <a:ln w="0">
            <a:solidFill>
              <a:srgbClr val="A7A9AC"/>
            </a:solidFill>
          </a:ln>
        </p:spPr>
      </p:sp>
      <p:sp>
        <p:nvSpPr>
          <p:cNvPr id="5" name="page-10">
            <a:extLst>
              <a:ext uri="{FF2B5EF4-FFF2-40B4-BE49-F238E27FC236}">
                <a16:creationId xmlns:a16="http://schemas.microsoft.com/office/drawing/2014/main" id="{7E85FE1C-BBFE-4449-BA89-B59BABF52189}"/>
              </a:ext>
            </a:extLst>
          </p:cNvPr>
          <p:cNvSpPr>
            <a:spLocks noGrp="1"/>
          </p:cNvSpPr>
          <p:nvPr/>
        </p:nvSpPr>
        <p:spPr>
          <a:xfrm>
            <a:off x="11430000" y="65913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make-def">
            <a:extLst>
              <a:ext uri="{FF2B5EF4-FFF2-40B4-BE49-F238E27FC236}">
                <a16:creationId xmlns:a16="http://schemas.microsoft.com/office/drawing/2014/main" id="{0BC6C3F8-7A19-4500-96F3-EBDDC2B47FB5}"/>
              </a:ext>
            </a:extLst>
          </p:cNvPr>
          <p:cNvSpPr>
            <a:spLocks noGrp="1"/>
          </p:cNvSpPr>
          <p:nvPr/>
        </p:nvSpPr>
        <p:spPr>
          <a:xfrm>
            <a:off x="476250" y="1028700"/>
            <a:ext cx="628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 algn="l">
              <a:defRPr sz="17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Makefile</a:t>
            </a:r>
            <a:r>
              <a:rPr sz="200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由一组规则组成</a:t>
            </a:r>
            <a:r>
              <a:rPr sz="200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make-rule-bg">
            <a:extLst>
              <a:ext uri="{FF2B5EF4-FFF2-40B4-BE49-F238E27FC236}">
                <a16:creationId xmlns:a16="http://schemas.microsoft.com/office/drawing/2014/main" id="{2C0778F3-6DCF-4C8C-A396-0E591DC1750D}"/>
              </a:ext>
            </a:extLst>
          </p:cNvPr>
          <p:cNvSpPr>
            <a:spLocks noGrp="1"/>
          </p:cNvSpPr>
          <p:nvPr/>
        </p:nvSpPr>
        <p:spPr>
          <a:xfrm>
            <a:off x="476250" y="1723012"/>
            <a:ext cx="4857750" cy="1381125"/>
          </a:xfrm>
          <a:prstGeom prst="roundRect">
            <a:avLst>
              <a:gd name="adj" fmla="val 5517"/>
            </a:avLst>
          </a:prstGeom>
          <a:solidFill>
            <a:srgbClr val="FFF2C7"/>
          </a:solidFill>
          <a:ln w="9525">
            <a:solidFill>
              <a:srgbClr val="E5D49D"/>
            </a:solidFill>
          </a:ln>
        </p:spPr>
      </p:sp>
      <p:sp>
        <p:nvSpPr>
          <p:cNvPr id="8" name="make-rule-text">
            <a:extLst>
              <a:ext uri="{FF2B5EF4-FFF2-40B4-BE49-F238E27FC236}">
                <a16:creationId xmlns:a16="http://schemas.microsoft.com/office/drawing/2014/main" id="{2934012B-53DE-4CC6-A980-13CF0140E731}"/>
              </a:ext>
            </a:extLst>
          </p:cNvPr>
          <p:cNvSpPr>
            <a:spLocks noGrp="1"/>
          </p:cNvSpPr>
          <p:nvPr/>
        </p:nvSpPr>
        <p:spPr>
          <a:xfrm>
            <a:off x="695325" y="1886773"/>
            <a:ext cx="4514850" cy="111442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target: prerequisites</a:t>
            </a:r>
          </a:p>
          <a:p>
            <a:pPr algn="l">
              <a:defRPr sz="1575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	command</a:t>
            </a:r>
          </a:p>
          <a:p>
            <a:pPr algn="l">
              <a:defRPr sz="1575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	command</a:t>
            </a:r>
          </a:p>
        </p:txBody>
      </p:sp>
      <p:sp>
        <p:nvSpPr>
          <p:cNvPr id="9" name="make-explain">
            <a:extLst>
              <a:ext uri="{FF2B5EF4-FFF2-40B4-BE49-F238E27FC236}">
                <a16:creationId xmlns:a16="http://schemas.microsoft.com/office/drawing/2014/main" id="{9A5A8466-5E96-4C8D-8FDF-1C00BE14DBBF}"/>
              </a:ext>
            </a:extLst>
          </p:cNvPr>
          <p:cNvSpPr>
            <a:spLocks noGrp="1"/>
          </p:cNvSpPr>
          <p:nvPr/>
        </p:nvSpPr>
        <p:spPr>
          <a:xfrm>
            <a:off x="5720048" y="5025450"/>
            <a:ext cx="6779800" cy="5905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2500"/>
          </a:bodyPr>
          <a:lstStyle/>
          <a:p>
            <a:pPr algn="l">
              <a:defRPr sz="15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当任意依赖文件发生变化时，Make</a:t>
            </a:r>
            <a:r>
              <a:rPr sz="200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200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会执行目标对应的命令</a:t>
            </a:r>
            <a:r>
              <a:rPr sz="200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10" name="make-example">
            <a:extLst>
              <a:ext uri="{FF2B5EF4-FFF2-40B4-BE49-F238E27FC236}">
                <a16:creationId xmlns:a16="http://schemas.microsoft.com/office/drawing/2014/main" id="{217FF5AE-C7AD-452E-A536-17A1394D32B9}"/>
              </a:ext>
            </a:extLst>
          </p:cNvPr>
          <p:cNvSpPr>
            <a:spLocks noGrp="1"/>
          </p:cNvSpPr>
          <p:nvPr/>
        </p:nvSpPr>
        <p:spPr>
          <a:xfrm>
            <a:off x="523875" y="4048125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389" lnSpcReduction="10000"/>
          </a:bodyPr>
          <a:lstStyle/>
          <a:p>
            <a:pPr algn="l">
              <a:defRPr sz="157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示例</a:t>
            </a:r>
          </a:p>
        </p:txBody>
      </p:sp>
      <p:sp>
        <p:nvSpPr>
          <p:cNvPr id="11" name="make-ex-bg">
            <a:extLst>
              <a:ext uri="{FF2B5EF4-FFF2-40B4-BE49-F238E27FC236}">
                <a16:creationId xmlns:a16="http://schemas.microsoft.com/office/drawing/2014/main" id="{5B018D8A-913D-4B76-BE24-FE2C89D1303F}"/>
              </a:ext>
            </a:extLst>
          </p:cNvPr>
          <p:cNvSpPr>
            <a:spLocks noGrp="1"/>
          </p:cNvSpPr>
          <p:nvPr/>
        </p:nvSpPr>
        <p:spPr>
          <a:xfrm>
            <a:off x="476250" y="4444425"/>
            <a:ext cx="4905375" cy="1095375"/>
          </a:xfrm>
          <a:prstGeom prst="roundRect">
            <a:avLst>
              <a:gd name="adj" fmla="val 6957"/>
            </a:avLst>
          </a:prstGeom>
          <a:solidFill>
            <a:srgbClr val="FFF2C7"/>
          </a:solidFill>
          <a:ln w="9525">
            <a:solidFill>
              <a:srgbClr val="E5D49D"/>
            </a:solidFill>
          </a:ln>
        </p:spPr>
      </p:sp>
      <p:sp>
        <p:nvSpPr>
          <p:cNvPr id="12" name="make-ex-text">
            <a:extLst>
              <a:ext uri="{FF2B5EF4-FFF2-40B4-BE49-F238E27FC236}">
                <a16:creationId xmlns:a16="http://schemas.microsoft.com/office/drawing/2014/main" id="{C98F4E1F-3A63-4083-AEFE-339FBC831C2C}"/>
              </a:ext>
            </a:extLst>
          </p:cNvPr>
          <p:cNvSpPr>
            <a:spLocks noGrp="1"/>
          </p:cNvSpPr>
          <p:nvPr/>
        </p:nvSpPr>
        <p:spPr>
          <a:xfrm>
            <a:off x="695325" y="4591050"/>
            <a:ext cx="5848350" cy="828675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helloworld</a:t>
            </a:r>
            <a:r>
              <a:rPr sz="1500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: </a:t>
            </a:r>
            <a:r>
              <a:rPr sz="1500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helloworld.c</a:t>
            </a:r>
            <a:endParaRPr sz="1500" b="0" dirty="0">
              <a:solidFill>
                <a:srgbClr val="30343B"/>
              </a:solidFill>
              <a:latin typeface="Consolas"/>
              <a:ea typeface="Consolas"/>
              <a:cs typeface="Consolas"/>
            </a:endParaRPr>
          </a:p>
          <a:p>
            <a:pPr algn="l">
              <a:defRPr sz="1500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00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	</a:t>
            </a:r>
            <a:r>
              <a:rPr sz="1500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gcc</a:t>
            </a:r>
            <a:r>
              <a:rPr sz="1500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 </a:t>
            </a:r>
            <a:r>
              <a:rPr sz="1500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helloworld.c</a:t>
            </a:r>
            <a:r>
              <a:rPr sz="1500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 -o </a:t>
            </a:r>
            <a:r>
              <a:rPr sz="1500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helloworld</a:t>
            </a:r>
            <a:endParaRPr sz="1500" b="0" dirty="0">
              <a:solidFill>
                <a:srgbClr val="30343B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Google Shape;534;p58">
            <a:extLst>
              <a:ext uri="{FF2B5EF4-FFF2-40B4-BE49-F238E27FC236}">
                <a16:creationId xmlns:a16="http://schemas.microsoft.com/office/drawing/2014/main" id="{D6EF6561-E117-BE31-90B7-119D04152253}"/>
              </a:ext>
            </a:extLst>
          </p:cNvPr>
          <p:cNvSpPr>
            <a:spLocks noGrp="1"/>
          </p:cNvSpPr>
          <p:nvPr/>
        </p:nvSpPr>
        <p:spPr>
          <a:xfrm>
            <a:off x="5773674" y="1537275"/>
            <a:ext cx="5172075" cy="3534787"/>
          </a:xfrm>
          <a:prstGeom prst="rect">
            <a:avLst/>
          </a:prstGeom>
        </p:spPr>
        <p:txBody>
          <a:bodyPr spcFirstLastPara="1" vert="horz" wrap="square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b="1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target 与 prerequisite</a:t>
            </a: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target </a:t>
            </a:r>
            <a:r>
              <a:rPr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是要生成的文件或动作，例如</a:t>
            </a:r>
            <a:r>
              <a:rPr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kernel/</a:t>
            </a:r>
            <a:r>
              <a:rPr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kernel、fs.img、qemu、grade</a:t>
            </a:r>
            <a:r>
              <a:rPr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
prerequisite </a:t>
            </a:r>
            <a:r>
              <a:rPr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是目标依赖的源文件、头文件或其他目标。依赖更新时，目标需要重建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04477859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anchor="t">
            <a:normAutofit/>
          </a:bodyPr>
          <a:lstStyle/>
          <a:p>
            <a:pPr algn="l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fld id="{30394428-F1DC-E5F6-DB0C-7DE31F3D8A23}" type="slidenum">
              <a: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rPr>
              <a:t>36</a:t>
            </a:fld>
            <a:endParaRPr/>
          </a:p>
        </p:txBody>
      </p:sp>
      <p:sp>
        <p:nvSpPr>
          <p:cNvPr id="533" name="Google Shape;533;p58">
            <a:extLst>
              <a:ext uri="{FF2B5EF4-FFF2-40B4-BE49-F238E27FC236}">
                <a16:creationId xmlns:a16="http://schemas.microsoft.com/office/drawing/2014/main" id="{8B77B614-E3C4-8964-0877-92800631D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xv6 常用 Make 目标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noGrp="1"/>
          </p:cNvSpPr>
          <p:nvPr/>
        </p:nvSpPr>
        <p:spPr>
          <a:xfrm>
            <a:off x="6249069" y="1964094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noGrp="1"/>
          </p:cNvSpPr>
          <p:nvPr/>
        </p:nvSpPr>
        <p:spPr>
          <a:xfrm>
            <a:off x="6546304" y="2259026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make qemu</a:t>
            </a: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构建内核、用户程序和 fs.img，然后启动 QEMU。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noGrp="1"/>
          </p:cNvSpPr>
          <p:nvPr/>
        </p:nvSpPr>
        <p:spPr>
          <a:xfrm>
            <a:off x="393700" y="1964094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noGrp="1"/>
          </p:cNvSpPr>
          <p:nvPr/>
        </p:nvSpPr>
        <p:spPr>
          <a:xfrm>
            <a:off x="690935" y="2259026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make </a:t>
            </a:r>
            <a:r>
              <a:rPr sz="1900" b="1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qemu-gdb</a:t>
            </a:r>
            <a:endParaRPr sz="1900" b="1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启动暂停的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QEMU，并开放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GDB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连接端口。另一个终端运行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gdb-multiarch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noGrp="1"/>
          </p:cNvSpPr>
          <p:nvPr/>
        </p:nvSpPr>
        <p:spPr>
          <a:xfrm>
            <a:off x="6249069" y="3964344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noGrp="1"/>
          </p:cNvSpPr>
          <p:nvPr/>
        </p:nvSpPr>
        <p:spPr>
          <a:xfrm>
            <a:off x="6546304" y="4259276"/>
            <a:ext cx="5094008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make grade</a:t>
            </a: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运行课程自动测试。失败时先运行单项测试，缩小问题范围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noGrp="1"/>
          </p:cNvSpPr>
          <p:nvPr/>
        </p:nvSpPr>
        <p:spPr>
          <a:xfrm>
            <a:off x="393700" y="3964344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noGrp="1"/>
          </p:cNvSpPr>
          <p:nvPr/>
        </p:nvSpPr>
        <p:spPr>
          <a:xfrm>
            <a:off x="690935" y="4259276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00" b="1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make clean / make </a:t>
            </a:r>
            <a:r>
              <a:rPr sz="1900" b="1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fs.img</a:t>
            </a:r>
            <a:endParaRPr sz="1900" b="1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clean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删除生成物并强制完整重建。fs.img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重新生成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xv6 </a:t>
            </a:r>
            <a:r>
              <a:rPr sz="140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文件系统镜像</a:t>
            </a:r>
            <a:r>
              <a:rPr sz="140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500" b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目标写在</a:t>
            </a:r>
            <a:r>
              <a:rPr sz="1500" b="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make </a:t>
            </a:r>
            <a:r>
              <a:rPr sz="1500" b="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后面。没有显式目标时，Make</a:t>
            </a:r>
            <a:r>
              <a:rPr sz="1500" b="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b="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构建默认目标</a:t>
            </a:r>
            <a:r>
              <a:rPr sz="1500" b="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76600024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C4B207BF-6BAB-0D91-F12C-1E6FFBCC4202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anchor="t">
            <a:normAutofit/>
          </a:bodyPr>
          <a:lstStyle/>
          <a:p>
            <a:pPr algn="l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532" name="Google Shape;532;p58">
            <a:extLst>
              <a:ext uri="{FF2B5EF4-FFF2-40B4-BE49-F238E27FC236}">
                <a16:creationId xmlns:a16="http://schemas.microsoft.com/office/drawing/2014/main" id="{AA5CCC43-8737-3A41-CAE5-94B8C1D29B58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spcFirstLastPara="1" vert="horz" wrap="square" lIns="0" tIns="0" rIns="0" bIns="0" anchor="t">
            <a:normAutofit/>
          </a:bodyPr>
          <a:lstStyle/>
          <a:p>
            <a:pPr algn="r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fld id="{2DD23107-4986-8758-3A93-3D74F35908CC}" type="slidenum">
              <a: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rPr>
              <a:t>37</a:t>
            </a:fld>
            <a:endParaRPr/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24774D92-572F-796B-CFA0-75F5BDE34DE7}"/>
              </a:ext>
            </a:extLst>
          </p:cNvPr>
          <p:cNvSpPr>
            <a:spLocks noGrp="1"/>
          </p:cNvSpPr>
          <p:nvPr/>
        </p:nvSpPr>
        <p:spPr>
          <a:xfrm>
            <a:off x="6271651" y="1894368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8" name="Content Placeholder 10">
            <a:extLst>
              <a:ext uri="{FF2B5EF4-FFF2-40B4-BE49-F238E27FC236}">
                <a16:creationId xmlns:a16="http://schemas.microsoft.com/office/drawing/2014/main" id="{C0439ECA-9193-112F-E7E6-326447CEF7EB}"/>
              </a:ext>
            </a:extLst>
          </p:cNvPr>
          <p:cNvSpPr>
            <a:spLocks noGrp="1"/>
          </p:cNvSpPr>
          <p:nvPr/>
        </p:nvSpPr>
        <p:spPr>
          <a:xfrm>
            <a:off x="6561647" y="2189300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800" b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-Wall -Werror</a:t>
            </a: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30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启用常见警告，并把警告当作错误。未使用变量、类型不匹配等问题会阻止构建。</a:t>
            </a:r>
          </a:p>
        </p:txBody>
      </p:sp>
      <p:sp>
        <p:nvSpPr>
          <p:cNvPr id="9" name="Rounded Rectangle 8">
            <a:extLst>
              <a:ext uri="{FF2B5EF4-FFF2-40B4-BE49-F238E27FC236}">
                <a16:creationId xmlns:a16="http://schemas.microsoft.com/office/drawing/2014/main" id="{BED27E76-B721-E464-2478-718E91A649B4}"/>
              </a:ext>
            </a:extLst>
          </p:cNvPr>
          <p:cNvSpPr>
            <a:spLocks noGrp="1"/>
          </p:cNvSpPr>
          <p:nvPr/>
        </p:nvSpPr>
        <p:spPr>
          <a:xfrm>
            <a:off x="409043" y="1894368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0" name="Content Placeholder 10">
            <a:extLst>
              <a:ext uri="{FF2B5EF4-FFF2-40B4-BE49-F238E27FC236}">
                <a16:creationId xmlns:a16="http://schemas.microsoft.com/office/drawing/2014/main" id="{40DA34A0-E630-37E8-0332-0E57245DCF0D}"/>
              </a:ext>
            </a:extLst>
          </p:cNvPr>
          <p:cNvSpPr>
            <a:spLocks noGrp="1"/>
          </p:cNvSpPr>
          <p:nvPr/>
        </p:nvSpPr>
        <p:spPr>
          <a:xfrm>
            <a:off x="706278" y="2189300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-O / -O0</a:t>
            </a: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300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控制优化。优化会改变指令排列和变量可见性，调试时需要理解源码与汇编可能并非一一对应</a:t>
            </a:r>
            <a:r>
              <a:rPr sz="1300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。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F421FB3D-82DC-94B6-ADD3-99BB3C8E58D0}"/>
              </a:ext>
            </a:extLst>
          </p:cNvPr>
          <p:cNvSpPr>
            <a:spLocks noGrp="1"/>
          </p:cNvSpPr>
          <p:nvPr/>
        </p:nvSpPr>
        <p:spPr>
          <a:xfrm>
            <a:off x="6264412" y="3894618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3" name="Content Placeholder 10">
            <a:extLst>
              <a:ext uri="{FF2B5EF4-FFF2-40B4-BE49-F238E27FC236}">
                <a16:creationId xmlns:a16="http://schemas.microsoft.com/office/drawing/2014/main" id="{9122C651-AF0B-D7E1-E9EF-3F4BC1C587A5}"/>
              </a:ext>
            </a:extLst>
          </p:cNvPr>
          <p:cNvSpPr>
            <a:spLocks noGrp="1"/>
          </p:cNvSpPr>
          <p:nvPr/>
        </p:nvSpPr>
        <p:spPr>
          <a:xfrm>
            <a:off x="6561647" y="4189550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-g / -</a:t>
            </a:r>
            <a:r>
              <a:rPr sz="1800" b="1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ggdb</a:t>
            </a:r>
            <a:endParaRPr sz="1800" b="1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300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把源码行号、变量与类型等调试信息写入</a:t>
            </a:r>
            <a:r>
              <a:rPr sz="1300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 ELF，GDB </a:t>
            </a:r>
            <a:r>
              <a:rPr sz="1300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才能显示源码与变量</a:t>
            </a:r>
            <a:r>
              <a:rPr sz="1300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。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EDA590ED-3B5F-06BC-B0E9-C6DC4E8BBF0C}"/>
              </a:ext>
            </a:extLst>
          </p:cNvPr>
          <p:cNvSpPr>
            <a:spLocks noGrp="1"/>
          </p:cNvSpPr>
          <p:nvPr/>
        </p:nvSpPr>
        <p:spPr>
          <a:xfrm>
            <a:off x="409043" y="3894618"/>
            <a:ext cx="5533887" cy="1638300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5" name="Content Placeholder 10">
            <a:extLst>
              <a:ext uri="{FF2B5EF4-FFF2-40B4-BE49-F238E27FC236}">
                <a16:creationId xmlns:a16="http://schemas.microsoft.com/office/drawing/2014/main" id="{EB1BBBB3-DA5C-C3DF-7DD6-33AB7A85340B}"/>
              </a:ext>
            </a:extLst>
          </p:cNvPr>
          <p:cNvSpPr>
            <a:spLocks noGrp="1"/>
          </p:cNvSpPr>
          <p:nvPr/>
        </p:nvSpPr>
        <p:spPr>
          <a:xfrm>
            <a:off x="706278" y="4189550"/>
            <a:ext cx="4986886" cy="1048436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-</a:t>
            </a:r>
            <a:r>
              <a:rPr sz="1800" b="1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ffreestanding</a:t>
            </a:r>
            <a:r>
              <a:rPr sz="1800" b="1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 -</a:t>
            </a:r>
            <a:r>
              <a:rPr sz="1800" b="1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nostdlib</a:t>
            </a:r>
            <a:endParaRPr sz="1800" b="1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300" dirty="0" err="1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告诉编译器目标不是普通宿主应用。内核不能依赖宿主操作系统的启动代码和标准库</a:t>
            </a:r>
            <a:r>
              <a:rPr sz="1300" dirty="0">
                <a:solidFill>
                  <a:srgbClr val="34383E"/>
                </a:solidFill>
                <a:latin typeface="Consolas"/>
                <a:ea typeface="Consolas"/>
                <a:cs typeface="Consolas"/>
              </a:rPr>
              <a:t>。</a:t>
            </a:r>
          </a:p>
        </p:txBody>
      </p:sp>
      <p:sp>
        <p:nvSpPr>
          <p:cNvPr id="6" name="Content Placeholder 15">
            <a:extLst>
              <a:ext uri="{FF2B5EF4-FFF2-40B4-BE49-F238E27FC236}">
                <a16:creationId xmlns:a16="http://schemas.microsoft.com/office/drawing/2014/main" id="{04E6B723-686B-D8DD-4DA5-3E62BDE4905A}"/>
              </a:ext>
            </a:extLst>
          </p:cNvPr>
          <p:cNvSpPr>
            <a:spLocks noGrp="1"/>
          </p:cNvSpPr>
          <p:nvPr/>
        </p:nvSpPr>
        <p:spPr>
          <a:xfrm>
            <a:off x="400939" y="1057501"/>
            <a:ext cx="11404599" cy="1012250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0" indent="0" algn="l" defTabSz="914400">
              <a:lnSpc>
                <a:spcPct val="90000"/>
              </a:lnSpc>
              <a:spcBef>
                <a:spcPts val="10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indent="0" algn="l" defTabSz="914400">
              <a:lnSpc>
                <a:spcPct val="90000"/>
              </a:lnSpc>
              <a:spcBef>
                <a:spcPts val="500"/>
              </a:spcBef>
              <a:spcAft>
                <a:spcPts val="800"/>
              </a:spcAft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 algn="l">
              <a:lnSpc>
                <a:spcPct val="114000"/>
              </a:lnSpc>
              <a:spcBef>
                <a:spcPts val="0"/>
              </a:spcBef>
              <a:spcAft>
                <a:spcPts val="600"/>
              </a:spcAft>
              <a:buNone/>
              <a:defRPr sz="1500" b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不需要背下全部参数，但要能从编译命令判断警告、调试信息、优化和运行环境</a:t>
            </a:r>
            <a:r>
              <a:rPr sz="1500" b="0" dirty="0"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533" name="gcc-flags-title">
            <a:extLst>
              <a:ext uri="{FF2B5EF4-FFF2-40B4-BE49-F238E27FC236}">
                <a16:creationId xmlns:a16="http://schemas.microsoft.com/office/drawing/2014/main" id="{838E88EF-4AE8-4E2D-9A99-1D68F798D845}"/>
              </a:ext>
            </a:extLst>
          </p:cNvPr>
          <p:cNvSpPr>
            <a:spLocks noGrp="1"/>
          </p:cNvSpPr>
          <p:nvPr/>
        </p:nvSpPr>
        <p:spPr>
          <a:xfrm>
            <a:off x="495300" y="342900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xv6 </a:t>
            </a: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中常见的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 GCC </a:t>
            </a: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选项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965619482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33F6F69E-B773-8572-FA7F-ECBC69775926}"/>
              </a:ext>
            </a:extLst>
          </p:cNvPr>
          <p:cNvSpPr>
            <a:spLocks noGrp="1"/>
          </p:cNvSpPr>
          <p:nvPr>
            <p:ph type="ftr" idx="3"/>
          </p:nvPr>
        </p:nvSpPr>
        <p:spPr/>
        <p:txBody>
          <a:bodyPr anchor="t">
            <a:normAutofit/>
          </a:bodyPr>
          <a:lstStyle/>
          <a:p>
            <a:pPr algn="l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671F7CA-962E-B7D5-11E1-86144832BC77}"/>
              </a:ext>
            </a:extLst>
          </p:cNvPr>
          <p:cNvSpPr>
            <a:spLocks noGrp="1"/>
          </p:cNvSpPr>
          <p:nvPr>
            <p:ph type="sldNum" idx="4"/>
          </p:nvPr>
        </p:nvSpPr>
        <p:spPr/>
        <p:txBody>
          <a:bodyPr anchor="t">
            <a:normAutofit/>
          </a:bodyPr>
          <a:lstStyle/>
          <a:p>
            <a:pPr algn="r">
              <a:def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defRPr>
            </a:pPr>
            <a:fld id="{90F7333B-44AC-F7E9-D49D-FE92F45E0477}" type="slidenum">
              <a:rPr sz="900" b="0">
                <a:solidFill>
                  <a:srgbClr val="686D75"/>
                </a:solidFill>
                <a:latin typeface="Microsoft YaHei"/>
                <a:ea typeface="Microsoft YaHei"/>
                <a:cs typeface="Microsoft YaHei"/>
              </a:rPr>
              <a:t>38</a:t>
            </a:fld>
            <a:endParaRPr/>
          </a:p>
        </p:txBody>
      </p:sp>
      <p:sp>
        <p:nvSpPr>
          <p:cNvPr id="2" name="Content Placeholder 15">
            <a:extLst>
              <a:ext uri="{FF2B5EF4-FFF2-40B4-BE49-F238E27FC236}">
                <a16:creationId xmlns:a16="http://schemas.microsoft.com/office/drawing/2014/main" id="{618AB53F-D83E-C97D-48FB-E643E6A74AF5}"/>
              </a:ext>
            </a:extLst>
          </p:cNvPr>
          <p:cNvSpPr>
            <a:spLocks noGrp="1"/>
          </p:cNvSpPr>
          <p:nvPr/>
        </p:nvSpPr>
        <p:spPr>
          <a:xfrm>
            <a:off x="510513" y="1389403"/>
            <a:ext cx="6529139" cy="2391507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kernel/</a:t>
            </a:r>
            <a:r>
              <a:rPr lang="zh-CN" altLang="en-US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：</a:t>
            </a:r>
            <a:r>
              <a:rPr sz="1800" dirty="0" err="1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内核实现：进程、内存、文件系统、系统调用、驱动</a:t>
            </a:r>
            <a:endParaRPr lang="en-US" sz="1800" dirty="0">
              <a:solidFill>
                <a:srgbClr val="34383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user/</a:t>
            </a:r>
            <a:r>
              <a:rPr lang="zh-CN" altLang="en-US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：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用户程序、用户库、系统调用声明与跳板</a:t>
            </a:r>
            <a:endParaRPr lang="en-US" altLang="zh-CN" sz="1800" dirty="0">
              <a:solidFill>
                <a:srgbClr val="34383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800" b="1" dirty="0" err="1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mkfs</a:t>
            </a:r>
            <a:r>
              <a:rPr lang="en-US" altLang="zh-CN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/</a:t>
            </a:r>
            <a:r>
              <a:rPr lang="zh-CN" altLang="en-US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：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把 </a:t>
            </a:r>
            <a:r>
              <a:rPr lang="en-US" altLang="zh-CN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README 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与用户程序写入 </a:t>
            </a:r>
            <a:r>
              <a:rPr lang="en-US" altLang="zh-CN" sz="1800" dirty="0" err="1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fs.img</a:t>
            </a:r>
            <a:endParaRPr lang="en-US" altLang="zh-CN" sz="1800" dirty="0">
              <a:solidFill>
                <a:srgbClr val="34383E"/>
              </a:solidFill>
              <a:latin typeface="微软雅黑" panose="020B0503020204020204" pitchFamily="34" charset="-122"/>
              <a:ea typeface="微软雅黑" panose="020B0503020204020204" pitchFamily="34" charset="-122"/>
              <a:cs typeface="Consolas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r>
              <a:rPr lang="en-US" altLang="zh-CN" sz="1800" b="1" dirty="0" err="1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Makefile</a:t>
            </a:r>
            <a:r>
              <a:rPr lang="zh-CN" altLang="en-US" sz="1800" b="1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：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描述编译规则、</a:t>
            </a:r>
            <a:r>
              <a:rPr lang="en-US" altLang="zh-CN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UPROGS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、</a:t>
            </a:r>
            <a:r>
              <a:rPr lang="en-US" altLang="zh-CN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QEMU</a:t>
            </a:r>
            <a:r>
              <a:rPr lang="zh-CN" altLang="en-US" sz="1800" dirty="0">
                <a:solidFill>
                  <a:srgbClr val="34383E"/>
                </a:solidFill>
                <a:latin typeface="微软雅黑" panose="020B0503020204020204" pitchFamily="34" charset="-122"/>
                <a:ea typeface="微软雅黑" panose="020B0503020204020204" pitchFamily="34" charset="-122"/>
                <a:cs typeface="Consolas"/>
              </a:rPr>
              <a:t> 参数和测试目标</a:t>
            </a: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lang="en-US" altLang="zh-CN"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lang="zh-CN" altLang="en-US"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  <a:p>
            <a:pPr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3" name="Text Placeholder 16">
            <a:extLst>
              <a:ext uri="{FF2B5EF4-FFF2-40B4-BE49-F238E27FC236}">
                <a16:creationId xmlns:a16="http://schemas.microsoft.com/office/drawing/2014/main" id="{15B6FC25-43EA-8D50-20ED-40A075FCB304}"/>
              </a:ext>
            </a:extLst>
          </p:cNvPr>
          <p:cNvSpPr>
            <a:spLocks noGrp="1"/>
          </p:cNvSpPr>
          <p:nvPr/>
        </p:nvSpPr>
        <p:spPr>
          <a:xfrm>
            <a:off x="559109" y="2257730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5" name="Content Placeholder 17">
            <a:extLst>
              <a:ext uri="{FF2B5EF4-FFF2-40B4-BE49-F238E27FC236}">
                <a16:creationId xmlns:a16="http://schemas.microsoft.com/office/drawing/2014/main" id="{DC86E5BF-3A43-49E0-A1B8-916150355914}"/>
              </a:ext>
            </a:extLst>
          </p:cNvPr>
          <p:cNvSpPr>
            <a:spLocks noGrp="1"/>
          </p:cNvSpPr>
          <p:nvPr/>
        </p:nvSpPr>
        <p:spPr>
          <a:xfrm>
            <a:off x="6264413" y="4161066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6" name="Text Placeholder 18">
            <a:extLst>
              <a:ext uri="{FF2B5EF4-FFF2-40B4-BE49-F238E27FC236}">
                <a16:creationId xmlns:a16="http://schemas.microsoft.com/office/drawing/2014/main" id="{941D607D-4DDA-372A-EE8A-A370B36C7859}"/>
              </a:ext>
            </a:extLst>
          </p:cNvPr>
          <p:cNvSpPr>
            <a:spLocks noGrp="1"/>
          </p:cNvSpPr>
          <p:nvPr/>
        </p:nvSpPr>
        <p:spPr>
          <a:xfrm>
            <a:off x="9205679" y="4161066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Consolas"/>
                <a:ea typeface="Consolas"/>
                <a:cs typeface="Consolas"/>
              </a:defRPr>
            </a:pPr>
            <a:endParaRPr sz="1200" dirty="0">
              <a:solidFill>
                <a:srgbClr val="34383E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8" name="Content Placeholder 15">
            <a:extLst>
              <a:ext uri="{FF2B5EF4-FFF2-40B4-BE49-F238E27FC236}">
                <a16:creationId xmlns:a16="http://schemas.microsoft.com/office/drawing/2014/main" id="{8EA52868-2F57-DCC5-19D5-764181B94516}"/>
              </a:ext>
            </a:extLst>
          </p:cNvPr>
          <p:cNvSpPr>
            <a:spLocks noGrp="1"/>
          </p:cNvSpPr>
          <p:nvPr/>
        </p:nvSpPr>
        <p:spPr>
          <a:xfrm>
            <a:off x="532482" y="3623732"/>
            <a:ext cx="5667021" cy="214821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 dirty="0">
                <a:solidFill>
                  <a:srgbClr val="34383E"/>
                </a:solidFill>
                <a:latin typeface="Microsoft YaHei"/>
                <a:ea typeface="Microsoft YaHei"/>
              </a:rPr>
              <a:t>kernel/kernel</a:t>
            </a:r>
            <a:r>
              <a:rPr lang="zh-CN" altLang="en-US" sz="1800" dirty="0">
                <a:solidFill>
                  <a:srgbClr val="34383E"/>
                </a:solidFill>
                <a:latin typeface="Microsoft YaHei"/>
                <a:ea typeface="Microsoft YaHei"/>
              </a:rPr>
              <a:t>：</a:t>
            </a:r>
            <a:r>
              <a:rPr sz="1800" dirty="0" err="1">
                <a:solidFill>
                  <a:srgbClr val="34383E"/>
                </a:solidFill>
                <a:latin typeface="Microsoft YaHei"/>
                <a:ea typeface="Microsoft YaHei"/>
              </a:rPr>
              <a:t>带调试信息的</a:t>
            </a:r>
            <a:r>
              <a:rPr sz="1800" dirty="0">
                <a:solidFill>
                  <a:srgbClr val="34383E"/>
                </a:solidFill>
                <a:latin typeface="Microsoft YaHei"/>
                <a:ea typeface="Microsoft YaHei"/>
              </a:rPr>
              <a:t> RISC-V ELF </a:t>
            </a:r>
            <a:r>
              <a:rPr sz="1800" dirty="0" err="1">
                <a:solidFill>
                  <a:srgbClr val="34383E"/>
                </a:solidFill>
                <a:latin typeface="Microsoft YaHei"/>
                <a:ea typeface="Microsoft YaHei"/>
              </a:rPr>
              <a:t>内核</a:t>
            </a:r>
            <a:endParaRPr lang="en-US" sz="18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1" dirty="0">
                <a:solidFill>
                  <a:srgbClr val="34383E"/>
                </a:solidFill>
                <a:latin typeface="Microsoft YaHei"/>
                <a:ea typeface="Microsoft YaHei"/>
              </a:rPr>
              <a:t>kernel/kernel.asm</a:t>
            </a:r>
            <a:r>
              <a:rPr lang="zh-CN" altLang="en-US" sz="1800" dirty="0">
                <a:solidFill>
                  <a:srgbClr val="34383E"/>
                </a:solidFill>
                <a:latin typeface="Microsoft YaHei"/>
                <a:ea typeface="Microsoft YaHei"/>
              </a:rPr>
              <a:t>：内核源码与反汇编的混合视图</a:t>
            </a:r>
            <a:endParaRPr lang="en-US" altLang="zh-CN" sz="18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1" dirty="0">
                <a:solidFill>
                  <a:srgbClr val="34383E"/>
                </a:solidFill>
                <a:latin typeface="Microsoft YaHei"/>
                <a:ea typeface="Microsoft YaHei"/>
              </a:rPr>
              <a:t>user/*.</a:t>
            </a:r>
            <a:r>
              <a:rPr lang="en-US" altLang="zh-CN" sz="1800" b="1" dirty="0" err="1">
                <a:solidFill>
                  <a:srgbClr val="34383E"/>
                </a:solidFill>
                <a:latin typeface="Microsoft YaHei"/>
                <a:ea typeface="Microsoft YaHei"/>
              </a:rPr>
              <a:t>asm</a:t>
            </a:r>
            <a:r>
              <a:rPr lang="zh-CN" altLang="en-US" sz="1800" dirty="0">
                <a:solidFill>
                  <a:srgbClr val="34383E"/>
                </a:solidFill>
                <a:latin typeface="Microsoft YaHei"/>
                <a:ea typeface="Microsoft YaHei"/>
              </a:rPr>
              <a:t>：每个用户程序对应的反汇编输出</a:t>
            </a:r>
            <a:endParaRPr lang="en-US" altLang="zh-CN" sz="18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1800" b="1" dirty="0" err="1">
                <a:solidFill>
                  <a:srgbClr val="34383E"/>
                </a:solidFill>
                <a:latin typeface="Microsoft YaHei"/>
                <a:ea typeface="Microsoft YaHei"/>
              </a:rPr>
              <a:t>fs.img</a:t>
            </a:r>
            <a:r>
              <a:rPr lang="zh-CN" altLang="en-US" sz="1800" dirty="0">
                <a:solidFill>
                  <a:srgbClr val="34383E"/>
                </a:solidFill>
                <a:latin typeface="Microsoft YaHei"/>
                <a:ea typeface="Microsoft YaHei"/>
              </a:rPr>
              <a:t>：</a:t>
            </a:r>
            <a:r>
              <a:rPr lang="en-US" altLang="zh-CN" sz="1800" dirty="0">
                <a:solidFill>
                  <a:srgbClr val="34383E"/>
                </a:solidFill>
                <a:latin typeface="Microsoft YaHei"/>
                <a:ea typeface="Microsoft YaHei"/>
              </a:rPr>
              <a:t>xv6 </a:t>
            </a:r>
            <a:r>
              <a:rPr lang="zh-CN" altLang="en-US" sz="1800" dirty="0">
                <a:solidFill>
                  <a:srgbClr val="34383E"/>
                </a:solidFill>
                <a:latin typeface="Microsoft YaHei"/>
                <a:ea typeface="Microsoft YaHei"/>
              </a:rPr>
              <a:t>使用的文件系统镜像，可被重新生成</a:t>
            </a:r>
            <a:endParaRPr lang="en-US" altLang="zh-CN" sz="18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2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200" dirty="0">
              <a:solidFill>
                <a:srgbClr val="34383E"/>
              </a:solidFill>
              <a:latin typeface="Microsoft YaHei"/>
              <a:ea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lang="en-US" altLang="zh-CN" sz="105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105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9" name="Text Placeholder 16">
            <a:extLst>
              <a:ext uri="{FF2B5EF4-FFF2-40B4-BE49-F238E27FC236}">
                <a16:creationId xmlns:a16="http://schemas.microsoft.com/office/drawing/2014/main" id="{751AE029-57A0-A186-E791-1A4462A1CBCB}"/>
              </a:ext>
            </a:extLst>
          </p:cNvPr>
          <p:cNvSpPr>
            <a:spLocks noGrp="1"/>
          </p:cNvSpPr>
          <p:nvPr/>
        </p:nvSpPr>
        <p:spPr>
          <a:xfrm>
            <a:off x="3334966" y="2208087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0" name="Content Placeholder 17">
            <a:extLst>
              <a:ext uri="{FF2B5EF4-FFF2-40B4-BE49-F238E27FC236}">
                <a16:creationId xmlns:a16="http://schemas.microsoft.com/office/drawing/2014/main" id="{84CDE6A4-554E-3362-3E09-93D47FDCD65A}"/>
              </a:ext>
            </a:extLst>
          </p:cNvPr>
          <p:cNvSpPr>
            <a:spLocks noGrp="1"/>
          </p:cNvSpPr>
          <p:nvPr/>
        </p:nvSpPr>
        <p:spPr>
          <a:xfrm>
            <a:off x="6264413" y="2208087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1" name="Text Placeholder 18">
            <a:extLst>
              <a:ext uri="{FF2B5EF4-FFF2-40B4-BE49-F238E27FC236}">
                <a16:creationId xmlns:a16="http://schemas.microsoft.com/office/drawing/2014/main" id="{E0575F69-0E47-58CD-4D15-A728423F7253}"/>
              </a:ext>
            </a:extLst>
          </p:cNvPr>
          <p:cNvSpPr>
            <a:spLocks noGrp="1"/>
          </p:cNvSpPr>
          <p:nvPr/>
        </p:nvSpPr>
        <p:spPr>
          <a:xfrm>
            <a:off x="9205679" y="2208087"/>
            <a:ext cx="2595934" cy="141564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450"/>
              </a:spcAft>
              <a:defRPr>
                <a:solidFill>
                  <a:srgbClr val="34383E"/>
                </a:solidFill>
                <a:latin typeface="Microsoft YaHei"/>
                <a:ea typeface="Microsoft YaHei"/>
                <a:cs typeface="Microsoft YaHei"/>
              </a:defRPr>
            </a:pPr>
            <a:endParaRPr sz="1200" dirty="0">
              <a:solidFill>
                <a:srgbClr val="34383E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32" name="source-tree-title">
            <a:extLst>
              <a:ext uri="{FF2B5EF4-FFF2-40B4-BE49-F238E27FC236}">
                <a16:creationId xmlns:a16="http://schemas.microsoft.com/office/drawing/2014/main" id="{B6AA2A6A-0B80-4592-9BAE-6976616D288A}"/>
              </a:ext>
            </a:extLst>
          </p:cNvPr>
          <p:cNvSpPr>
            <a:spLocks noGrp="1"/>
          </p:cNvSpPr>
          <p:nvPr/>
        </p:nvSpPr>
        <p:spPr>
          <a:xfrm>
            <a:off x="282571" y="319631"/>
            <a:ext cx="10668000" cy="723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Make</a:t>
            </a:r>
            <a:r>
              <a:rPr lang="zh-CN" altLang="en-US"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后 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xv6 </a:t>
            </a: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源码目录与生成物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3AAFA64B-258A-C0F0-1E6D-92C0E1F261B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94625" y="1200428"/>
            <a:ext cx="3685714" cy="44571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07893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1BE9E53-C5EB-4F79-B3CA-E8797569A933}"/>
              </a:ext>
            </a:extLst>
          </p:cNvPr>
          <p:cNvSpPr txBox="1"/>
          <p:nvPr/>
        </p:nvSpPr>
        <p:spPr>
          <a:xfrm>
            <a:off x="2681478" y="2293358"/>
            <a:ext cx="7002018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zh-CN" sz="6000" b="1" dirty="0"/>
              <a:t>常见系统调用函数</a:t>
            </a:r>
            <a:endParaRPr lang="zh-CN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CBACC4EA-A91C-4131-A8AE-8B1EC57B37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F3854C1-E91C-40FB-B8BF-8A70CF6581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39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28391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title-15">
            <a:extLst>
              <a:ext uri="{FF2B5EF4-FFF2-40B4-BE49-F238E27FC236}">
                <a16:creationId xmlns:a16="http://schemas.microsoft.com/office/drawing/2014/main" id="{A08280FC-BF12-43A0-9244-4C7AD1231F5C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1287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algn="l">
              <a:defRPr sz="21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2850" b="1" dirty="0">
                <a:solidFill>
                  <a:srgbClr val="111111"/>
                </a:solidFill>
                <a:latin typeface="Microsoft YaHei"/>
                <a:ea typeface="Microsoft YaHei"/>
              </a:rPr>
              <a:t>xv6</a:t>
            </a:r>
            <a:r>
              <a:rPr sz="2850" b="1" dirty="0">
                <a:solidFill>
                  <a:srgbClr val="111111"/>
                </a:solidFill>
                <a:latin typeface="Microsoft YaHei"/>
                <a:ea typeface="Microsoft YaHei"/>
              </a:rPr>
              <a:t>系统调用</a:t>
            </a:r>
          </a:p>
        </p:txBody>
      </p:sp>
      <p:sp>
        <p:nvSpPr>
          <p:cNvPr id="2" name="top-line-15">
            <a:extLst>
              <a:ext uri="{FF2B5EF4-FFF2-40B4-BE49-F238E27FC236}">
                <a16:creationId xmlns:a16="http://schemas.microsoft.com/office/drawing/2014/main" id="{07F786BB-5519-4739-90B8-1A93826048B8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287125" cy="19050"/>
          </a:xfrm>
          <a:prstGeom prst="rect">
            <a:avLst/>
          </a:prstGeom>
          <a:solidFill>
            <a:srgbClr val="A7A9AC"/>
          </a:solidFill>
          <a:ln w="0">
            <a:solidFill>
              <a:srgbClr val="A7A9AC"/>
            </a:solidFill>
          </a:ln>
        </p:spPr>
      </p:sp>
      <p:sp>
        <p:nvSpPr>
          <p:cNvPr id="5" name="page-15">
            <a:extLst>
              <a:ext uri="{FF2B5EF4-FFF2-40B4-BE49-F238E27FC236}">
                <a16:creationId xmlns:a16="http://schemas.microsoft.com/office/drawing/2014/main" id="{7E7110E4-5E1C-49DB-966D-3280B9F4FF3E}"/>
              </a:ext>
            </a:extLst>
          </p:cNvPr>
          <p:cNvSpPr>
            <a:spLocks noGrp="1"/>
          </p:cNvSpPr>
          <p:nvPr/>
        </p:nvSpPr>
        <p:spPr>
          <a:xfrm>
            <a:off x="11430000" y="65913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sys-def">
            <a:extLst>
              <a:ext uri="{FF2B5EF4-FFF2-40B4-BE49-F238E27FC236}">
                <a16:creationId xmlns:a16="http://schemas.microsoft.com/office/drawing/2014/main" id="{A719AF87-4070-46B9-A72C-E544E1B5065A}"/>
              </a:ext>
            </a:extLst>
          </p:cNvPr>
          <p:cNvSpPr>
            <a:spLocks noGrp="1"/>
          </p:cNvSpPr>
          <p:nvPr/>
        </p:nvSpPr>
        <p:spPr>
          <a:xfrm>
            <a:off x="457200" y="1028700"/>
            <a:ext cx="1066800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7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系统调用接口允许用户程序请求操作系统提供的服务</a:t>
            </a:r>
            <a:r>
              <a:rPr sz="1725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  <p:sp>
        <p:nvSpPr>
          <p:cNvPr id="7" name="sys-block-0">
            <a:extLst>
              <a:ext uri="{FF2B5EF4-FFF2-40B4-BE49-F238E27FC236}">
                <a16:creationId xmlns:a16="http://schemas.microsoft.com/office/drawing/2014/main" id="{B0FCD1E1-A467-4238-8228-2BF189D9504E}"/>
              </a:ext>
            </a:extLst>
          </p:cNvPr>
          <p:cNvSpPr>
            <a:spLocks noGrp="1"/>
          </p:cNvSpPr>
          <p:nvPr/>
        </p:nvSpPr>
        <p:spPr>
          <a:xfrm>
            <a:off x="1143000" y="2000250"/>
            <a:ext cx="2476500" cy="781050"/>
          </a:xfrm>
          <a:prstGeom prst="roundRect">
            <a:avLst>
              <a:gd name="adj" fmla="val 9756"/>
            </a:avLst>
          </a:prstGeom>
          <a:solidFill>
            <a:srgbClr val="D9E6F7"/>
          </a:solidFill>
          <a:ln w="9525">
            <a:solidFill>
              <a:srgbClr val="7B7F85"/>
            </a:solidFill>
          </a:ln>
        </p:spPr>
      </p:sp>
      <p:sp>
        <p:nvSpPr>
          <p:cNvPr id="8" name="sys-block-t-0">
            <a:extLst>
              <a:ext uri="{FF2B5EF4-FFF2-40B4-BE49-F238E27FC236}">
                <a16:creationId xmlns:a16="http://schemas.microsoft.com/office/drawing/2014/main" id="{7CF9770B-CB5D-42C8-8AE7-C33B108E3434}"/>
              </a:ext>
            </a:extLst>
          </p:cNvPr>
          <p:cNvSpPr>
            <a:spLocks noGrp="1"/>
          </p:cNvSpPr>
          <p:nvPr/>
        </p:nvSpPr>
        <p:spPr>
          <a:xfrm>
            <a:off x="1314450" y="222885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 algn="ctr">
              <a:def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用户程序</a:t>
            </a:r>
            <a:endParaRPr sz="1575" b="1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sys-block-1">
            <a:extLst>
              <a:ext uri="{FF2B5EF4-FFF2-40B4-BE49-F238E27FC236}">
                <a16:creationId xmlns:a16="http://schemas.microsoft.com/office/drawing/2014/main" id="{4B6E19AF-9BD0-4EFE-AD25-DB30D1D3D374}"/>
              </a:ext>
            </a:extLst>
          </p:cNvPr>
          <p:cNvSpPr>
            <a:spLocks noGrp="1"/>
          </p:cNvSpPr>
          <p:nvPr/>
        </p:nvSpPr>
        <p:spPr>
          <a:xfrm>
            <a:off x="4619625" y="2000250"/>
            <a:ext cx="2476500" cy="781050"/>
          </a:xfrm>
          <a:prstGeom prst="roundRect">
            <a:avLst>
              <a:gd name="adj" fmla="val 9756"/>
            </a:avLst>
          </a:prstGeom>
          <a:solidFill>
            <a:srgbClr val="F2B5B5"/>
          </a:solidFill>
          <a:ln w="9525">
            <a:solidFill>
              <a:srgbClr val="7B7F85"/>
            </a:solidFill>
          </a:ln>
        </p:spPr>
      </p:sp>
      <p:sp>
        <p:nvSpPr>
          <p:cNvPr id="10" name="sys-block-t-1">
            <a:extLst>
              <a:ext uri="{FF2B5EF4-FFF2-40B4-BE49-F238E27FC236}">
                <a16:creationId xmlns:a16="http://schemas.microsoft.com/office/drawing/2014/main" id="{4A24D333-792F-4634-B6E1-3BD01D51EECA}"/>
              </a:ext>
            </a:extLst>
          </p:cNvPr>
          <p:cNvSpPr>
            <a:spLocks noGrp="1"/>
          </p:cNvSpPr>
          <p:nvPr/>
        </p:nvSpPr>
        <p:spPr>
          <a:xfrm>
            <a:off x="4791075" y="222885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 algn="ctr">
              <a:def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系统调用接口</a:t>
            </a:r>
          </a:p>
        </p:txBody>
      </p:sp>
      <p:sp>
        <p:nvSpPr>
          <p:cNvPr id="11" name="sys-block-2">
            <a:extLst>
              <a:ext uri="{FF2B5EF4-FFF2-40B4-BE49-F238E27FC236}">
                <a16:creationId xmlns:a16="http://schemas.microsoft.com/office/drawing/2014/main" id="{B805A676-7807-4445-8C99-45A637F479B1}"/>
              </a:ext>
            </a:extLst>
          </p:cNvPr>
          <p:cNvSpPr>
            <a:spLocks noGrp="1"/>
          </p:cNvSpPr>
          <p:nvPr/>
        </p:nvSpPr>
        <p:spPr>
          <a:xfrm>
            <a:off x="8096250" y="2000250"/>
            <a:ext cx="2476500" cy="781050"/>
          </a:xfrm>
          <a:prstGeom prst="roundRect">
            <a:avLst>
              <a:gd name="adj" fmla="val 9756"/>
            </a:avLst>
          </a:prstGeom>
          <a:solidFill>
            <a:srgbClr val="E5D8EF"/>
          </a:solidFill>
          <a:ln w="9525">
            <a:solidFill>
              <a:srgbClr val="7B7F85"/>
            </a:solidFill>
          </a:ln>
        </p:spPr>
      </p:sp>
      <p:sp>
        <p:nvSpPr>
          <p:cNvPr id="12" name="sys-block-t-2">
            <a:extLst>
              <a:ext uri="{FF2B5EF4-FFF2-40B4-BE49-F238E27FC236}">
                <a16:creationId xmlns:a16="http://schemas.microsoft.com/office/drawing/2014/main" id="{A58265AF-14ED-43B5-94DF-77BC5FE3DE91}"/>
              </a:ext>
            </a:extLst>
          </p:cNvPr>
          <p:cNvSpPr>
            <a:spLocks noGrp="1"/>
          </p:cNvSpPr>
          <p:nvPr/>
        </p:nvSpPr>
        <p:spPr>
          <a:xfrm>
            <a:off x="8267700" y="2228850"/>
            <a:ext cx="21336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6825"/>
          </a:bodyPr>
          <a:lstStyle/>
          <a:p>
            <a:pPr algn="ctr">
              <a:def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内核服务</a:t>
            </a:r>
            <a:endParaRPr sz="1575" b="1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sys-arrow1">
            <a:extLst>
              <a:ext uri="{FF2B5EF4-FFF2-40B4-BE49-F238E27FC236}">
                <a16:creationId xmlns:a16="http://schemas.microsoft.com/office/drawing/2014/main" id="{38C71E49-345F-4316-809A-5A97DA7A35E8}"/>
              </a:ext>
            </a:extLst>
          </p:cNvPr>
          <p:cNvSpPr>
            <a:spLocks noGrp="1"/>
          </p:cNvSpPr>
          <p:nvPr/>
        </p:nvSpPr>
        <p:spPr>
          <a:xfrm>
            <a:off x="3857625" y="21526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875" lnSpcReduction="10000"/>
          </a:bodyPr>
          <a:lstStyle/>
          <a:p>
            <a:pPr algn="ctr">
              <a:def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4" name="sys-arrow2">
            <a:extLst>
              <a:ext uri="{FF2B5EF4-FFF2-40B4-BE49-F238E27FC236}">
                <a16:creationId xmlns:a16="http://schemas.microsoft.com/office/drawing/2014/main" id="{68C9EA66-A7D3-4A6D-84F2-A153CD1C3079}"/>
              </a:ext>
            </a:extLst>
          </p:cNvPr>
          <p:cNvSpPr>
            <a:spLocks noGrp="1"/>
          </p:cNvSpPr>
          <p:nvPr/>
        </p:nvSpPr>
        <p:spPr>
          <a:xfrm>
            <a:off x="7334250" y="2152650"/>
            <a:ext cx="514350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875" lnSpcReduction="10000"/>
          </a:bodyPr>
          <a:lstStyle/>
          <a:p>
            <a:pPr algn="ctr">
              <a:def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15" name="sys-samples">
            <a:extLst>
              <a:ext uri="{FF2B5EF4-FFF2-40B4-BE49-F238E27FC236}">
                <a16:creationId xmlns:a16="http://schemas.microsoft.com/office/drawing/2014/main" id="{D8E1A970-2D9B-487F-93DF-7A0B852DEDCC}"/>
              </a:ext>
            </a:extLst>
          </p:cNvPr>
          <p:cNvSpPr>
            <a:spLocks noGrp="1"/>
          </p:cNvSpPr>
          <p:nvPr/>
        </p:nvSpPr>
        <p:spPr>
          <a:xfrm>
            <a:off x="457200" y="3476625"/>
            <a:ext cx="885825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user.h 中为用户程序声明了常见系统调用：</a:t>
            </a:r>
          </a:p>
        </p:txBody>
      </p:sp>
      <p:sp>
        <p:nvSpPr>
          <p:cNvPr id="16" name="sys-list-bg">
            <a:extLst>
              <a:ext uri="{FF2B5EF4-FFF2-40B4-BE49-F238E27FC236}">
                <a16:creationId xmlns:a16="http://schemas.microsoft.com/office/drawing/2014/main" id="{E0035783-EBF9-4C4A-AB7F-74BBC2EDC380}"/>
              </a:ext>
            </a:extLst>
          </p:cNvPr>
          <p:cNvSpPr>
            <a:spLocks noGrp="1"/>
          </p:cNvSpPr>
          <p:nvPr/>
        </p:nvSpPr>
        <p:spPr>
          <a:xfrm>
            <a:off x="534924" y="4000500"/>
            <a:ext cx="9048750" cy="1066800"/>
          </a:xfrm>
          <a:prstGeom prst="roundRect">
            <a:avLst>
              <a:gd name="adj" fmla="val 7143"/>
            </a:avLst>
          </a:prstGeom>
          <a:solidFill>
            <a:srgbClr val="FFF2C7"/>
          </a:solidFill>
          <a:ln w="9525">
            <a:solidFill>
              <a:srgbClr val="E5D49D"/>
            </a:solidFill>
          </a:ln>
        </p:spPr>
      </p:sp>
      <p:sp>
        <p:nvSpPr>
          <p:cNvPr id="17" name="sys-list-text">
            <a:extLst>
              <a:ext uri="{FF2B5EF4-FFF2-40B4-BE49-F238E27FC236}">
                <a16:creationId xmlns:a16="http://schemas.microsoft.com/office/drawing/2014/main" id="{3CEE7151-222F-4C47-BC0C-38471E7F0965}"/>
              </a:ext>
            </a:extLst>
          </p:cNvPr>
          <p:cNvSpPr>
            <a:spLocks noGrp="1"/>
          </p:cNvSpPr>
          <p:nvPr/>
        </p:nvSpPr>
        <p:spPr>
          <a:xfrm>
            <a:off x="628650" y="4114800"/>
            <a:ext cx="8705850" cy="8001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fork(), exec(), wait(), </a:t>
            </a:r>
            <a:r>
              <a:rPr sz="1575" b="0" dirty="0" err="1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getpid</a:t>
            </a: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(), kill(), pipe(),</a:t>
            </a:r>
          </a:p>
          <a:p>
            <a:pPr algn="l">
              <a:defRPr sz="1575" b="0">
                <a:solidFill>
                  <a:srgbClr val="30343B"/>
                </a:solidFill>
                <a:latin typeface="Consolas"/>
                <a:ea typeface="Consolas"/>
                <a:cs typeface="Consolas"/>
              </a:defRPr>
            </a:pPr>
            <a:r>
              <a:rPr sz="1575" b="0" dirty="0">
                <a:solidFill>
                  <a:srgbClr val="30343B"/>
                </a:solidFill>
                <a:latin typeface="Consolas"/>
                <a:ea typeface="Consolas"/>
                <a:cs typeface="Consolas"/>
              </a:rPr>
              <a:t>read(), write(), open(), close()</a:t>
            </a:r>
          </a:p>
        </p:txBody>
      </p:sp>
      <p:sp>
        <p:nvSpPr>
          <p:cNvPr id="20" name="sys-list-note">
            <a:extLst>
              <a:ext uri="{FF2B5EF4-FFF2-40B4-BE49-F238E27FC236}">
                <a16:creationId xmlns:a16="http://schemas.microsoft.com/office/drawing/2014/main" id="{8D54255E-0D2B-6DAE-1B9B-601A60F0B57C}"/>
              </a:ext>
            </a:extLst>
          </p:cNvPr>
          <p:cNvSpPr>
            <a:spLocks noGrp="1"/>
          </p:cNvSpPr>
          <p:nvPr/>
        </p:nvSpPr>
        <p:spPr>
          <a:xfrm>
            <a:off x="457200" y="5505450"/>
            <a:ext cx="9906000" cy="762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后续实验会通过这些接口创建进程、执行程序、进行进程同步以及读写文件</a:t>
            </a:r>
            <a:r>
              <a:rPr sz="165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。</a:t>
            </a:r>
          </a:p>
        </p:txBody>
      </p:sp>
    </p:spTree>
    <p:extLst>
      <p:ext uri="{BB962C8B-B14F-4D97-AF65-F5344CB8AC3E}">
        <p14:creationId xmlns:p14="http://schemas.microsoft.com/office/powerpoint/2010/main" val="1090768550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itle-19">
            <a:extLst>
              <a:ext uri="{FF2B5EF4-FFF2-40B4-BE49-F238E27FC236}">
                <a16:creationId xmlns:a16="http://schemas.microsoft.com/office/drawing/2014/main" id="{ECC9E6DE-1A89-4B59-926F-A4F08264FC9D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1287125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lnSpcReduction="10000"/>
          </a:bodyPr>
          <a:lstStyle/>
          <a:p>
            <a:pPr algn="l">
              <a:defRPr sz="21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85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实现自己的系统调用</a:t>
            </a:r>
            <a:endParaRPr sz="285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2" name="top-line-19">
            <a:extLst>
              <a:ext uri="{FF2B5EF4-FFF2-40B4-BE49-F238E27FC236}">
                <a16:creationId xmlns:a16="http://schemas.microsoft.com/office/drawing/2014/main" id="{64A252A1-7B82-4FB3-BE0D-4A73E33F8BFA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287125" cy="19050"/>
          </a:xfrm>
          <a:prstGeom prst="rect">
            <a:avLst/>
          </a:prstGeom>
          <a:solidFill>
            <a:srgbClr val="A7A9AC"/>
          </a:solidFill>
          <a:ln w="0">
            <a:solidFill>
              <a:srgbClr val="A7A9AC"/>
            </a:solidFill>
          </a:ln>
        </p:spPr>
      </p:sp>
      <p:sp>
        <p:nvSpPr>
          <p:cNvPr id="5" name="page-19">
            <a:extLst>
              <a:ext uri="{FF2B5EF4-FFF2-40B4-BE49-F238E27FC236}">
                <a16:creationId xmlns:a16="http://schemas.microsoft.com/office/drawing/2014/main" id="{D8E8756D-072D-46DC-879B-6CD172D202F7}"/>
              </a:ext>
            </a:extLst>
          </p:cNvPr>
          <p:cNvSpPr>
            <a:spLocks noGrp="1"/>
          </p:cNvSpPr>
          <p:nvPr/>
        </p:nvSpPr>
        <p:spPr>
          <a:xfrm>
            <a:off x="11430000" y="6591300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  <p:sp>
        <p:nvSpPr>
          <p:cNvPr id="6" name="relevant">
            <a:extLst>
              <a:ext uri="{FF2B5EF4-FFF2-40B4-BE49-F238E27FC236}">
                <a16:creationId xmlns:a16="http://schemas.microsoft.com/office/drawing/2014/main" id="{670E2BF1-4B05-4EC2-BE47-FE52222F47AD}"/>
              </a:ext>
            </a:extLst>
          </p:cNvPr>
          <p:cNvSpPr>
            <a:spLocks noGrp="1"/>
          </p:cNvSpPr>
          <p:nvPr/>
        </p:nvSpPr>
        <p:spPr>
          <a:xfrm>
            <a:off x="457200" y="1000125"/>
            <a:ext cx="4191000" cy="3429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需要关注的 xv6 源文件</a:t>
            </a:r>
          </a:p>
        </p:txBody>
      </p:sp>
      <p:sp>
        <p:nvSpPr>
          <p:cNvPr id="7" name="file-0">
            <a:extLst>
              <a:ext uri="{FF2B5EF4-FFF2-40B4-BE49-F238E27FC236}">
                <a16:creationId xmlns:a16="http://schemas.microsoft.com/office/drawing/2014/main" id="{8B95BF76-F919-4C2E-86FB-86B759A831CC}"/>
              </a:ext>
            </a:extLst>
          </p:cNvPr>
          <p:cNvSpPr>
            <a:spLocks noGrp="1"/>
          </p:cNvSpPr>
          <p:nvPr/>
        </p:nvSpPr>
        <p:spPr>
          <a:xfrm>
            <a:off x="523875" y="15240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user.h</a:t>
            </a:r>
          </a:p>
        </p:txBody>
      </p:sp>
      <p:sp>
        <p:nvSpPr>
          <p:cNvPr id="8" name="file-d-0">
            <a:extLst>
              <a:ext uri="{FF2B5EF4-FFF2-40B4-BE49-F238E27FC236}">
                <a16:creationId xmlns:a16="http://schemas.microsoft.com/office/drawing/2014/main" id="{FE53D629-ABC2-4B4B-80B4-0FECE5E3966F}"/>
              </a:ext>
            </a:extLst>
          </p:cNvPr>
          <p:cNvSpPr>
            <a:spLocks noGrp="1"/>
          </p:cNvSpPr>
          <p:nvPr/>
        </p:nvSpPr>
        <p:spPr>
          <a:xfrm>
            <a:off x="2000250" y="15049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用户态系统调用声明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9" name="file-1">
            <a:extLst>
              <a:ext uri="{FF2B5EF4-FFF2-40B4-BE49-F238E27FC236}">
                <a16:creationId xmlns:a16="http://schemas.microsoft.com/office/drawing/2014/main" id="{C603BB08-9F90-4797-8F6F-752FA6514133}"/>
              </a:ext>
            </a:extLst>
          </p:cNvPr>
          <p:cNvSpPr>
            <a:spLocks noGrp="1"/>
          </p:cNvSpPr>
          <p:nvPr/>
        </p:nvSpPr>
        <p:spPr>
          <a:xfrm>
            <a:off x="523875" y="3286125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usys.S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0" name="file-d-1">
            <a:extLst>
              <a:ext uri="{FF2B5EF4-FFF2-40B4-BE49-F238E27FC236}">
                <a16:creationId xmlns:a16="http://schemas.microsoft.com/office/drawing/2014/main" id="{618F973B-F4D1-41E5-9AEA-872825E37A2B}"/>
              </a:ext>
            </a:extLst>
          </p:cNvPr>
          <p:cNvSpPr>
            <a:spLocks noGrp="1"/>
          </p:cNvSpPr>
          <p:nvPr/>
        </p:nvSpPr>
        <p:spPr>
          <a:xfrm>
            <a:off x="2000250" y="32956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系统调用包装函数的汇编代码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file-2">
            <a:extLst>
              <a:ext uri="{FF2B5EF4-FFF2-40B4-BE49-F238E27FC236}">
                <a16:creationId xmlns:a16="http://schemas.microsoft.com/office/drawing/2014/main" id="{E5D69EBE-65A0-46CC-8F7D-CCFAC4D1F29E}"/>
              </a:ext>
            </a:extLst>
          </p:cNvPr>
          <p:cNvSpPr>
            <a:spLocks noGrp="1"/>
          </p:cNvSpPr>
          <p:nvPr/>
        </p:nvSpPr>
        <p:spPr>
          <a:xfrm>
            <a:off x="488442" y="2417064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syscall.h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2" name="file-d-2">
            <a:extLst>
              <a:ext uri="{FF2B5EF4-FFF2-40B4-BE49-F238E27FC236}">
                <a16:creationId xmlns:a16="http://schemas.microsoft.com/office/drawing/2014/main" id="{46872D9E-B496-49D3-90C5-D3C2DBE70646}"/>
              </a:ext>
            </a:extLst>
          </p:cNvPr>
          <p:cNvSpPr>
            <a:spLocks noGrp="1"/>
          </p:cNvSpPr>
          <p:nvPr/>
        </p:nvSpPr>
        <p:spPr>
          <a:xfrm>
            <a:off x="1964817" y="240030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系统调用名称与编号的映射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3" name="file-3">
            <a:extLst>
              <a:ext uri="{FF2B5EF4-FFF2-40B4-BE49-F238E27FC236}">
                <a16:creationId xmlns:a16="http://schemas.microsoft.com/office/drawing/2014/main" id="{48BC5E8F-0F41-4F59-93C0-491FC0525005}"/>
              </a:ext>
            </a:extLst>
          </p:cNvPr>
          <p:cNvSpPr>
            <a:spLocks noGrp="1"/>
          </p:cNvSpPr>
          <p:nvPr/>
        </p:nvSpPr>
        <p:spPr>
          <a:xfrm>
            <a:off x="523875" y="41529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syscall.c</a:t>
            </a:r>
          </a:p>
        </p:txBody>
      </p:sp>
      <p:sp>
        <p:nvSpPr>
          <p:cNvPr id="14" name="file-d-3">
            <a:extLst>
              <a:ext uri="{FF2B5EF4-FFF2-40B4-BE49-F238E27FC236}">
                <a16:creationId xmlns:a16="http://schemas.microsoft.com/office/drawing/2014/main" id="{7A95F4A6-7CF0-4B77-AD07-02EC2E1F1DD4}"/>
              </a:ext>
            </a:extLst>
          </p:cNvPr>
          <p:cNvSpPr>
            <a:spLocks noGrp="1"/>
          </p:cNvSpPr>
          <p:nvPr/>
        </p:nvSpPr>
        <p:spPr>
          <a:xfrm>
            <a:off x="2000250" y="41338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处理系统调用入口、解析参数，并跳转到具体实现</a:t>
            </a:r>
          </a:p>
        </p:txBody>
      </p:sp>
      <p:sp>
        <p:nvSpPr>
          <p:cNvPr id="15" name="file-4">
            <a:extLst>
              <a:ext uri="{FF2B5EF4-FFF2-40B4-BE49-F238E27FC236}">
                <a16:creationId xmlns:a16="http://schemas.microsoft.com/office/drawing/2014/main" id="{FBBC1B7D-51A1-46AA-84F9-D9405EFCC38F}"/>
              </a:ext>
            </a:extLst>
          </p:cNvPr>
          <p:cNvSpPr>
            <a:spLocks noGrp="1"/>
          </p:cNvSpPr>
          <p:nvPr/>
        </p:nvSpPr>
        <p:spPr>
          <a:xfrm>
            <a:off x="523875" y="50292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sysproc.c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6" name="file-d-4">
            <a:extLst>
              <a:ext uri="{FF2B5EF4-FFF2-40B4-BE49-F238E27FC236}">
                <a16:creationId xmlns:a16="http://schemas.microsoft.com/office/drawing/2014/main" id="{B96F5FF6-47A5-4A28-8F53-9BF8088B7977}"/>
              </a:ext>
            </a:extLst>
          </p:cNvPr>
          <p:cNvSpPr>
            <a:spLocks noGrp="1"/>
          </p:cNvSpPr>
          <p:nvPr/>
        </p:nvSpPr>
        <p:spPr>
          <a:xfrm>
            <a:off x="2000250" y="50101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进程相关系统调用的实现</a:t>
            </a:r>
          </a:p>
        </p:txBody>
      </p:sp>
      <p:sp>
        <p:nvSpPr>
          <p:cNvPr id="17" name="file-5">
            <a:extLst>
              <a:ext uri="{FF2B5EF4-FFF2-40B4-BE49-F238E27FC236}">
                <a16:creationId xmlns:a16="http://schemas.microsoft.com/office/drawing/2014/main" id="{AC33597B-9644-44FD-BCBE-C56C8F91E2F1}"/>
              </a:ext>
            </a:extLst>
          </p:cNvPr>
          <p:cNvSpPr>
            <a:spLocks noGrp="1"/>
          </p:cNvSpPr>
          <p:nvPr/>
        </p:nvSpPr>
        <p:spPr>
          <a:xfrm>
            <a:off x="6191250" y="243840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defs.h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8" name="file-d-5">
            <a:extLst>
              <a:ext uri="{FF2B5EF4-FFF2-40B4-BE49-F238E27FC236}">
                <a16:creationId xmlns:a16="http://schemas.microsoft.com/office/drawing/2014/main" id="{A6AFFBC7-7B1D-478E-9098-BF516C91C562}"/>
              </a:ext>
            </a:extLst>
          </p:cNvPr>
          <p:cNvSpPr>
            <a:spLocks noGrp="1"/>
          </p:cNvSpPr>
          <p:nvPr/>
        </p:nvSpPr>
        <p:spPr>
          <a:xfrm>
            <a:off x="7798308" y="24193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xv6 </a:t>
            </a: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内核函数声明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file-6">
            <a:extLst>
              <a:ext uri="{FF2B5EF4-FFF2-40B4-BE49-F238E27FC236}">
                <a16:creationId xmlns:a16="http://schemas.microsoft.com/office/drawing/2014/main" id="{A109F46F-A7E7-4645-89D0-D5C87F67C379}"/>
              </a:ext>
            </a:extLst>
          </p:cNvPr>
          <p:cNvSpPr>
            <a:spLocks noGrp="1"/>
          </p:cNvSpPr>
          <p:nvPr/>
        </p:nvSpPr>
        <p:spPr>
          <a:xfrm>
            <a:off x="6191250" y="3295650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proc.h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0" name="file-d-6">
            <a:extLst>
              <a:ext uri="{FF2B5EF4-FFF2-40B4-BE49-F238E27FC236}">
                <a16:creationId xmlns:a16="http://schemas.microsoft.com/office/drawing/2014/main" id="{55CE7895-4F20-4B50-ADF0-9789141CDFE3}"/>
              </a:ext>
            </a:extLst>
          </p:cNvPr>
          <p:cNvSpPr>
            <a:spLocks noGrp="1"/>
          </p:cNvSpPr>
          <p:nvPr/>
        </p:nvSpPr>
        <p:spPr>
          <a:xfrm>
            <a:off x="7620000" y="3305175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进程抽象相关的数据结构定义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1" name="file-7">
            <a:extLst>
              <a:ext uri="{FF2B5EF4-FFF2-40B4-BE49-F238E27FC236}">
                <a16:creationId xmlns:a16="http://schemas.microsoft.com/office/drawing/2014/main" id="{B919C67E-3BA1-4923-BE45-97E426739B53}"/>
              </a:ext>
            </a:extLst>
          </p:cNvPr>
          <p:cNvSpPr>
            <a:spLocks noGrp="1"/>
          </p:cNvSpPr>
          <p:nvPr/>
        </p:nvSpPr>
        <p:spPr>
          <a:xfrm>
            <a:off x="6191250" y="4154424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proc.c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2" name="file-d-7">
            <a:extLst>
              <a:ext uri="{FF2B5EF4-FFF2-40B4-BE49-F238E27FC236}">
                <a16:creationId xmlns:a16="http://schemas.microsoft.com/office/drawing/2014/main" id="{C7980F41-4A00-491B-B12B-D2BA06FDD5DC}"/>
              </a:ext>
            </a:extLst>
          </p:cNvPr>
          <p:cNvSpPr>
            <a:spLocks noGrp="1"/>
          </p:cNvSpPr>
          <p:nvPr/>
        </p:nvSpPr>
        <p:spPr>
          <a:xfrm>
            <a:off x="7620000" y="4171950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进程系统调用、进程管理函数与调度器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3" name="file-8">
            <a:extLst>
              <a:ext uri="{FF2B5EF4-FFF2-40B4-BE49-F238E27FC236}">
                <a16:creationId xmlns:a16="http://schemas.microsoft.com/office/drawing/2014/main" id="{B46EB9A5-BFB3-42AA-9C23-FC3F410D54F0}"/>
              </a:ext>
            </a:extLst>
          </p:cNvPr>
          <p:cNvSpPr>
            <a:spLocks noGrp="1"/>
          </p:cNvSpPr>
          <p:nvPr/>
        </p:nvSpPr>
        <p:spPr>
          <a:xfrm>
            <a:off x="6094666" y="1522476"/>
            <a:ext cx="1428750" cy="2857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4444" lnSpcReduction="10000"/>
          </a:bodyPr>
          <a:lstStyle/>
          <a:p>
            <a:pPr algn="l">
              <a:defRPr sz="1350" b="1">
                <a:solidFill>
                  <a:srgbClr val="D92525"/>
                </a:solidFill>
                <a:latin typeface="Consolas"/>
                <a:ea typeface="Consolas"/>
                <a:cs typeface="Consolas"/>
              </a:defRPr>
            </a:pPr>
            <a:r>
              <a:rPr sz="1350" b="1" dirty="0" err="1">
                <a:solidFill>
                  <a:srgbClr val="D92525"/>
                </a:solidFill>
                <a:latin typeface="Consolas"/>
                <a:ea typeface="Consolas"/>
                <a:cs typeface="Consolas"/>
              </a:rPr>
              <a:t>sysfile.c</a:t>
            </a:r>
            <a:endParaRPr sz="1350" b="1" dirty="0">
              <a:solidFill>
                <a:srgbClr val="D92525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4" name="file-d-8">
            <a:extLst>
              <a:ext uri="{FF2B5EF4-FFF2-40B4-BE49-F238E27FC236}">
                <a16:creationId xmlns:a16="http://schemas.microsoft.com/office/drawing/2014/main" id="{3C99B366-3932-49A6-A712-32CD548DCCF6}"/>
              </a:ext>
            </a:extLst>
          </p:cNvPr>
          <p:cNvSpPr>
            <a:spLocks noGrp="1"/>
          </p:cNvSpPr>
          <p:nvPr/>
        </p:nvSpPr>
        <p:spPr>
          <a:xfrm>
            <a:off x="7620000" y="1570101"/>
            <a:ext cx="3905250" cy="5334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27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文件相关系统调用的实现</a:t>
            </a:r>
            <a:endParaRPr sz="127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2087574076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line-20">
            <a:extLst>
              <a:ext uri="{FF2B5EF4-FFF2-40B4-BE49-F238E27FC236}">
                <a16:creationId xmlns:a16="http://schemas.microsoft.com/office/drawing/2014/main" id="{3E35AFBA-269B-496A-821E-341A7AB888B4}"/>
              </a:ext>
            </a:extLst>
          </p:cNvPr>
          <p:cNvSpPr>
            <a:spLocks noGrp="1"/>
          </p:cNvSpPr>
          <p:nvPr/>
        </p:nvSpPr>
        <p:spPr>
          <a:xfrm>
            <a:off x="381000" y="742950"/>
            <a:ext cx="11287125" cy="19050"/>
          </a:xfrm>
          <a:prstGeom prst="rect">
            <a:avLst/>
          </a:prstGeom>
          <a:solidFill>
            <a:srgbClr val="A7A9AC"/>
          </a:solidFill>
          <a:ln w="0">
            <a:solidFill>
              <a:srgbClr val="A7A9AC"/>
            </a:solidFill>
          </a:ln>
        </p:spPr>
      </p:sp>
      <p:sp>
        <p:nvSpPr>
          <p:cNvPr id="5" name="page-20">
            <a:extLst>
              <a:ext uri="{FF2B5EF4-FFF2-40B4-BE49-F238E27FC236}">
                <a16:creationId xmlns:a16="http://schemas.microsoft.com/office/drawing/2014/main" id="{662BEA56-B55E-4C05-8F7D-797A914C7DE3}"/>
              </a:ext>
            </a:extLst>
          </p:cNvPr>
          <p:cNvSpPr>
            <a:spLocks noGrp="1"/>
          </p:cNvSpPr>
          <p:nvPr/>
        </p:nvSpPr>
        <p:spPr>
          <a:xfrm>
            <a:off x="11430000" y="5743575"/>
            <a:ext cx="361950" cy="1905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7222" lnSpcReduction="20000"/>
          </a:bodyPr>
          <a:lstStyle/>
          <a:p>
            <a:pPr algn="r">
              <a:def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B4545"/>
                </a:solidFill>
                <a:latin typeface="Microsoft YaHei"/>
                <a:ea typeface="Microsoft YaHei"/>
                <a:cs typeface="Microsoft YaHei"/>
              </a:rPr>
              <a:t>20</a:t>
            </a:r>
          </a:p>
        </p:txBody>
      </p:sp>
      <p:sp>
        <p:nvSpPr>
          <p:cNvPr id="6" name="title-20a">
            <a:extLst>
              <a:ext uri="{FF2B5EF4-FFF2-40B4-BE49-F238E27FC236}">
                <a16:creationId xmlns:a16="http://schemas.microsoft.com/office/drawing/2014/main" id="{318BA107-6C08-470F-B716-42CEF5F132E9}"/>
              </a:ext>
            </a:extLst>
          </p:cNvPr>
          <p:cNvSpPr>
            <a:spLocks noGrp="1"/>
          </p:cNvSpPr>
          <p:nvPr/>
        </p:nvSpPr>
        <p:spPr>
          <a:xfrm>
            <a:off x="381000" y="228600"/>
            <a:ext cx="1714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21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endParaRPr lang="zh-CN" altLang="en-US" sz="2100" b="1" dirty="0">
              <a:solidFill>
                <a:srgbClr val="D92525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7" name="title-20b">
            <a:extLst>
              <a:ext uri="{FF2B5EF4-FFF2-40B4-BE49-F238E27FC236}">
                <a16:creationId xmlns:a16="http://schemas.microsoft.com/office/drawing/2014/main" id="{0F0B5122-6564-436D-904C-2ADDB9799628}"/>
              </a:ext>
            </a:extLst>
          </p:cNvPr>
          <p:cNvSpPr>
            <a:spLocks noGrp="1"/>
          </p:cNvSpPr>
          <p:nvPr/>
        </p:nvSpPr>
        <p:spPr>
          <a:xfrm>
            <a:off x="285750" y="228600"/>
            <a:ext cx="3619500" cy="495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lstStyle/>
          <a:p>
            <a:pPr>
              <a:defRPr sz="21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800" b="1" dirty="0">
                <a:solidFill>
                  <a:srgbClr val="111111"/>
                </a:solidFill>
                <a:latin typeface="Microsoft YaHei"/>
                <a:ea typeface="Microsoft YaHei"/>
              </a:rPr>
              <a:t>函数调用</a:t>
            </a:r>
            <a:r>
              <a:rPr sz="280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与系统调用</a:t>
            </a:r>
            <a:endParaRPr sz="280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8" name="func-head">
            <a:extLst>
              <a:ext uri="{FF2B5EF4-FFF2-40B4-BE49-F238E27FC236}">
                <a16:creationId xmlns:a16="http://schemas.microsoft.com/office/drawing/2014/main" id="{CB2F12F4-147A-4D49-8F82-E0637DDB5A1A}"/>
              </a:ext>
            </a:extLst>
          </p:cNvPr>
          <p:cNvSpPr>
            <a:spLocks noGrp="1"/>
          </p:cNvSpPr>
          <p:nvPr/>
        </p:nvSpPr>
        <p:spPr>
          <a:xfrm>
            <a:off x="1381125" y="1000125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725" b="1">
                <a:solidFill>
                  <a:srgbClr val="7B4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7B4F9D"/>
                </a:solidFill>
                <a:latin typeface="Microsoft YaHei"/>
                <a:ea typeface="Microsoft YaHei"/>
                <a:cs typeface="Microsoft YaHei"/>
              </a:rPr>
              <a:t>普通函数调用</a:t>
            </a:r>
          </a:p>
        </p:txBody>
      </p:sp>
      <p:sp>
        <p:nvSpPr>
          <p:cNvPr id="9" name="sys-head">
            <a:extLst>
              <a:ext uri="{FF2B5EF4-FFF2-40B4-BE49-F238E27FC236}">
                <a16:creationId xmlns:a16="http://schemas.microsoft.com/office/drawing/2014/main" id="{68BA0D00-48EB-4126-B188-94A90C8B97F1}"/>
              </a:ext>
            </a:extLst>
          </p:cNvPr>
          <p:cNvSpPr>
            <a:spLocks noGrp="1"/>
          </p:cNvSpPr>
          <p:nvPr/>
        </p:nvSpPr>
        <p:spPr>
          <a:xfrm>
            <a:off x="7572375" y="1000125"/>
            <a:ext cx="3048000" cy="381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725" b="1">
                <a:solidFill>
                  <a:srgbClr val="7B4F9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 dirty="0" err="1">
                <a:solidFill>
                  <a:srgbClr val="7B4F9D"/>
                </a:solidFill>
                <a:latin typeface="Microsoft YaHei"/>
                <a:ea typeface="Microsoft YaHei"/>
                <a:cs typeface="Microsoft YaHei"/>
              </a:rPr>
              <a:t>系统调用</a:t>
            </a:r>
            <a:endParaRPr sz="1725" b="1" dirty="0">
              <a:solidFill>
                <a:srgbClr val="7B4F9D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0" name="func-note">
            <a:extLst>
              <a:ext uri="{FF2B5EF4-FFF2-40B4-BE49-F238E27FC236}">
                <a16:creationId xmlns:a16="http://schemas.microsoft.com/office/drawing/2014/main" id="{EC49578F-7D98-4184-B21F-408912BA2F26}"/>
              </a:ext>
            </a:extLst>
          </p:cNvPr>
          <p:cNvSpPr>
            <a:spLocks noGrp="1"/>
          </p:cNvSpPr>
          <p:nvPr/>
        </p:nvSpPr>
        <p:spPr>
          <a:xfrm>
            <a:off x="1571625" y="142875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始终在用户态执行</a:t>
            </a:r>
            <a:endParaRPr sz="1350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1" name="sys-note">
            <a:extLst>
              <a:ext uri="{FF2B5EF4-FFF2-40B4-BE49-F238E27FC236}">
                <a16:creationId xmlns:a16="http://schemas.microsoft.com/office/drawing/2014/main" id="{B86DE2C0-EF3B-4E36-998A-ECB3FE3C10E5}"/>
              </a:ext>
            </a:extLst>
          </p:cNvPr>
          <p:cNvSpPr>
            <a:spLocks noGrp="1"/>
          </p:cNvSpPr>
          <p:nvPr/>
        </p:nvSpPr>
        <p:spPr>
          <a:xfrm>
            <a:off x="7762875" y="1428750"/>
            <a:ext cx="2667000" cy="3238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从用户态进入内核态</a:t>
            </a:r>
            <a:endParaRPr sz="1350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2" name="fstack-0">
            <a:extLst>
              <a:ext uri="{FF2B5EF4-FFF2-40B4-BE49-F238E27FC236}">
                <a16:creationId xmlns:a16="http://schemas.microsoft.com/office/drawing/2014/main" id="{E70F9B58-448F-4816-AB10-95BE26538B20}"/>
              </a:ext>
            </a:extLst>
          </p:cNvPr>
          <p:cNvSpPr>
            <a:spLocks noGrp="1"/>
          </p:cNvSpPr>
          <p:nvPr/>
        </p:nvSpPr>
        <p:spPr>
          <a:xfrm>
            <a:off x="1809750" y="2190750"/>
            <a:ext cx="2190750" cy="552450"/>
          </a:xfrm>
          <a:prstGeom prst="rect">
            <a:avLst/>
          </a:prstGeom>
          <a:solidFill>
            <a:srgbClr val="E8E0F0"/>
          </a:solidFill>
          <a:ln w="9525">
            <a:solidFill>
              <a:srgbClr val="7B4F9D"/>
            </a:solidFill>
          </a:ln>
        </p:spPr>
      </p:sp>
      <p:sp>
        <p:nvSpPr>
          <p:cNvPr id="13" name="fstack-t-0">
            <a:extLst>
              <a:ext uri="{FF2B5EF4-FFF2-40B4-BE49-F238E27FC236}">
                <a16:creationId xmlns:a16="http://schemas.microsoft.com/office/drawing/2014/main" id="{6B883A34-7D45-48B7-9E2E-E9D5AE61357E}"/>
              </a:ext>
            </a:extLst>
          </p:cNvPr>
          <p:cNvSpPr>
            <a:spLocks noGrp="1"/>
          </p:cNvSpPr>
          <p:nvPr/>
        </p:nvSpPr>
        <p:spPr>
          <a:xfrm>
            <a:off x="2047875" y="23526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ctr">
              <a:defRPr sz="14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参数</a:t>
            </a:r>
            <a:endParaRPr sz="1425" b="0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4" name="fstack-1">
            <a:extLst>
              <a:ext uri="{FF2B5EF4-FFF2-40B4-BE49-F238E27FC236}">
                <a16:creationId xmlns:a16="http://schemas.microsoft.com/office/drawing/2014/main" id="{DB3EA9CB-F3F7-4766-8386-CC4B2BDA8EC6}"/>
              </a:ext>
            </a:extLst>
          </p:cNvPr>
          <p:cNvSpPr>
            <a:spLocks noGrp="1"/>
          </p:cNvSpPr>
          <p:nvPr/>
        </p:nvSpPr>
        <p:spPr>
          <a:xfrm>
            <a:off x="1809750" y="2933700"/>
            <a:ext cx="2190750" cy="552450"/>
          </a:xfrm>
          <a:prstGeom prst="rect">
            <a:avLst/>
          </a:prstGeom>
          <a:solidFill>
            <a:srgbClr val="F7E9C9"/>
          </a:solidFill>
          <a:ln w="9525">
            <a:solidFill>
              <a:srgbClr val="7B4F9D"/>
            </a:solidFill>
          </a:ln>
        </p:spPr>
      </p:sp>
      <p:sp>
        <p:nvSpPr>
          <p:cNvPr id="15" name="fstack-t-1">
            <a:extLst>
              <a:ext uri="{FF2B5EF4-FFF2-40B4-BE49-F238E27FC236}">
                <a16:creationId xmlns:a16="http://schemas.microsoft.com/office/drawing/2014/main" id="{3C4D4451-9972-4C78-8CF4-213EDE8B5DC2}"/>
              </a:ext>
            </a:extLst>
          </p:cNvPr>
          <p:cNvSpPr>
            <a:spLocks noGrp="1"/>
          </p:cNvSpPr>
          <p:nvPr/>
        </p:nvSpPr>
        <p:spPr>
          <a:xfrm>
            <a:off x="2047875" y="309562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ctr">
              <a:defRPr sz="14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返回地址</a:t>
            </a:r>
          </a:p>
        </p:txBody>
      </p:sp>
      <p:sp>
        <p:nvSpPr>
          <p:cNvPr id="16" name="fstack-2">
            <a:extLst>
              <a:ext uri="{FF2B5EF4-FFF2-40B4-BE49-F238E27FC236}">
                <a16:creationId xmlns:a16="http://schemas.microsoft.com/office/drawing/2014/main" id="{9D23F0B8-5EAE-4C2C-BBBF-24E08B00AEF7}"/>
              </a:ext>
            </a:extLst>
          </p:cNvPr>
          <p:cNvSpPr>
            <a:spLocks noGrp="1"/>
          </p:cNvSpPr>
          <p:nvPr/>
        </p:nvSpPr>
        <p:spPr>
          <a:xfrm>
            <a:off x="1809750" y="3676650"/>
            <a:ext cx="2190750" cy="552450"/>
          </a:xfrm>
          <a:prstGeom prst="rect">
            <a:avLst/>
          </a:prstGeom>
          <a:solidFill>
            <a:srgbClr val="E8E0F0"/>
          </a:solidFill>
          <a:ln w="9525">
            <a:solidFill>
              <a:srgbClr val="7B4F9D"/>
            </a:solidFill>
          </a:ln>
        </p:spPr>
      </p:sp>
      <p:sp>
        <p:nvSpPr>
          <p:cNvPr id="17" name="fstack-t-2">
            <a:extLst>
              <a:ext uri="{FF2B5EF4-FFF2-40B4-BE49-F238E27FC236}">
                <a16:creationId xmlns:a16="http://schemas.microsoft.com/office/drawing/2014/main" id="{B189C6FC-4737-4994-8EBE-439B7D56D3FA}"/>
              </a:ext>
            </a:extLst>
          </p:cNvPr>
          <p:cNvSpPr>
            <a:spLocks noGrp="1"/>
          </p:cNvSpPr>
          <p:nvPr/>
        </p:nvSpPr>
        <p:spPr>
          <a:xfrm>
            <a:off x="2047875" y="3838575"/>
            <a:ext cx="171450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8202" lnSpcReduction="20000"/>
          </a:bodyPr>
          <a:lstStyle/>
          <a:p>
            <a:pPr algn="ctr">
              <a:defRPr sz="14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局部变量</a:t>
            </a:r>
          </a:p>
        </p:txBody>
      </p:sp>
      <p:sp>
        <p:nvSpPr>
          <p:cNvPr id="18" name="fstack-label">
            <a:extLst>
              <a:ext uri="{FF2B5EF4-FFF2-40B4-BE49-F238E27FC236}">
                <a16:creationId xmlns:a16="http://schemas.microsoft.com/office/drawing/2014/main" id="{EB065571-DAE6-484D-BEB4-85A8A34251E4}"/>
              </a:ext>
            </a:extLst>
          </p:cNvPr>
          <p:cNvSpPr>
            <a:spLocks noGrp="1"/>
          </p:cNvSpPr>
          <p:nvPr/>
        </p:nvSpPr>
        <p:spPr>
          <a:xfrm>
            <a:off x="2333625" y="1838325"/>
            <a:ext cx="1143000" cy="3048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8246"/>
          </a:bodyPr>
          <a:lstStyle/>
          <a:p>
            <a:pPr algn="ctr">
              <a:defRPr sz="1425" b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用户栈</a:t>
            </a:r>
            <a:endParaRPr sz="1425" b="1" dirty="0">
              <a:solidFill>
                <a:srgbClr val="3034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19" name="sstack-0">
            <a:extLst>
              <a:ext uri="{FF2B5EF4-FFF2-40B4-BE49-F238E27FC236}">
                <a16:creationId xmlns:a16="http://schemas.microsoft.com/office/drawing/2014/main" id="{2850D5AA-185E-48E5-9440-289CC646DFDF}"/>
              </a:ext>
            </a:extLst>
          </p:cNvPr>
          <p:cNvSpPr>
            <a:spLocks noGrp="1"/>
          </p:cNvSpPr>
          <p:nvPr/>
        </p:nvSpPr>
        <p:spPr>
          <a:xfrm>
            <a:off x="8001000" y="2190750"/>
            <a:ext cx="2190750" cy="552450"/>
          </a:xfrm>
          <a:prstGeom prst="rect">
            <a:avLst/>
          </a:prstGeom>
          <a:solidFill>
            <a:srgbClr val="E8E0F0"/>
          </a:solidFill>
          <a:ln w="9525">
            <a:solidFill>
              <a:srgbClr val="7B4F9D"/>
            </a:solidFill>
          </a:ln>
        </p:spPr>
      </p:sp>
      <p:sp>
        <p:nvSpPr>
          <p:cNvPr id="20" name="sstack-t-0">
            <a:extLst>
              <a:ext uri="{FF2B5EF4-FFF2-40B4-BE49-F238E27FC236}">
                <a16:creationId xmlns:a16="http://schemas.microsoft.com/office/drawing/2014/main" id="{6F6D5E0C-E374-4CFE-9645-6F82E52B2E55}"/>
              </a:ext>
            </a:extLst>
          </p:cNvPr>
          <p:cNvSpPr>
            <a:spLocks noGrp="1"/>
          </p:cNvSpPr>
          <p:nvPr/>
        </p:nvSpPr>
        <p:spPr>
          <a:xfrm>
            <a:off x="8191500" y="23526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系统调用号与参数</a:t>
            </a:r>
          </a:p>
        </p:txBody>
      </p:sp>
      <p:sp>
        <p:nvSpPr>
          <p:cNvPr id="21" name="sstack-1">
            <a:extLst>
              <a:ext uri="{FF2B5EF4-FFF2-40B4-BE49-F238E27FC236}">
                <a16:creationId xmlns:a16="http://schemas.microsoft.com/office/drawing/2014/main" id="{2209472E-8FEB-4928-95BF-53EB2C524327}"/>
              </a:ext>
            </a:extLst>
          </p:cNvPr>
          <p:cNvSpPr>
            <a:spLocks noGrp="1"/>
          </p:cNvSpPr>
          <p:nvPr/>
        </p:nvSpPr>
        <p:spPr>
          <a:xfrm>
            <a:off x="8001000" y="2933700"/>
            <a:ext cx="2190750" cy="552450"/>
          </a:xfrm>
          <a:prstGeom prst="rect">
            <a:avLst/>
          </a:prstGeom>
          <a:solidFill>
            <a:srgbClr val="F7E9C9"/>
          </a:solidFill>
          <a:ln w="9525">
            <a:solidFill>
              <a:srgbClr val="7B4F9D"/>
            </a:solidFill>
          </a:ln>
        </p:spPr>
      </p:sp>
      <p:sp>
        <p:nvSpPr>
          <p:cNvPr id="22" name="sstack-t-1">
            <a:extLst>
              <a:ext uri="{FF2B5EF4-FFF2-40B4-BE49-F238E27FC236}">
                <a16:creationId xmlns:a16="http://schemas.microsoft.com/office/drawing/2014/main" id="{C207C014-1BB8-472A-9266-21EA8EC551F0}"/>
              </a:ext>
            </a:extLst>
          </p:cNvPr>
          <p:cNvSpPr>
            <a:spLocks noGrp="1"/>
          </p:cNvSpPr>
          <p:nvPr/>
        </p:nvSpPr>
        <p:spPr>
          <a:xfrm>
            <a:off x="8191500" y="309562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陷阱帧 trapframe</a:t>
            </a:r>
          </a:p>
        </p:txBody>
      </p:sp>
      <p:sp>
        <p:nvSpPr>
          <p:cNvPr id="23" name="sstack-2">
            <a:extLst>
              <a:ext uri="{FF2B5EF4-FFF2-40B4-BE49-F238E27FC236}">
                <a16:creationId xmlns:a16="http://schemas.microsoft.com/office/drawing/2014/main" id="{17D5227A-648F-4C2D-8885-E963BF4CEC62}"/>
              </a:ext>
            </a:extLst>
          </p:cNvPr>
          <p:cNvSpPr>
            <a:spLocks noGrp="1"/>
          </p:cNvSpPr>
          <p:nvPr/>
        </p:nvSpPr>
        <p:spPr>
          <a:xfrm>
            <a:off x="8001000" y="3676650"/>
            <a:ext cx="2190750" cy="552450"/>
          </a:xfrm>
          <a:prstGeom prst="rect">
            <a:avLst/>
          </a:prstGeom>
          <a:solidFill>
            <a:srgbClr val="F4D6D6"/>
          </a:solidFill>
          <a:ln w="9525">
            <a:solidFill>
              <a:srgbClr val="7B4F9D"/>
            </a:solidFill>
          </a:ln>
        </p:spPr>
      </p:sp>
      <p:sp>
        <p:nvSpPr>
          <p:cNvPr id="24" name="sstack-t-2">
            <a:extLst>
              <a:ext uri="{FF2B5EF4-FFF2-40B4-BE49-F238E27FC236}">
                <a16:creationId xmlns:a16="http://schemas.microsoft.com/office/drawing/2014/main" id="{675FDF00-A5EE-46A2-8C03-6347E6482AD2}"/>
              </a:ext>
            </a:extLst>
          </p:cNvPr>
          <p:cNvSpPr>
            <a:spLocks noGrp="1"/>
          </p:cNvSpPr>
          <p:nvPr/>
        </p:nvSpPr>
        <p:spPr>
          <a:xfrm>
            <a:off x="8191500" y="3838575"/>
            <a:ext cx="1809750" cy="2667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85185"/>
          </a:bodyPr>
          <a:lstStyle/>
          <a:p>
            <a:pPr algn="ctr">
              <a:def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内核调用栈</a:t>
            </a:r>
          </a:p>
        </p:txBody>
      </p:sp>
      <p:sp>
        <p:nvSpPr>
          <p:cNvPr id="25" name="mode-switch">
            <a:extLst>
              <a:ext uri="{FF2B5EF4-FFF2-40B4-BE49-F238E27FC236}">
                <a16:creationId xmlns:a16="http://schemas.microsoft.com/office/drawing/2014/main" id="{D8CEFBE0-8B4D-4AE3-8961-0C9B4A6C9FC6}"/>
              </a:ext>
            </a:extLst>
          </p:cNvPr>
          <p:cNvSpPr>
            <a:spLocks noGrp="1"/>
          </p:cNvSpPr>
          <p:nvPr/>
        </p:nvSpPr>
        <p:spPr>
          <a:xfrm>
            <a:off x="6096000" y="2706461"/>
            <a:ext cx="1428750" cy="8763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ctr">
              <a:defRPr sz="142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int 0x80</a:t>
            </a:r>
          </a:p>
          <a:p>
            <a:pPr algn="ctr">
              <a:defRPr sz="142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触发特权级切换</a:t>
            </a:r>
          </a:p>
        </p:txBody>
      </p:sp>
      <p:sp>
        <p:nvSpPr>
          <p:cNvPr id="26" name="mode-arrow">
            <a:extLst>
              <a:ext uri="{FF2B5EF4-FFF2-40B4-BE49-F238E27FC236}">
                <a16:creationId xmlns:a16="http://schemas.microsoft.com/office/drawing/2014/main" id="{3A718A85-0FB0-456A-BAFD-611D53E05B9E}"/>
              </a:ext>
            </a:extLst>
          </p:cNvPr>
          <p:cNvSpPr>
            <a:spLocks noGrp="1"/>
          </p:cNvSpPr>
          <p:nvPr/>
        </p:nvSpPr>
        <p:spPr>
          <a:xfrm>
            <a:off x="7429500" y="2896961"/>
            <a:ext cx="523875" cy="400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 fontScale="91875" lnSpcReduction="10000"/>
          </a:bodyPr>
          <a:lstStyle/>
          <a:p>
            <a:pPr algn="ctr">
              <a:def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40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8" name="detail-h-0">
            <a:extLst>
              <a:ext uri="{FF2B5EF4-FFF2-40B4-BE49-F238E27FC236}">
                <a16:creationId xmlns:a16="http://schemas.microsoft.com/office/drawing/2014/main" id="{7FC66382-22A6-10D8-54A5-2CF9B82B18C6}"/>
              </a:ext>
            </a:extLst>
          </p:cNvPr>
          <p:cNvSpPr>
            <a:spLocks noGrp="1"/>
          </p:cNvSpPr>
          <p:nvPr/>
        </p:nvSpPr>
        <p:spPr>
          <a:xfrm>
            <a:off x="494847" y="44196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65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进入内核态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30" name="detail-b-0">
            <a:extLst>
              <a:ext uri="{FF2B5EF4-FFF2-40B4-BE49-F238E27FC236}">
                <a16:creationId xmlns:a16="http://schemas.microsoft.com/office/drawing/2014/main" id="{26E2FD33-8B81-4C27-A4E1-0366F15AE560}"/>
              </a:ext>
            </a:extLst>
          </p:cNvPr>
          <p:cNvSpPr>
            <a:spLocks noGrp="1"/>
          </p:cNvSpPr>
          <p:nvPr/>
        </p:nvSpPr>
        <p:spPr>
          <a:xfrm>
            <a:off x="828222" y="4772025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 dirty="0" err="1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需要一种触发系统调用并切换到内核态的机制。该机制与指令集相关，例如</a:t>
            </a:r>
            <a:r>
              <a:rPr sz="1500" b="0" dirty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 x86 的 int 0x80。</a:t>
            </a:r>
          </a:p>
        </p:txBody>
      </p:sp>
      <p:sp>
        <p:nvSpPr>
          <p:cNvPr id="32" name="detail-h-1">
            <a:extLst>
              <a:ext uri="{FF2B5EF4-FFF2-40B4-BE49-F238E27FC236}">
                <a16:creationId xmlns:a16="http://schemas.microsoft.com/office/drawing/2014/main" id="{5E18B9C5-0CD2-E482-706A-FDE7393B415D}"/>
              </a:ext>
            </a:extLst>
          </p:cNvPr>
          <p:cNvSpPr>
            <a:spLocks noGrp="1"/>
          </p:cNvSpPr>
          <p:nvPr/>
        </p:nvSpPr>
        <p:spPr>
          <a:xfrm>
            <a:off x="494847" y="5143500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传递调用信息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34" name="detail-b-1">
            <a:extLst>
              <a:ext uri="{FF2B5EF4-FFF2-40B4-BE49-F238E27FC236}">
                <a16:creationId xmlns:a16="http://schemas.microsoft.com/office/drawing/2014/main" id="{C5D75A54-200E-C967-4617-22CB0D9695E7}"/>
              </a:ext>
            </a:extLst>
          </p:cNvPr>
          <p:cNvSpPr>
            <a:spLocks noGrp="1"/>
          </p:cNvSpPr>
          <p:nvPr/>
        </p:nvSpPr>
        <p:spPr>
          <a:xfrm>
            <a:off x="828222" y="5562600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内核需要获得系统调用号与参数。它们通常通过硬件寄存器传递，并保存在栈中。</a:t>
            </a:r>
          </a:p>
        </p:txBody>
      </p:sp>
      <p:sp>
        <p:nvSpPr>
          <p:cNvPr id="36" name="detail-h-2">
            <a:extLst>
              <a:ext uri="{FF2B5EF4-FFF2-40B4-BE49-F238E27FC236}">
                <a16:creationId xmlns:a16="http://schemas.microsoft.com/office/drawing/2014/main" id="{E61A145C-30C1-DFFC-F2EE-3415083ED396}"/>
              </a:ext>
            </a:extLst>
          </p:cNvPr>
          <p:cNvSpPr>
            <a:spLocks noGrp="1"/>
          </p:cNvSpPr>
          <p:nvPr/>
        </p:nvSpPr>
        <p:spPr>
          <a:xfrm>
            <a:off x="496208" y="5856061"/>
            <a:ext cx="2476500" cy="3619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>
              <a:defRPr sz="1650" b="1">
                <a:solidFill>
                  <a:srgbClr val="D9252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 dirty="0" err="1">
                <a:solidFill>
                  <a:srgbClr val="111111"/>
                </a:solidFill>
                <a:latin typeface="Microsoft YaHei"/>
                <a:ea typeface="Microsoft YaHei"/>
              </a:rPr>
              <a:t>保存与恢复状态</a:t>
            </a:r>
            <a:endParaRPr sz="1650" b="1" dirty="0">
              <a:solidFill>
                <a:srgbClr val="111111"/>
              </a:solidFill>
              <a:latin typeface="Microsoft YaHei"/>
              <a:ea typeface="Microsoft YaHei"/>
            </a:endParaRPr>
          </a:p>
        </p:txBody>
      </p:sp>
      <p:sp>
        <p:nvSpPr>
          <p:cNvPr id="38" name="detail-b-2">
            <a:extLst>
              <a:ext uri="{FF2B5EF4-FFF2-40B4-BE49-F238E27FC236}">
                <a16:creationId xmlns:a16="http://schemas.microsoft.com/office/drawing/2014/main" id="{DBC86EBE-B382-1B79-1ECC-65DC091F5AF4}"/>
              </a:ext>
            </a:extLst>
          </p:cNvPr>
          <p:cNvSpPr>
            <a:spLocks noGrp="1"/>
          </p:cNvSpPr>
          <p:nvPr/>
        </p:nvSpPr>
        <p:spPr>
          <a:xfrm>
            <a:off x="828222" y="6238875"/>
            <a:ext cx="10001250" cy="78105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rmAutofit/>
          </a:bodyPr>
          <a:lstStyle/>
          <a:p>
            <a:pPr algn="l">
              <a:defRPr sz="150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30343B"/>
                </a:solidFill>
                <a:latin typeface="Microsoft YaHei"/>
                <a:ea typeface="Microsoft YaHei"/>
                <a:cs typeface="Microsoft YaHei"/>
              </a:rPr>
              <a:t>内核必须保存进程执行状态。xv6 把 CPU 寄存器保存在内核栈中的 trapframe 中。</a:t>
            </a:r>
          </a:p>
        </p:txBody>
      </p:sp>
    </p:spTree>
    <p:extLst>
      <p:ext uri="{BB962C8B-B14F-4D97-AF65-F5344CB8AC3E}">
        <p14:creationId xmlns:p14="http://schemas.microsoft.com/office/powerpoint/2010/main" val="124261236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>
            <a:extLst>
              <a:ext uri="{FF2B5EF4-FFF2-40B4-BE49-F238E27FC236}">
                <a16:creationId xmlns:a16="http://schemas.microsoft.com/office/drawing/2014/main" id="{41BE9E53-C5EB-4F79-B3CA-E8797569A933}"/>
              </a:ext>
            </a:extLst>
          </p:cNvPr>
          <p:cNvSpPr txBox="1"/>
          <p:nvPr/>
        </p:nvSpPr>
        <p:spPr>
          <a:xfrm>
            <a:off x="2681478" y="2293358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lnSpc>
                <a:spcPct val="100000"/>
              </a:lnSpc>
            </a:pPr>
            <a:r>
              <a:rPr lang="zh-CN" altLang="en-US" sz="6000" b="1" dirty="0">
                <a:latin typeface="微软雅黑" panose="020B0503020204020204" pitchFamily="34" charset="-122"/>
                <a:ea typeface="微软雅黑" panose="020B0503020204020204" pitchFamily="34" charset="-122"/>
              </a:rPr>
              <a:t>实验与解答</a:t>
            </a:r>
            <a:endParaRPr lang="zh-CN" altLang="zh-CN" sz="6000" b="1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2" name="页脚占位符 1">
            <a:extLst>
              <a:ext uri="{FF2B5EF4-FFF2-40B4-BE49-F238E27FC236}">
                <a16:creationId xmlns:a16="http://schemas.microsoft.com/office/drawing/2014/main" id="{BFA4C454-64DB-4F40-AAF0-FDF12B679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F5680215-8966-4B51-9B74-31AC58557E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5157699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0AD2B367-4B64-657F-20CC-D17632C47D9A}"/>
              </a:ext>
            </a:extLst>
          </p:cNvPr>
          <p:cNvSpPr>
            <a:spLocks noGrp="1"/>
          </p:cNvSpPr>
          <p:nvPr>
            <p:ph type="ftr" idx="3"/>
          </p:nvPr>
        </p:nvSpPr>
        <p:spPr>
          <a:xfrm>
            <a:off x="393700" y="6279952"/>
            <a:ext cx="3568700" cy="241240"/>
          </a:xfrm>
        </p:spPr>
        <p:txBody>
          <a:bodyPr anchor="t">
            <a:normAutofit/>
          </a:bodyPr>
          <a:lstStyle/>
          <a:p>
            <a:pPr algn="l">
              <a:defRPr sz="900" b="0">
                <a:solidFill>
                  <a:srgbClr val="666A70"/>
                </a:solidFill>
                <a:latin typeface="Microsoft YaHei"/>
                <a:ea typeface="Microsoft YaHei"/>
                <a:cs typeface="Microsoft YaHei"/>
              </a:defRPr>
            </a:pPr>
            <a:endParaRPr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3FA98E-8546-AC84-6BD4-8DF0BEBBB87D}"/>
              </a:ext>
            </a:extLst>
          </p:cNvPr>
          <p:cNvSpPr>
            <a:spLocks noGrp="1"/>
          </p:cNvSpPr>
          <p:nvPr>
            <p:ph type="sldNum" idx="4"/>
          </p:nvPr>
        </p:nvSpPr>
        <p:spPr>
          <a:xfrm>
            <a:off x="11279332" y="6279294"/>
            <a:ext cx="518968" cy="241240"/>
          </a:xfrm>
        </p:spPr>
        <p:txBody>
          <a:bodyPr anchor="t">
            <a:normAutofit/>
          </a:bodyPr>
          <a:lstStyle/>
          <a:p>
            <a:pPr algn="r">
              <a:defRPr sz="900" b="0">
                <a:solidFill>
                  <a:srgbClr val="666A70"/>
                </a:solidFill>
                <a:latin typeface="Microsoft YaHei"/>
                <a:ea typeface="Microsoft YaHei"/>
                <a:cs typeface="Microsoft YaHei"/>
              </a:defRPr>
            </a:pPr>
            <a:fld id="{BA58DA2A-B818-18A9-29C1-B697728D5BCE}" type="slidenum">
              <a:rPr sz="900" b="0">
                <a:solidFill>
                  <a:srgbClr val="666A70"/>
                </a:solidFill>
                <a:latin typeface="Microsoft YaHei"/>
                <a:ea typeface="Microsoft YaHei"/>
                <a:cs typeface="Microsoft YaHei"/>
              </a:rPr>
              <a:t>44</a:t>
            </a:fld>
            <a:endParaRPr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D802DC3F-F6C4-90E8-847D-BA0C2E4445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700" y="344008"/>
            <a:ext cx="11404600" cy="1047491"/>
          </a:xfrm>
        </p:spPr>
        <p:txBody>
          <a:bodyPr anchor="t">
            <a:normAutofit/>
          </a:bodyPr>
          <a:lstStyle/>
          <a:p>
            <a:pPr algn="ctr"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4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</a:t>
            </a:r>
            <a:endParaRPr sz="4000" b="1" dirty="0">
              <a:solidFill>
                <a:srgbClr val="111111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18323F9C-3DB1-9BB3-9462-18B6435C1038}"/>
              </a:ext>
            </a:extLst>
          </p:cNvPr>
          <p:cNvSpPr>
            <a:spLocks noGrp="1"/>
          </p:cNvSpPr>
          <p:nvPr/>
        </p:nvSpPr>
        <p:spPr>
          <a:xfrm>
            <a:off x="393700" y="1401762"/>
            <a:ext cx="3568700" cy="4471264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1" name="Content Placeholder 8">
            <a:extLst>
              <a:ext uri="{FF2B5EF4-FFF2-40B4-BE49-F238E27FC236}">
                <a16:creationId xmlns:a16="http://schemas.microsoft.com/office/drawing/2014/main" id="{052F45FF-C9C5-2664-7FF7-CFEC29737802}"/>
              </a:ext>
            </a:extLst>
          </p:cNvPr>
          <p:cNvSpPr>
            <a:spLocks noGrp="1"/>
          </p:cNvSpPr>
          <p:nvPr/>
        </p:nvSpPr>
        <p:spPr>
          <a:xfrm>
            <a:off x="592488" y="1843617"/>
            <a:ext cx="2984904" cy="3777794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500"/>
              </a:spcAft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2000" b="1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sleep</a:t>
            </a: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程序暂停一小段时间后返回$提示符</a:t>
            </a:r>
            <a:r>
              <a:rPr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lang="en-US" altLang="zh-CN" sz="1500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把你的代码输入 user/sleep.c 。看看 user/ 中其他程序（例如 user/echo.c 、 user/grep.c 和 user/rm.c ），了解命令行参数是如何传递给程序的。</a:t>
            </a:r>
            <a:endParaRPr lang="en-US" altLang="zh-CN" sz="1500" dirty="0">
              <a:solidFill>
                <a:srgbClr val="32363B"/>
              </a:solidFill>
              <a:latin typeface="Microsoft YaHei"/>
              <a:ea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</a:rPr>
              <a:t>在 </a:t>
            </a:r>
            <a:r>
              <a:rPr lang="en-US" altLang="zh-CN" sz="1500" dirty="0" err="1">
                <a:solidFill>
                  <a:srgbClr val="32363B"/>
                </a:solidFill>
                <a:latin typeface="Microsoft YaHei"/>
                <a:ea typeface="Microsoft YaHei"/>
              </a:rPr>
              <a:t>Makefile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</a:rPr>
              <a:t>中将你的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sleep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</a:rPr>
              <a:t>程序添加到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UPROGS ;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</a:rPr>
              <a:t>完成后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make </a:t>
            </a:r>
            <a:r>
              <a:rPr lang="en-US" altLang="zh-CN" sz="1500" dirty="0" err="1">
                <a:solidFill>
                  <a:srgbClr val="32363B"/>
                </a:solidFill>
                <a:latin typeface="Microsoft YaHei"/>
                <a:ea typeface="Microsoft YaHei"/>
              </a:rPr>
              <a:t>qemu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</a:rPr>
              <a:t>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</a:rPr>
              <a:t>会编译你的程序</a:t>
            </a:r>
            <a:endParaRPr lang="en-US" altLang="zh-CN" sz="1500" dirty="0">
              <a:solidFill>
                <a:srgbClr val="32363B"/>
              </a:solidFill>
              <a:latin typeface="Microsoft YaHei"/>
              <a:ea typeface="Microsoft YaHei"/>
            </a:endParaRPr>
          </a:p>
          <a:p>
            <a:pPr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endParaRPr sz="1500" dirty="0">
              <a:solidFill>
                <a:srgbClr val="32363B"/>
              </a:solidFill>
              <a:latin typeface="Microsoft YaHei"/>
              <a:ea typeface="Microsoft YaHei"/>
            </a:endParaRPr>
          </a:p>
        </p:txBody>
      </p: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C3E867C1-C7DA-85C7-C8DC-55F132F2923B}"/>
              </a:ext>
            </a:extLst>
          </p:cNvPr>
          <p:cNvSpPr>
            <a:spLocks noGrp="1"/>
          </p:cNvSpPr>
          <p:nvPr/>
        </p:nvSpPr>
        <p:spPr>
          <a:xfrm>
            <a:off x="4308475" y="1401762"/>
            <a:ext cx="3568700" cy="4471264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3" name="Content Placeholder 8">
            <a:extLst>
              <a:ext uri="{FF2B5EF4-FFF2-40B4-BE49-F238E27FC236}">
                <a16:creationId xmlns:a16="http://schemas.microsoft.com/office/drawing/2014/main" id="{5C40FE43-DE8E-7C68-A6D4-F8D8AECE747F}"/>
              </a:ext>
            </a:extLst>
          </p:cNvPr>
          <p:cNvSpPr>
            <a:spLocks noGrp="1"/>
          </p:cNvSpPr>
          <p:nvPr/>
        </p:nvSpPr>
        <p:spPr>
          <a:xfrm>
            <a:off x="4621330" y="1793936"/>
            <a:ext cx="2949339" cy="3520043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500"/>
              </a:spcAft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000" b="1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实现</a:t>
            </a:r>
            <a:r>
              <a:rPr sz="2000" b="1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pingpong</a:t>
            </a:r>
            <a:endParaRPr sz="2000" b="1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输出received</a:t>
            </a:r>
            <a:r>
              <a:rPr 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 </a:t>
            </a:r>
            <a:r>
              <a:rPr sz="1500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ping与</a:t>
            </a:r>
            <a:r>
              <a:rPr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 received pong。
</a:t>
            </a:r>
            <a:r>
              <a:rPr lang="zh-CN" altLang="zh-CN" dirty="0">
                <a:solidFill>
                  <a:srgbClr val="32363B"/>
                </a:solidFill>
                <a:latin typeface="Microsoft YaHei"/>
              </a:rPr>
              <a:t>需要使用 pipe 、 fork 、 write 、 read 和 getpid 这些系统调用</a:t>
            </a:r>
            <a:endParaRPr lang="en-US" altLang="zh-CN" dirty="0">
              <a:solidFill>
                <a:srgbClr val="32363B"/>
              </a:solidFill>
              <a:latin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zh-CN" dirty="0">
                <a:solidFill>
                  <a:srgbClr val="32363B"/>
                </a:solidFill>
                <a:latin typeface="Microsoft YaHei"/>
              </a:rPr>
              <a:t>在 xv6 上，用户程序可用的库函数非常有限。你可以查看 user/user.h 中的函数列表；而源代码可以在 user/ulib.c 、 user/printf.c 和 user/umalloc.c 中找到</a:t>
            </a:r>
            <a:endParaRPr sz="1500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A9CAD1D-ACB2-1454-6255-0DA0ECB85F88}"/>
              </a:ext>
            </a:extLst>
          </p:cNvPr>
          <p:cNvSpPr>
            <a:spLocks noGrp="1"/>
          </p:cNvSpPr>
          <p:nvPr/>
        </p:nvSpPr>
        <p:spPr>
          <a:xfrm>
            <a:off x="8229600" y="1401762"/>
            <a:ext cx="3568700" cy="4471264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25" name="Content Placeholder 8">
            <a:extLst>
              <a:ext uri="{FF2B5EF4-FFF2-40B4-BE49-F238E27FC236}">
                <a16:creationId xmlns:a16="http://schemas.microsoft.com/office/drawing/2014/main" id="{AECA4705-7C1E-A1DB-1156-729DDE0C588F}"/>
              </a:ext>
            </a:extLst>
          </p:cNvPr>
          <p:cNvSpPr>
            <a:spLocks noGrp="1"/>
          </p:cNvSpPr>
          <p:nvPr/>
        </p:nvSpPr>
        <p:spPr>
          <a:xfrm>
            <a:off x="8547219" y="1806796"/>
            <a:ext cx="3094884" cy="3814615"/>
          </a:xfrm>
          <a:prstGeom prst="rect">
            <a:avLst/>
          </a:prstGeom>
        </p:spPr>
        <p:txBody>
          <a:bodyPr vert="horz" lIns="0" tIns="0" rIns="0" bIns="0" anchor="t">
            <a:normAutofit/>
          </a:bodyPr>
          <a:lstStyle>
            <a:lvl1pPr marL="228600" indent="-228600" algn="l" defTabSz="914400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685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1143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600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20574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None/>
              <a:defRPr sz="16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5146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9718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4290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886200" indent="-228600" algn="l" defTabSz="914400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>
            <a:pPr>
              <a:spcAft>
                <a:spcPts val="500"/>
              </a:spcAft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00" b="1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primes</a:t>
            </a:r>
            <a:endParaRPr lang="en-US" altLang="zh-CN" sz="1500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需要编写一个使用管道技术的并发素数筛选程序</a:t>
            </a:r>
            <a:endParaRPr lang="en-US" altLang="zh-CN" sz="1500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  <a:p>
            <a:pPr marL="285750" indent="-285750" algn="just">
              <a:buFont typeface="Arial" panose="020B0604020202020204" pitchFamily="34" charset="0"/>
              <a:buChar char="•"/>
              <a:defRPr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代码输入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user/</a:t>
            </a:r>
            <a:r>
              <a:rPr lang="en-US" altLang="zh-CN" sz="1500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primes.c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，使用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pipe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和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fork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来设置流程。第一个进程会将数字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2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到 </a:t>
            </a:r>
            <a:r>
              <a:rPr lang="en-US" altLang="zh-CN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280 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依次输入到流程中。对于每个质数，你需要创建一个进程，该进程会从自己的左邻居读取数据，并通过另一个管道将其写入右邻居。</a:t>
            </a:r>
            <a:r>
              <a:rPr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
</a:t>
            </a:r>
            <a:r>
              <a:rPr sz="1500" dirty="0" err="1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验证多进程管线与文件描述符管理</a:t>
            </a:r>
            <a:r>
              <a:rPr lang="zh-CN" altLang="en-US" sz="1500" dirty="0">
                <a:solidFill>
                  <a:srgbClr val="32363B"/>
                </a:solidFill>
                <a:latin typeface="Microsoft YaHei"/>
                <a:ea typeface="Microsoft YaHei"/>
                <a:cs typeface="Microsoft YaHei"/>
              </a:rPr>
              <a:t>。</a:t>
            </a:r>
            <a:endParaRPr sz="1500" dirty="0">
              <a:solidFill>
                <a:srgbClr val="32363B"/>
              </a:solidFill>
              <a:latin typeface="Microsoft YaHei"/>
              <a:ea typeface="Microsoft YaHei"/>
              <a:cs typeface="Microsoft YaHei"/>
            </a:endParaRPr>
          </a:p>
        </p:txBody>
      </p:sp>
    </p:spTree>
    <p:extLst>
      <p:ext uri="{BB962C8B-B14F-4D97-AF65-F5344CB8AC3E}">
        <p14:creationId xmlns:p14="http://schemas.microsoft.com/office/powerpoint/2010/main" val="1678413312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6240084" y="1620099"/>
            <a:ext cx="5166676" cy="5484495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头文件介绍：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“kernel/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types.h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：引入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使用的基础类型，例如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uint、ushort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等。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	</a:t>
            </a: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“kernel/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stat.h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：引入文件状态相关定义。这个简单程序本身不直接使用它，但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用户程序通常采用这一组头文件。</a:t>
            </a:r>
          </a:p>
          <a:p>
            <a:endParaRPr lang="zh-CN" altLang="en-US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#include “user/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user.h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” 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：</a:t>
            </a:r>
          </a:p>
          <a:p>
            <a:pPr indent="457200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这里声明了用户程序可以使用的函数和系统调用，包括：</a:t>
            </a:r>
          </a:p>
          <a:p>
            <a:pPr indent="45720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sleep(int);</a:t>
            </a:r>
          </a:p>
          <a:p>
            <a:pPr indent="45720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atoi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(const char *);</a:t>
            </a:r>
          </a:p>
          <a:p>
            <a:pPr indent="45720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void exit(int);</a:t>
            </a:r>
          </a:p>
          <a:p>
            <a:pPr indent="457200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int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fprintf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(int, const char *, ...);</a:t>
            </a:r>
          </a:p>
        </p:txBody>
      </p:sp>
      <p:sp>
        <p:nvSpPr>
          <p:cNvPr id="3" name="Title 10">
            <a:extLst>
              <a:ext uri="{FF2B5EF4-FFF2-40B4-BE49-F238E27FC236}">
                <a16:creationId xmlns:a16="http://schemas.microsoft.com/office/drawing/2014/main" id="{8B6F2964-9FD3-4E8F-8897-45BEA2FCFF5C}"/>
              </a:ext>
            </a:extLst>
          </p:cNvPr>
          <p:cNvSpPr txBox="1">
            <a:spLocks/>
          </p:cNvSpPr>
          <p:nvPr/>
        </p:nvSpPr>
        <p:spPr>
          <a:xfrm>
            <a:off x="393700" y="380584"/>
            <a:ext cx="11404600" cy="1047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sleep</a:t>
            </a:r>
            <a:r>
              <a:rPr lang="zh-CN" altLang="en-US" sz="4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ACF5F85-8E0A-4B8E-8B35-55B8914FD15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85240" y="1620099"/>
            <a:ext cx="4524122" cy="4056420"/>
          </a:xfrm>
          <a:prstGeom prst="rect">
            <a:avLst/>
          </a:prstGeom>
        </p:spPr>
      </p:pic>
      <p:sp>
        <p:nvSpPr>
          <p:cNvPr id="4" name="页脚占位符 3">
            <a:extLst>
              <a:ext uri="{FF2B5EF4-FFF2-40B4-BE49-F238E27FC236}">
                <a16:creationId xmlns:a16="http://schemas.microsoft.com/office/drawing/2014/main" id="{06B0E531-7F6C-4435-901D-F390392F1E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2F60E64-C72D-4E36-81C5-865A9F0CCB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45</a:t>
            </a:fld>
            <a:endParaRPr lang="zh-CN" altLang="en-US"/>
          </a:p>
        </p:txBody>
      </p:sp>
    </p:spTree>
    <p:custDataLst>
      <p:tags r:id="rId1"/>
    </p:custData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ounded Rectangle 19">
            <a:extLst>
              <a:ext uri="{FF2B5EF4-FFF2-40B4-BE49-F238E27FC236}">
                <a16:creationId xmlns:a16="http://schemas.microsoft.com/office/drawing/2014/main" id="{3C12B67C-599D-4556-8E73-E6A1180AE4CD}"/>
              </a:ext>
            </a:extLst>
          </p:cNvPr>
          <p:cNvSpPr>
            <a:spLocks noGrp="1"/>
          </p:cNvSpPr>
          <p:nvPr/>
        </p:nvSpPr>
        <p:spPr>
          <a:xfrm>
            <a:off x="338837" y="1182306"/>
            <a:ext cx="4768342" cy="5456238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4" name="文本框 3"/>
          <p:cNvSpPr txBox="1"/>
          <p:nvPr/>
        </p:nvSpPr>
        <p:spPr>
          <a:xfrm>
            <a:off x="692531" y="1417754"/>
            <a:ext cx="496760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b="1" dirty="0" err="1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在</a:t>
            </a:r>
            <a:r>
              <a:rPr b="1" dirty="0" err="1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Ubuntu</a:t>
            </a:r>
            <a:r>
              <a:rPr lang="en-US" b="1" dirty="0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r>
              <a:rPr lang="zh-CN" altLang="en-US" b="1" dirty="0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命令环境下执行：</a:t>
            </a:r>
            <a:r>
              <a:rPr lang="en-US" altLang="zh-CN" b="1" dirty="0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nano user/</a:t>
            </a:r>
            <a:r>
              <a:rPr lang="en-US" altLang="zh-CN" b="1" dirty="0" err="1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sleep.c</a:t>
            </a:r>
            <a:r>
              <a:rPr lang="zh-CN" altLang="en-US" b="1" dirty="0">
                <a:solidFill>
                  <a:srgbClr val="1769AA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写入文件</a:t>
            </a: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2531" y="2281985"/>
            <a:ext cx="3741420" cy="281940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2531" y="5296980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Ctrl+o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</a:t>
            </a:r>
          </a:p>
          <a:p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enter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确认文件名</a:t>
            </a:r>
          </a:p>
          <a:p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Ctrl+x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退出</a:t>
            </a:r>
          </a:p>
        </p:txBody>
      </p:sp>
      <p:sp>
        <p:nvSpPr>
          <p:cNvPr id="7" name="Title 10">
            <a:extLst>
              <a:ext uri="{FF2B5EF4-FFF2-40B4-BE49-F238E27FC236}">
                <a16:creationId xmlns:a16="http://schemas.microsoft.com/office/drawing/2014/main" id="{893C3152-E14B-4643-9B07-FD1928D30A6D}"/>
              </a:ext>
            </a:extLst>
          </p:cNvPr>
          <p:cNvSpPr txBox="1">
            <a:spLocks/>
          </p:cNvSpPr>
          <p:nvPr/>
        </p:nvSpPr>
        <p:spPr>
          <a:xfrm>
            <a:off x="-118364" y="366109"/>
            <a:ext cx="11404600" cy="104749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 sz="2850" b="1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en-US" altLang="zh-CN" sz="4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sleep</a:t>
            </a:r>
            <a:r>
              <a:rPr lang="zh-CN" altLang="en-US" sz="4000" b="1" dirty="0">
                <a:solidFill>
                  <a:srgbClr val="111111"/>
                </a:solidFill>
                <a:latin typeface="Microsoft YaHei"/>
                <a:ea typeface="Microsoft YaHei"/>
                <a:cs typeface="Microsoft YaHei"/>
              </a:rPr>
              <a:t>实验</a:t>
            </a:r>
          </a:p>
        </p:txBody>
      </p:sp>
      <p:sp>
        <p:nvSpPr>
          <p:cNvPr id="10" name="Rounded Rectangle 19">
            <a:extLst>
              <a:ext uri="{FF2B5EF4-FFF2-40B4-BE49-F238E27FC236}">
                <a16:creationId xmlns:a16="http://schemas.microsoft.com/office/drawing/2014/main" id="{19E4391D-4BC8-47B0-A1C8-7189763677EB}"/>
              </a:ext>
            </a:extLst>
          </p:cNvPr>
          <p:cNvSpPr>
            <a:spLocks noGrp="1"/>
          </p:cNvSpPr>
          <p:nvPr/>
        </p:nvSpPr>
        <p:spPr>
          <a:xfrm>
            <a:off x="5460873" y="1182306"/>
            <a:ext cx="6529704" cy="5456238"/>
          </a:xfrm>
          <a:prstGeom prst="roundRect">
            <a:avLst>
              <a:gd name="adj" fmla="val 3585"/>
            </a:avLst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buNone/>
            </a:pPr>
            <a:endParaRPr/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401407FB-5135-4654-99C2-DDA820F4467F}"/>
              </a:ext>
            </a:extLst>
          </p:cNvPr>
          <p:cNvSpPr txBox="1"/>
          <p:nvPr/>
        </p:nvSpPr>
        <p:spPr>
          <a:xfrm>
            <a:off x="5778945" y="1221586"/>
            <a:ext cx="6211632" cy="3879800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只创建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user/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sleep.c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还不够。必须告诉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构建系统把它编译并放入文件系统镜像。可以通过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nano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Makefile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打开，在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“UPROGS=\”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的列表中加入：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$U/_sleep\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保存并退出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endParaRPr lang="en-US" altLang="zh-CN" dirty="0"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0506AE8F-15DB-43C3-A852-D5ABA4C302B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38940" y="2139972"/>
            <a:ext cx="1956816" cy="248666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34B5FE74-488E-4108-8671-E7480EF712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914565" y="2233839"/>
            <a:ext cx="3880560" cy="1423803"/>
          </a:xfrm>
          <a:prstGeom prst="rect">
            <a:avLst/>
          </a:prstGeom>
        </p:spPr>
      </p:pic>
      <p:sp>
        <p:nvSpPr>
          <p:cNvPr id="2" name="页脚占位符 1">
            <a:extLst>
              <a:ext uri="{FF2B5EF4-FFF2-40B4-BE49-F238E27FC236}">
                <a16:creationId xmlns:a16="http://schemas.microsoft.com/office/drawing/2014/main" id="{E40D35B5-4E32-4B3C-8A86-F8F6DDEA90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7D950885-CFD7-4BFF-A9A9-45BB3CC30C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D07479-4E40-46C9-AE02-7388D24D1C13}" type="slidenum">
              <a:rPr lang="zh-CN" altLang="en-US" smtClean="0"/>
              <a:t>46</a:t>
            </a:fld>
            <a:endParaRPr lang="zh-CN" altLang="en-US" dirty="0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3C998C-2882-4DCE-8654-0CE025A9A9FE}"/>
              </a:ext>
            </a:extLst>
          </p:cNvPr>
          <p:cNvSpPr txBox="1"/>
          <p:nvPr/>
        </p:nvSpPr>
        <p:spPr>
          <a:xfrm>
            <a:off x="5911456" y="4660031"/>
            <a:ext cx="6197929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注意：</a:t>
            </a:r>
          </a:p>
          <a:p>
            <a:pPr algn="just"/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中写的是 $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U/_sleep，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带下划线。</a:t>
            </a: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在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xv6 shell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里运行的是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sleep，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不带下划线。</a:t>
            </a: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-  除最后一项外，每行结尾通常都要有反斜杠 \。</a:t>
            </a:r>
          </a:p>
          <a:p>
            <a:pPr marL="216000" indent="-285750" algn="just">
              <a:buFontTx/>
              <a:buChar char="-"/>
            </a:pP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不要破坏 </a:t>
            </a:r>
            <a:r>
              <a:rPr lang="en-US" altLang="zh-CN" dirty="0" err="1">
                <a:latin typeface="微软雅黑" panose="020B0503020204020204" pitchFamily="34" charset="-122"/>
                <a:ea typeface="微软雅黑" panose="020B0503020204020204" pitchFamily="34" charset="-122"/>
              </a:rPr>
              <a:t>Makefile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原有的 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Tab 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和换行结构。</a:t>
            </a:r>
            <a:endParaRPr lang="en-US" altLang="zh-CN" dirty="0"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algn="just"/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最后，使用</a:t>
            </a:r>
            <a:r>
              <a:rPr lang="en-US" altLang="zh-CN" dirty="0">
                <a:latin typeface="微软雅黑" panose="020B0503020204020204" pitchFamily="34" charset="-122"/>
                <a:ea typeface="微软雅黑" panose="020B0503020204020204" pitchFamily="34" charset="-122"/>
              </a:rPr>
              <a:t>make </a:t>
            </a:r>
            <a:r>
              <a:rPr lang="en-US" altLang="zh-CN">
                <a:latin typeface="微软雅黑" panose="020B0503020204020204" pitchFamily="34" charset="-122"/>
                <a:ea typeface="微软雅黑" panose="020B0503020204020204" pitchFamily="34" charset="-122"/>
              </a:rPr>
              <a:t>qemu</a:t>
            </a:r>
            <a:r>
              <a:rPr lang="zh-CN" altLang="en-US">
                <a:latin typeface="微软雅黑" panose="020B0503020204020204" pitchFamily="34" charset="-122"/>
                <a:ea typeface="微软雅黑" panose="020B0503020204020204" pitchFamily="34" charset="-122"/>
              </a:rPr>
              <a:t>编译</a:t>
            </a:r>
            <a:r>
              <a:rPr lang="zh-CN" altLang="en-US" dirty="0">
                <a:latin typeface="微软雅黑" panose="020B0503020204020204" pitchFamily="34" charset="-122"/>
                <a:ea typeface="微软雅黑" panose="020B0503020204020204" pitchFamily="34" charset="-122"/>
              </a:rPr>
              <a:t>运行</a:t>
            </a:r>
          </a:p>
          <a:p>
            <a:endParaRPr lang="zh-CN" altLang="en-US" dirty="0"/>
          </a:p>
        </p:txBody>
      </p:sp>
    </p:spTree>
    <p:custDataLst>
      <p:tags r:id="rId1"/>
    </p:custData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652</TotalTime>
  <Words>3043</Words>
  <Application>Microsoft Office PowerPoint</Application>
  <PresentationFormat>宽屏</PresentationFormat>
  <Paragraphs>490</Paragraphs>
  <Slides>46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46</vt:i4>
      </vt:variant>
    </vt:vector>
  </HeadingPairs>
  <TitlesOfParts>
    <vt:vector size="57" baseType="lpstr">
      <vt:lpstr>Helvetica Neue</vt:lpstr>
      <vt:lpstr>OpenAI Sans</vt:lpstr>
      <vt:lpstr>等线</vt:lpstr>
      <vt:lpstr>等线 Light</vt:lpstr>
      <vt:lpstr>黑体</vt:lpstr>
      <vt:lpstr>宋体</vt:lpstr>
      <vt:lpstr>Microsoft YaHei</vt:lpstr>
      <vt:lpstr>Microsoft YaHei</vt:lpstr>
      <vt:lpstr>Arial</vt:lpstr>
      <vt:lpstr>Consolas</vt:lpstr>
      <vt:lpstr>Office 主题​​</vt:lpstr>
      <vt:lpstr>Lab基础</vt:lpstr>
      <vt:lpstr>实验说明</vt:lpstr>
      <vt:lpstr>目录</vt:lpstr>
      <vt:lpstr>xv6实验环境介绍</vt:lpstr>
      <vt:lpstr>PowerPoint 演示文稿</vt:lpstr>
      <vt:lpstr>xv6 系统介绍</vt:lpstr>
      <vt:lpstr>Windows系统配置环境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Linux系统配置环境</vt:lpstr>
      <vt:lpstr>PowerPoint 演示文稿</vt:lpstr>
      <vt:lpstr>PowerPoint 演示文稿</vt:lpstr>
      <vt:lpstr>macOS系统配置环境</vt:lpstr>
      <vt:lpstr>PowerPoint 演示文稿</vt:lpstr>
      <vt:lpstr>GDB调试</vt:lpstr>
      <vt:lpstr>PowerPoint 演示文稿</vt:lpstr>
      <vt:lpstr>PowerPoint 演示文稿</vt:lpstr>
      <vt:lpstr>PowerPoint 演示文稿</vt:lpstr>
      <vt:lpstr>PowerPoint 演示文稿</vt:lpstr>
      <vt:lpstr>常用工具介绍</vt:lpstr>
      <vt:lpstr>GCC 简明介绍</vt:lpstr>
      <vt:lpstr>GCC 是什么</vt:lpstr>
      <vt:lpstr>从源代码到可执行文件</vt:lpstr>
      <vt:lpstr>四条常用命令</vt:lpstr>
      <vt:lpstr>GCC 在 xv6 中的角色</vt:lpstr>
      <vt:lpstr>Make：自动化构建与增量编译</vt:lpstr>
      <vt:lpstr>PowerPoint 演示文稿</vt:lpstr>
      <vt:lpstr>xv6 常用 Make 目标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实验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suji lin</dc:creator>
  <cp:lastModifiedBy>suji lin</cp:lastModifiedBy>
  <cp:revision>46</cp:revision>
  <dcterms:created xsi:type="dcterms:W3CDTF">2026-09-18T09:47:03Z</dcterms:created>
  <dcterms:modified xsi:type="dcterms:W3CDTF">2026-09-21T14:22:33Z</dcterms:modified>
</cp:coreProperties>
</file>