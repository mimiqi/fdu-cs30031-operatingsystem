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31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4" r:id="rId55"/>
    <p:sldId id="312" r:id="rId5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https://pdos.csail.mit.edu/6.1810/2024/labs/syscall.html</a:t>
            </a:r>
          </a:p>
          <a:p>
            <a:r>
              <a:t>MIT 6.1810 (2024) Lab: System calls, preparation.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https://pdos.csail.mit.edu/6.1810/2024/labs/syscall.html</a:t>
            </a:r>
          </a:p>
          <a:p>
            <a:r>
              <a:t>MIT 6.1810 (2024) Lab: System calls, preparation.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https://pdos.csail.mit.edu/6.1810/2024/labs/syscall.html</a:t>
            </a:r>
          </a:p>
          <a:p>
            <a:r>
              <a:t>MIT 6.1810 (2024) Lab: System calls, System call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https://pdos.csail.mit.edu/6.1810/2024/labs/syscall.html</a:t>
            </a:r>
          </a:p>
          <a:p>
            <a:r>
              <a:t>MIT 6.1810 (2024) Lab: System calls, System call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https://pdos.csail.mit.edu/6.1810/2024/labs/syscall.html</a:t>
            </a:r>
          </a:p>
          <a:p>
            <a:r>
              <a:t>MIT 6.1810 (2024) Lab: System calls, System call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https://pdos.csail.mit.edu/6.1810/2024/labs/syscall.html</a:t>
            </a:r>
          </a:p>
          <a:p>
            <a:r>
              <a:t>MIT 6.1810 (2024) Lab: System calls, System call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https://pdos.csail.mit.edu/6.1810/2024/labs/syscall.html</a:t>
            </a:r>
          </a:p>
          <a:p>
            <a:r>
              <a:t>MIT 6.1810 (2024) Lab: System calls, Attack xv6.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https://pdos.csail.mit.edu/6.1810/2024/labs/syscall.html</a:t>
            </a:r>
          </a:p>
          <a:p>
            <a:r>
              <a:t>MIT 6.1810 (2024) Lab: System calls, Attack xv6.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https://pdos.csail.mit.edu/6.1810/2024/labs/syscall.html</a:t>
            </a:r>
          </a:p>
          <a:p>
            <a:r>
              <a:t>MIT 6.1810 (2024) Lab: System calls, Attack xv6.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https://pdos.csail.mit.edu/6.1810/2024/labs/syscall.html</a:t>
            </a:r>
          </a:p>
          <a:p>
            <a:r>
              <a:t>MIT 6.1810 (2024) Lab: System calls, Attack xv6.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/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/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/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/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/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/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/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/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/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/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默认字体"/>
          <a:ea typeface="默认字体"/>
          <a:cs typeface="默认字体"/>
        </a:defRPr>
      </a:lvl1pPr>
    </p:titleStyle>
    <p:bodyStyle>
      <a:lvl1pPr marL="228600" indent="-228600" algn="l" defTabSz="914400">
        <a:lnSpc>
          <a:spcPct val="13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默认字体"/>
          <a:ea typeface="默认字体"/>
          <a:cs typeface="默认字体"/>
        </a:defRPr>
      </a:lvl1pPr>
      <a:lvl2pPr marL="685800" indent="-228600" algn="l" defTabSz="914400">
        <a:lnSpc>
          <a:spcPct val="13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默认字体"/>
          <a:ea typeface="默认字体"/>
          <a:cs typeface="默认字体"/>
        </a:defRPr>
      </a:lvl2pPr>
      <a:lvl3pPr marL="1143000" indent="-228600" algn="l" defTabSz="914400">
        <a:lnSpc>
          <a:spcPct val="13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默认字体"/>
          <a:ea typeface="默认字体"/>
          <a:cs typeface="默认字体"/>
        </a:defRPr>
      </a:lvl3pPr>
      <a:lvl4pPr marL="1600200" indent="-228600" algn="l" defTabSz="914400">
        <a:lnSpc>
          <a:spcPct val="13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4pPr>
      <a:lvl5pPr marL="2057400" indent="-228600" algn="l" defTabSz="914400">
        <a:lnSpc>
          <a:spcPct val="13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5pPr>
      <a:lvl6pPr marL="2514600" indent="-228600" algn="l" defTabSz="914400">
        <a:lnSpc>
          <a:spcPct val="13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6pPr>
      <a:lvl7pPr marL="2971800" indent="-228600" algn="l" defTabSz="914400">
        <a:lnSpc>
          <a:spcPct val="13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7pPr>
      <a:lvl8pPr marL="3429000" indent="-228600" algn="l" defTabSz="914400">
        <a:lnSpc>
          <a:spcPct val="13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8pPr>
      <a:lvl9pPr marL="3886200" indent="-228600" algn="l" defTabSz="914400">
        <a:lnSpc>
          <a:spcPct val="13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9pPr>
    </p:bodyStyle>
    <p:otherStyle>
      <a:lvl1pPr marL="0" algn="l" defTabSz="914400">
        <a:lnSpc>
          <a:spcPct val="130000"/>
        </a:lnSpc>
        <a:buNone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1pPr>
      <a:lvl2pPr marL="4572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2pPr>
      <a:lvl3pPr marL="9144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3pPr>
      <a:lvl4pPr marL="13716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4pPr>
      <a:lvl5pPr marL="18288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5pPr>
      <a:lvl6pPr marL="22860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6pPr>
      <a:lvl7pPr marL="27432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7pPr>
      <a:lvl8pPr marL="32004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8pPr>
      <a:lvl9pPr marL="36576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默认字体"/>
          <a:ea typeface="默认字体"/>
          <a:cs typeface="默认字体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github.com/riscv-non-isa/riscv-asm-manual/blob/master/riscv-asm.md" TargetMode="External"/><Relationship Id="rId3" Type="http://schemas.openxmlformats.org/officeDocument/2006/relationships/hyperlink" Target="https://pdos.csail.mit.edu/6.828/2022/readings/riscv-calling.pdf" TargetMode="External"/><Relationship Id="rId2" Type="http://schemas.openxmlformats.org/officeDocument/2006/relationships/hyperlink" Target="https://github.com/riscv/riscv-isa-manual/releases/download/Priv-v1.12/riscv-privileged-20211203.pdf" TargetMode="External"/><Relationship Id="rId1" Type="http://schemas.openxmlformats.org/officeDocument/2006/relationships/hyperlink" Target="https://github.com/riscv/riscv-isa-manual/releases/download/Ratified-IMAFDQC/riscv-spec-20191213.pdf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github.com/riscv-non-isa/riscv-asm-manual/blob/master/riscv-asm.md" TargetMode="External"/><Relationship Id="rId3" Type="http://schemas.openxmlformats.org/officeDocument/2006/relationships/hyperlink" Target="https://pdos.csail.mit.edu/6.828/2022/readings/riscv-calling.pdf" TargetMode="External"/><Relationship Id="rId2" Type="http://schemas.openxmlformats.org/officeDocument/2006/relationships/hyperlink" Target="https://github.com/riscv/riscv-isa-manual/releases/download/Priv-v1.12/riscv-privileged-20211203.pdf" TargetMode="External"/><Relationship Id="rId1" Type="http://schemas.openxmlformats.org/officeDocument/2006/relationships/hyperlink" Target="https://github.com/riscv/riscv-isa-manual/releases/download/Ratified-IMAFDQC/riscv-spec-20191213.pdf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rfc-editor.org/ien/ien137.txt" TargetMode="External"/><Relationship Id="rId2" Type="http://schemas.openxmlformats.org/officeDocument/2006/relationships/hyperlink" Target="http://www.webopedia.com/TERM/b/big_endian.html" TargetMode="External"/><Relationship Id="rId1" Type="http://schemas.openxmlformats.org/officeDocument/2006/relationships/hyperlink" Target="https://www.asciitable.com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pdos.csail.mit.edu/6.1810/2022/lec/l-riscv.txt" TargetMode="Externa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hyperlink" Target="https://pdos.csail.mit.edu/6.1810/2024/labs/traps.html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hyperlink" Target="https://pdos.csail.mit.edu/6.1810/2024/labs/traps.html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hyperlink" Target="mailto:a1876974812@163.com" TargetMode="Externa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3.xml"/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github.com/riscv-non-isa/riscv-asm-manual/blob/master/riscv-asm.md" TargetMode="External"/><Relationship Id="rId5" Type="http://schemas.openxmlformats.org/officeDocument/2006/relationships/hyperlink" Target="https://pdos.csail.mit.edu/6.828/2022/readings/riscv-calling.pdf" TargetMode="External"/><Relationship Id="rId4" Type="http://schemas.openxmlformats.org/officeDocument/2006/relationships/hyperlink" Target="https://github.com/riscv/riscv-isa-manual/releases/download/Priv-v1.12/riscv-privileged-20211203.pdf" TargetMode="External"/><Relationship Id="rId3" Type="http://schemas.openxmlformats.org/officeDocument/2006/relationships/hyperlink" Target="https://github.com/riscv/riscv-isa-manual/releases/download/Ratified-IMAFDQC/riscv-spec-20191213.pdf" TargetMode="External"/><Relationship Id="rId2" Type="http://schemas.openxmlformats.org/officeDocument/2006/relationships/hyperlink" Target="https://pdos.csail.mit.edu/6.1810/2024/xv6/book-riscv-rev4.pdf" TargetMode="External"/><Relationship Id="rId1" Type="http://schemas.openxmlformats.org/officeDocument/2006/relationships/hyperlink" Target="https://pdos.csail.mit.edu/6.1810/2024/labs/trap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3215640" y="1988820"/>
            <a:ext cx="5410200" cy="17608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sz="4800"/>
              <a:t>Lab system calls</a:t>
            </a:r>
            <a:endParaRPr sz="4800"/>
          </a:p>
          <a:p>
            <a:pPr algn="ctr">
              <a:buNone/>
            </a:pPr>
            <a:r>
              <a:rPr sz="3200"/>
              <a:t>2026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1143000" y="704850"/>
            <a:ext cx="7854315" cy="42938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一个操作系统必须满足3点要求：多路复用、隔离、交互；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采用宏内核设计；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运行在多核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risc-v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微处理单元；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risc-v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是一个64位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并且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用”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LP64”（ L：long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P：pointer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语言中是64位，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是32位）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写的。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1271270" y="476250"/>
            <a:ext cx="8401685" cy="56705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（一）抽象物理资源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实现强隔离。例如，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1.unix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应用与内存交互仅通过文件系统的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open、read、write、close system call，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而不是直接读写硬盘。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2.unix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进程使用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exec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来构建他们的内存镜像，而不是直接与物理内存交互。这允许操作系统决定一个进程该在内存中的哪个位置。如果内存紧张，操作系统甚至可能将进程的一些数据存储到硬盘上。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许多形式的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unix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进程间交互通过文件描述符发生。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798830" y="260350"/>
            <a:ext cx="10635615" cy="62083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（二）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user mode、supervisor mode、system calls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强隔离需要一个坚固的边界。程序错误不能造成系统或者其他进程错误。操作系统应该能够清理失败应用，并继续运行其他应用。为了实现强隔离：应用不能更改（甚至读）操作系统的数据结构和指令，应用不能访问其他进程的内存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为强隔离提供硬件支持。例如：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risc-v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有3种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执行指令的模式：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machine mode、supervisor mode、user mode。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machine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下执行的指令有全部权限。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machine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开始启动。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machine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绝大多数用于配置一台电脑。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machine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下执行几行代码，然后切换到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supervisor mode。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supervisor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被允许执行权限指令：例如，启用、禁用中断，读写寄存器（保存页表地址）等等。如果一个应用在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user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下尝试执行权限指令，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不会执行这个指令，而是切换到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supervisor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下终止应用，因为这个应用做了它不该做的事。在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 space（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 supervisor mode）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中运行的软件称作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user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切换到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supervisor mode，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声明的入口点处进入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kernel（risc-v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ecall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指令达到这个目的）。一旦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切换到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supervisor mode，kernel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会校验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system call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参数，决定应用是否被允许执行请求操作，然后拒绝它或者执行它。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控制过渡到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supervisor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的入口是很重要的事；如果一个应用可以决定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入口，一个恶意程序可以进入到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中逃脱参数校验的点。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767080" y="450850"/>
            <a:ext cx="10163175" cy="59569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（三）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组织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设计问题的关键是：操作系统的哪部分应该运行在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supervisor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下。一种可能是整个操作系统搁置在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中，因此所有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system calls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的实现运行在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supervisor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下。这个组织叫做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monolithic kernel。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在宏内核下，操作系统各部分之间协作更容易。例如：一个操作系统可能有一个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buffer cache，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它可以被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file system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virtual memory system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共享。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monolithic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组织的一个缺点是：操作系统不同部分间的接口通常是复杂的（我们将在之后文中看到），因此操作系统开发人员很容易犯错。在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monolithic 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中，一个错误是致命的，因为一个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supervisor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下的错误通常将导致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挂掉。如果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挂掉了，计算机停止工作，因此所有应用也挂掉。计算机必须重启。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为了减少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错误风险，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os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设计者会最小化操作系统代码（运行在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supervisor 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下）的体积，并在用户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mode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下执行操作系统块。这个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组织称作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microkernel。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115" y="981075"/>
            <a:ext cx="6047105" cy="2179320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814070" y="3612515"/>
            <a:ext cx="10440035" cy="2820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图中阐述了微内核设计。在这个图中，文件系统作为一个用户级别的进程运行。为了允许应用和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file server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交互，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提供一个内部进程交互机制来让用户进程之间发送消息。例如：如果一个像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shell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这样的应用想读写文件，它向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file server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发消息并等待响应。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因为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不提供一些服务，它的内核比一些微内核小，但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的理念是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monolithic。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1304290" y="1094740"/>
            <a:ext cx="7013575" cy="33483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（四）代码：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组织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 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源码在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子目录中。资源被分成多个文件，跟随了模块化理念。内部模块接口定义在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defs.h（kernel/defs）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982980" y="692785"/>
            <a:ext cx="9537065" cy="4790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（五）进程概览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中的隔离单元是进程（正如其他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unix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中一样）。进程抽象阻止一个进程破坏、侦测另外一个进程的内存、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cpu、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文件描述符等等。也阻止一个进程破坏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本身，因此一个进程不能推翻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隔离机制。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为了帮助强制隔离，进程为程序提供一个私有内存系统或者地址空间（看起来是），其他进程不能读写。进程也给程序提供它自己的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cpu（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看起来是）来执行程序的指令。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使用页表（硬件实现）来给每个进程分配自己的地址空间。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risc-v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页表翻译一个虚拟地址（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risc-v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指令操作的地址）到物理地址（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分配给主存的地址）。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911225" y="3357245"/>
            <a:ext cx="9537065" cy="3268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为每个进程维护独立页表和地址空间。用户地址空间从虚拟地址 0 开始，依次包含代码、全局变量、栈和可扩展的堆。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 38 位虚拟地址，因此最大虚拟地址为 \(2^{38}-1\)。地址空间顶部还保留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trampoline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trapframe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页面，用于用户态与内核态之间的切换。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每个进程的状态保存在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struct proc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中，并拥有用户栈和内核栈。执行用户程序时使用用户栈；发生系统调用或中断进入内核后，改用内核栈。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进程通过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ecall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发起系统调用，处理器提升特权级并跳转到内核入口。内核处理完成后，通过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sret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降低特权级，返回用户空间继续执行。进程在用户态运行时，分页硬件使用该进程的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p-&gt;pagetable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完成地址转换。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9240" y="19685"/>
            <a:ext cx="347472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911225" y="908685"/>
            <a:ext cx="9537065" cy="3268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（六）现实世界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现代操作系统支持一个进程中多个线程，让一个进程利用多个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cpu。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进程支持多线程的机器（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不支持）有很多，包含潜在的接口改变（例如：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linux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clone、fork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变形），来控制进程（多线程共享）的各方面。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911225" y="908685"/>
            <a:ext cx="10154920" cy="51727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（七）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traps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system calls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调用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system call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用户程序把参数存入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a0、a1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等寄存器，把系统调用号存入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a7，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再执行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ecall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进入内核。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syscall()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trapframe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a7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读取调用号，并通过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syscalls[]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函数表找到对应的内核函数。例如，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SYS_exec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对应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sys_exec()。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内核函数执行完成后，返回值写入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p-&gt;trapframe-&gt;a0。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返回用户态后，用户程序从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a0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获得结果。负数表示失败，0 或正数表示成功；无效调用号返回 -1。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system call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进入内核时，用户寄存器会保存在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trapframe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中。内核通过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argint、argaddr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argfd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获取整数、地址和文件描述符参数。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对于用户指针，内核不能直接访问，因为指针可能无效或指向非法区域，而且内核页表与用户页表不同。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copyin、copyout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copyinstr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安全地在用户空间与内核之间传输数据。例如，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exec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fetchstr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copyinstr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读取用户传入的文件名。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838200" y="361950"/>
            <a:ext cx="105156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endParaRPr sz="3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1666875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环境配置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81125" y="2238375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保存上一实验的修改，切换到 syscall 分支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809750" y="2781300"/>
            <a:ext cx="923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97"/>
          </a:bodyPr>
          <a:lstStyle/>
          <a:p>
            <a:pPr algn="l">
              <a:def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git fetch</a:t>
            </a:r>
            <a:endParaRPr sz="1800" b="1">
              <a:solidFill>
                <a:srgbClr val="279B5B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809750" y="3209925"/>
            <a:ext cx="923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97"/>
          </a:bodyPr>
          <a:lstStyle/>
          <a:p>
            <a:pPr algn="l">
              <a:def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git checkout syscall</a:t>
            </a:r>
            <a:endParaRPr sz="1800" b="1">
              <a:solidFill>
                <a:srgbClr val="279B5B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809750" y="3638550"/>
            <a:ext cx="923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97"/>
          </a:bodyPr>
          <a:lstStyle/>
          <a:p>
            <a:pPr algn="l">
              <a:def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make clean</a:t>
            </a:r>
            <a:endParaRPr sz="1800" b="1">
              <a:solidFill>
                <a:srgbClr val="279B5B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81125" y="4238625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检查初始测试结果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809750" y="4781550"/>
            <a:ext cx="923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97"/>
          </a:bodyPr>
          <a:lstStyle/>
          <a:p>
            <a:pPr algn="l">
              <a:def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make grade</a:t>
            </a:r>
            <a:endParaRPr sz="1800" b="1">
              <a:solidFill>
                <a:srgbClr val="279B5B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09750" y="5257800"/>
            <a:ext cx="9048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初始状态下，trace 无法执行，attacktest 也会失败。</a:t>
            </a:r>
            <a:endParaRPr sz="1725" b="1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838200" y="361950"/>
            <a:ext cx="105156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Trace实验目标</a:t>
            </a:r>
            <a:endParaRPr sz="3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91185" y="1606550"/>
            <a:ext cx="10614660" cy="4493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添加一个系统调用跟踪功能，该功能可以在以后的实验中为你提供帮助。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你将创建一个新的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trace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系统调用来控制跟踪。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它应该有一个参数，一个整数“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mask(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掩码)”，其指定要跟踪的系统调用。例如，为了跟踪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fork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系统调用，程序调用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trace (1 &lt;&lt; SYS_fork) ，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其中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SYS_fork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是来自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kernel/syscall.h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的系统调用号。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如果掩码中设置了系统调用的编号，则必须修改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xv6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内核以在每个系统调用即将返回时打印出一行。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该行应包含 进程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ID 、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系统调用名称 和 返回值 ；您不需要打印系统调用参数。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trace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系统调用应该为调用它的进程和它随后派生的任何子进程启用跟踪，但不应影响其他进程。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838200" y="361950"/>
            <a:ext cx="105156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Trace实验内容</a:t>
            </a:r>
            <a:endParaRPr sz="3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1504950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实验已经提供 user/trace.c，用它运行另一个程序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81125" y="2038350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mask 的第 n 位控制编号为 n 的系统调用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09750" y="2552700"/>
            <a:ext cx="923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97"/>
          </a:bodyPr>
          <a:lstStyle/>
          <a:p>
            <a:pPr algn="l">
              <a:def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trace 32 grep hello README</a:t>
            </a:r>
            <a:endParaRPr sz="1800" b="1">
              <a:solidFill>
                <a:srgbClr val="279B5B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809750" y="293370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301"/>
          </a:bodyPr>
          <a:lstStyle/>
          <a:p>
            <a:pPr algn="l">
              <a:def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 = 1 &lt;&lt; SYS_read，只打印 read 的调用结果</a:t>
            </a:r>
            <a:endParaRPr sz="1725" b="1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809750" y="3429000"/>
            <a:ext cx="923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97"/>
          </a:bodyPr>
          <a:lstStyle/>
          <a:p>
            <a:pPr algn="l">
              <a:def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trace 2147483647 grep hello README</a:t>
            </a:r>
            <a:endParaRPr sz="1800" b="1">
              <a:solidFill>
                <a:srgbClr val="279B5B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809750" y="381000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301"/>
          </a:bodyPr>
          <a:lstStyle/>
          <a:p>
            <a:pPr algn="l">
              <a:def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 31 位全部置 1，用于跟踪所有系统调用</a:t>
            </a:r>
            <a:endParaRPr sz="1725" b="1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809750" y="4305300"/>
            <a:ext cx="923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97"/>
          </a:bodyPr>
          <a:lstStyle/>
          <a:p>
            <a:pPr algn="l">
              <a:def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trace 2 usertests forkforkfork</a:t>
            </a:r>
            <a:endParaRPr sz="1800" b="1">
              <a:solidFill>
                <a:srgbClr val="279B5B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809750" y="468630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301"/>
          </a:bodyPr>
          <a:lstStyle/>
          <a:p>
            <a:pPr algn="l">
              <a:def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 fork 的所有后代进程是否继续输出跟踪信息</a:t>
            </a:r>
            <a:endParaRPr sz="1725" b="1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81125" y="5219700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每行只需输出 pid、系统调用名称和返回值，不要求输出参数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838200" y="361950"/>
            <a:ext cx="105156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Trace实验内容</a:t>
            </a:r>
            <a:endParaRPr sz="3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1504950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先接通用户态入口和系统调用编号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81125" y="20764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在 Makefile 的 UPROGS 中加入 $U/_trace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81125" y="25717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在 user/user.h 中声明 trace(int)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381125" y="30670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在 user/usys.pl 中加入 entry("trace")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81125" y="35623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 在 kernel/syscall.h 中分配 SYS_trace 编号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4171950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user/usys.pl 会自动生成 user/usys.S</a:t>
            </a:r>
            <a:endParaRPr sz="20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381125" y="4705350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2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不要直接修改生成文件 user/usys.S</a:t>
            </a:r>
            <a:endParaRPr sz="1800" b="1">
              <a:solidFill>
                <a:srgbClr val="2F73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81125" y="5238750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阶段检查：make qemu 不再出现 trace 的声明或入口错误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838200" y="361950"/>
            <a:ext cx="105156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Trace实验内容</a:t>
            </a:r>
            <a:endParaRPr sz="3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1428750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在内核中实现 trace 系统调用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81125" y="198120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在 kernel/proc.h 的 struct proc 中保存 trace mask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81125" y="24574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在 kernel/sysproc.c 实现 sys_trace()，用 argint 读取参数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381125" y="293370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在 kernel/syscall.c 声明 sys_trace 并登记到 syscalls[]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81125" y="34099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 建立系统调用名称数组，供输出时按编号查找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81125" y="388620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 syscalls[num]() 返回后检查 mask，再打印返回值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381125" y="43624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 在 kernel/proc.c 的 fork() 中把 mask 复制给子进程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5048250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2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不要使用全局 mask，每个进程都必须保存独立状态</a:t>
            </a:r>
            <a:endParaRPr sz="1950" b="1">
              <a:solidFill>
                <a:srgbClr val="2F73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838200" y="361950"/>
            <a:ext cx="105156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Trace实验内容</a:t>
            </a:r>
            <a:endParaRPr sz="3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1504950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验收测试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847215" y="2061210"/>
            <a:ext cx="923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97"/>
          </a:bodyPr>
          <a:lstStyle/>
          <a:p>
            <a:pPr algn="l">
              <a:def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trace 32 grep hello README</a:t>
            </a:r>
            <a:endParaRPr sz="1800" b="1">
              <a:solidFill>
                <a:srgbClr val="279B5B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0" y="20478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只出现 read</a:t>
            </a:r>
            <a:endParaRPr sz="1725" b="1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809750" y="2524125"/>
            <a:ext cx="923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97"/>
          </a:bodyPr>
          <a:lstStyle/>
          <a:p>
            <a:pPr algn="l">
              <a:def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trace 2147483647 grep hello README</a:t>
            </a:r>
            <a:endParaRPr sz="1800" b="1">
              <a:solidFill>
                <a:srgbClr val="279B5B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0" y="252412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出现多个系统调用</a:t>
            </a:r>
            <a:endParaRPr sz="1725" b="1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809750" y="3000375"/>
            <a:ext cx="923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97"/>
          </a:bodyPr>
          <a:lstStyle/>
          <a:p>
            <a:pPr algn="l">
              <a:def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grep hello README</a:t>
            </a:r>
            <a:endParaRPr sz="1800" b="1">
              <a:solidFill>
                <a:srgbClr val="279B5B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0" y="30003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没有跟踪输出</a:t>
            </a:r>
            <a:endParaRPr sz="1725" b="1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09750" y="3476625"/>
            <a:ext cx="923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97"/>
          </a:bodyPr>
          <a:lstStyle/>
          <a:p>
            <a:pPr algn="l">
              <a:def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trace 2 usertests forkforkfork</a:t>
            </a:r>
            <a:endParaRPr sz="1800" b="1">
              <a:solidFill>
                <a:srgbClr val="279B5B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0" y="347662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子进程继续跟踪 fork</a:t>
            </a:r>
            <a:endParaRPr sz="1725" b="1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809750" y="4048125"/>
            <a:ext cx="923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97"/>
          </a:bodyPr>
          <a:lstStyle/>
          <a:p>
            <a:pPr algn="l">
              <a:def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make grade</a:t>
            </a:r>
            <a:r>
              <a:rPr lang="en-US" sz="1800" b="1">
                <a:solidFill>
                  <a:srgbClr val="279B5B"/>
                </a:solidFill>
                <a:latin typeface="Cascadia Mono"/>
                <a:ea typeface="Cascadia Mono"/>
                <a:cs typeface="Cascadia Mono"/>
              </a:rPr>
              <a:t>                                               </a:t>
            </a:r>
            <a:endParaRPr lang="en-US" sz="1800" b="1">
              <a:solidFill>
                <a:srgbClr val="279B5B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4619625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实验报告需包含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81125" y="5095875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修改文件及职责、mask 设计、继承方式、测试结果与分析</a:t>
            </a:r>
            <a:r>
              <a:rPr lang="zh-CN"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（最好把实验步骤截图也写在</a:t>
            </a:r>
            <a:r>
              <a:rPr lang="zh-CN"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报告上）</a:t>
            </a:r>
            <a:endParaRPr lang="zh-CN"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 descr="d3760a6fc95c30409e0e49259ea542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8160" y="981075"/>
            <a:ext cx="2571750" cy="232410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7239000" y="407733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直接运行命令然后提交</a:t>
            </a:r>
            <a:r>
              <a:rPr lang="zh-CN" sz="1725" b="1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endParaRPr lang="zh-CN" sz="1725" b="1">
              <a:solidFill>
                <a:srgbClr val="606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838200" y="361950"/>
            <a:ext cx="105156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Attack xv6实验目标</a:t>
            </a:r>
            <a:endParaRPr sz="3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1857375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理解未清零物理页造成的信息泄漏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14400" y="2619375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观察系统调用实现错误如何破坏进程隔离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14400" y="3381375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仅修改 user/attack.c 找回前一个进程留下的 secret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4143375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把 8 字节 secret 写入文件描述符 2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838200" y="361950"/>
            <a:ext cx="105156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Attack xv6实验内容</a:t>
            </a:r>
            <a:endParaRPr sz="3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1504950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实验分支故意关闭了部分内存清零代码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81125" y="2038350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kernel/vm.c 分配页面时不再 memset(..., 0, ...)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81125" y="2533650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kernel/kalloc.c 释放页面时也不再写入垃圾数据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3124200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结果：重新分配的页面仍保留上一次使用者的数据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81125" y="3657600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user/secret.c 把 8 字节 secret 写入页面起始位置之后 32 字节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81125" y="4152900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secret 退出后页面被释放，attack 需要设法重新获得这些页面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4857750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2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这是信息泄漏漏洞，不需要修改内核来完成利用</a:t>
            </a:r>
            <a:endParaRPr sz="1950" b="1">
              <a:solidFill>
                <a:srgbClr val="2F73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838200" y="361950"/>
            <a:ext cx="105156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Attack xv6实验内容</a:t>
            </a:r>
            <a:endParaRPr sz="3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1476375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先阅读测试程序的执行顺序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81125" y="204787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attacktest 生成随机的 8 字节字符串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81125" y="254317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secret 把字符串写入自己的内存后退出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381125" y="303847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attack 启动并搜索重新分配到的页面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81125" y="353377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 attack 把找到的 8 字节写到文件描述符 2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81125" y="402907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 attacktest 比较输出是否等于原 secret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4667250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修改限制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81125" y="5143500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2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只允许修改 user/attack.c，不能修改内核、secret.c 或 attacktest.c</a:t>
            </a:r>
            <a:endParaRPr sz="1725" b="1">
              <a:solidFill>
                <a:srgbClr val="2F73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838200" y="361950"/>
            <a:ext cx="105156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Attack xv6实验内容</a:t>
            </a:r>
            <a:endParaRPr sz="3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1428750"/>
            <a:ext cx="9848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98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实验提示与验收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81125" y="198120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先运行 attacktest，确认初始结果为 FAIL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81125" y="24574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阅读 user/attacktest.c 和 user/secret.c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381125" y="293370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分析 secret 释放了多少页面，以及 attack 的内存申请顺序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81125" y="34099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 利用页面复用读取偏移 32 字节处的数据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81125" y="388620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 运行 attacktest，目标输出为 OK: secret is ...</a:t>
            </a:r>
            <a:r>
              <a:rPr lang="en-US"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每次输出内容不一样</a:t>
            </a:r>
            <a:r>
              <a:rPr lang="en-US"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381125" y="43624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 最后运行 make grade</a:t>
            </a:r>
            <a:r>
              <a:rPr lang="en-US"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提交截图</a:t>
            </a:r>
            <a:r>
              <a:rPr lang="en-US"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81125" y="5429250"/>
            <a:ext cx="9382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报告写明利用思路、页面复用分析和测试结果，不必提交 secret 的固定值</a:t>
            </a:r>
            <a:endParaRPr sz="15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 descr="5a36cffe4e3c567388fbdf9f3e0d025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0" y="1701165"/>
            <a:ext cx="3583305" cy="10668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90" y="4437380"/>
            <a:ext cx="3387725" cy="5683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buNone/>
            </a:pPr>
            <a:r>
              <a:t>Lab4 Traps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buNone/>
            </a:pPr>
            <a:r>
              <a:t>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buNone/>
            </a:pPr>
            <a:r>
              <a:rPr b="1"/>
              <a:t>目录</a:t>
            </a:r>
            <a:endParaRPr b="1"/>
          </a:p>
        </p:txBody>
      </p:sp>
      <p:sp>
        <p:nvSpPr>
          <p:cNvPr id="40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/>
          </a:bodyPr>
          <a:lstStyle/>
          <a:p>
            <a:pPr lvl="0">
              <a:buNone/>
            </a:pPr>
            <a:r>
              <a:rPr b="1"/>
              <a:t>RISC-V</a:t>
            </a:r>
            <a:endParaRPr b="1"/>
          </a:p>
          <a:p>
            <a:pPr lvl="0">
              <a:buNone/>
            </a:pPr>
            <a:r>
              <a:rPr b="1"/>
              <a:t>陷阱</a:t>
            </a:r>
            <a:endParaRPr b="1"/>
          </a:p>
          <a:p>
            <a:pPr lvl="1">
              <a:buNone/>
            </a:pPr>
            <a:r>
              <a:rPr b="1"/>
              <a:t>用户态陷阱</a:t>
            </a:r>
            <a:endParaRPr b="1"/>
          </a:p>
          <a:p>
            <a:pPr lvl="0">
              <a:buNone/>
            </a:pPr>
            <a:r>
              <a:rPr b="1"/>
              <a:t>实验</a:t>
            </a:r>
            <a:endParaRPr b="1"/>
          </a:p>
          <a:p>
            <a:pPr lvl="1">
              <a:buNone/>
            </a:pPr>
            <a:r>
              <a:rPr b="1"/>
              <a:t>RISC-V</a:t>
            </a:r>
            <a:endParaRPr b="1"/>
          </a:p>
          <a:p>
            <a:pPr lvl="1">
              <a:buNone/>
            </a:pPr>
            <a:r>
              <a:rPr b="1"/>
              <a:t>Backtrace</a:t>
            </a:r>
            <a:endParaRPr b="1"/>
          </a:p>
          <a:p>
            <a:pPr lvl="1">
              <a:buNone/>
            </a:pPr>
            <a:r>
              <a:rPr b="1"/>
              <a:t>Alarm</a:t>
            </a:r>
            <a:endParaRPr b="1"/>
          </a:p>
          <a:p>
            <a:pPr marL="228600" lvl="0" indent="-228600" algn="l">
              <a:buFont typeface="Arial" panose="020B0604020202020204"/>
              <a:buChar char="•"/>
            </a:pP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实验提交</a:t>
            </a:r>
            <a:endParaRPr sz="28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buNone/>
            </a:pPr>
            <a:r>
              <a:rPr b="1"/>
              <a:t>RISC-V</a:t>
            </a:r>
            <a:endParaRPr b="1"/>
          </a:p>
        </p:txBody>
      </p:sp>
      <p:sp>
        <p:nvSpPr>
          <p:cNvPr id="89" name="内容占位符 2"/>
          <p:cNvSpPr>
            <a:spLocks noGrp="1"/>
          </p:cNvSpPr>
          <p:nvPr>
            <p:ph idx="1"/>
          </p:nvPr>
        </p:nvSpPr>
        <p:spPr>
          <a:xfrm>
            <a:off x="838200" y="1863725"/>
            <a:ext cx="10515600" cy="4351338"/>
          </a:xfrm>
        </p:spPr>
        <p:txBody>
          <a:bodyPr>
            <a:normAutofit fontScale="90000"/>
          </a:bodyPr>
          <a:lstStyle/>
          <a:p>
            <a:pPr lvl="0">
              <a:buNone/>
            </a:pPr>
            <a:r>
              <a:rPr b="1"/>
              <a:t>完成该实验，需要同学们对</a:t>
            </a:r>
            <a:r>
              <a:rPr b="1"/>
              <a:t>RISC-V</a:t>
            </a:r>
            <a:r>
              <a:rPr b="1"/>
              <a:t>有一定的了解，请同学们结合</a:t>
            </a:r>
            <a:r>
              <a:rPr b="1"/>
              <a:t>xv6</a:t>
            </a:r>
            <a:r>
              <a:rPr b="1"/>
              <a:t>编译后的</a:t>
            </a:r>
            <a:r>
              <a:rPr b="1"/>
              <a:t>.asm</a:t>
            </a:r>
            <a:r>
              <a:rPr b="1"/>
              <a:t>代码文件（注意有编译优化）、文档以及百度自行学习</a:t>
            </a:r>
            <a:endParaRPr b="1"/>
          </a:p>
          <a:p>
            <a:pPr lvl="1">
              <a:buNone/>
            </a:pPr>
            <a:r>
              <a:rPr b="1"/>
              <a:t>6.1810</a:t>
            </a:r>
            <a:r>
              <a:rPr b="1"/>
              <a:t>阅读材料</a:t>
            </a:r>
            <a:endParaRPr b="1"/>
          </a:p>
          <a:p>
            <a:pPr marL="1149985" lvl="1" indent="-342900" algn="l">
              <a:buFont typeface="Arial" panose="020B0604020202020204"/>
              <a:buChar char="•"/>
            </a:pP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  <a:hlinkClick r:id="rId1"/>
              </a:rPr>
              <a:t>RISC-V unprivileged instructions</a:t>
            </a: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</a:rPr>
              <a:t>（可选）</a:t>
            </a:r>
            <a:endParaRPr sz="2000">
              <a:solidFill>
                <a:srgbClr val="428BCA"/>
              </a:solidFill>
              <a:highlight>
                <a:srgbClr val="FFFFFF"/>
              </a:highlight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1149985" lvl="1" indent="-342900" algn="l">
              <a:buFont typeface="Arial" panose="020B0604020202020204"/>
              <a:buChar char="•"/>
            </a:pP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  <a:hlinkClick r:id="rId2"/>
              </a:rPr>
              <a:t>RISC-V privileged instructions</a:t>
            </a: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</a:rPr>
              <a:t>（可选）</a:t>
            </a:r>
            <a:endParaRPr sz="2000">
              <a:solidFill>
                <a:srgbClr val="428BCA"/>
              </a:solidFill>
              <a:highlight>
                <a:srgbClr val="FFFFFF"/>
              </a:highlight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1149985" lvl="1" indent="-342900" algn="l">
              <a:buFont typeface="Arial" panose="020B0604020202020204"/>
              <a:buChar char="•"/>
            </a:pP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  <a:hlinkClick r:id="rId3"/>
              </a:rPr>
              <a:t>Calling conventions</a:t>
            </a: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</a:rPr>
              <a:t>（推荐阅读）</a:t>
            </a:r>
            <a:endParaRPr sz="2000">
              <a:solidFill>
                <a:srgbClr val="428BCA"/>
              </a:solidFill>
              <a:highlight>
                <a:srgbClr val="FFFFFF"/>
              </a:highlight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lvl="1">
              <a:buNone/>
            </a:pPr>
            <a:r>
              <a:rPr b="1"/>
              <a:t>RISC-V</a:t>
            </a:r>
            <a:r>
              <a:rPr b="1"/>
              <a:t>手册</a:t>
            </a:r>
            <a:r>
              <a:t> </a:t>
            </a:r>
            <a:r>
              <a:rPr>
                <a:hlinkClick r:id="rId4"/>
              </a:rPr>
              <a:t>https://github.com/riscv-non-isa/riscv-asm-manual/blob/master/riscv-asm.md</a:t>
            </a:r>
            <a:endParaRPr>
              <a:hlinkClick r:id="rId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buNone/>
            </a:pPr>
            <a:r>
              <a:rPr b="1"/>
              <a:t>陷阱</a:t>
            </a:r>
            <a:endParaRPr b="1"/>
          </a:p>
        </p:txBody>
      </p:sp>
      <p:sp>
        <p:nvSpPr>
          <p:cNvPr id="101" name="内容占位符 2"/>
          <p:cNvSpPr>
            <a:spLocks noGrp="1"/>
          </p:cNvSpPr>
          <p:nvPr>
            <p:ph idx="1"/>
          </p:nvPr>
        </p:nvSpPr>
        <p:spPr>
          <a:xfrm>
            <a:off x="799444" y="1643780"/>
            <a:ext cx="7423030" cy="4351338"/>
          </a:xfrm>
        </p:spPr>
        <p:txBody>
          <a:bodyPr>
            <a:normAutofit fontScale="85000"/>
          </a:bodyPr>
          <a:lstStyle/>
          <a:p>
            <a:pPr lvl="0">
              <a:buNone/>
            </a:pPr>
            <a:r>
              <a:rPr sz="2220" b="1"/>
              <a:t>陷阱（</a:t>
            </a:r>
            <a:r>
              <a:rPr sz="2220" b="1"/>
              <a:t>traps</a:t>
            </a:r>
            <a:r>
              <a:rPr sz="2220" b="1"/>
              <a:t>）或中断（</a:t>
            </a:r>
            <a:r>
              <a:rPr sz="2220" b="1"/>
              <a:t>interupts</a:t>
            </a:r>
            <a:r>
              <a:rPr sz="2220" b="1"/>
              <a:t>）指一种请求，请求处理器中断当前正在执行的代码，在内核态来及时处理事件，之后恢复原先代码执行，例如：</a:t>
            </a:r>
            <a:endParaRPr sz="2220" b="1"/>
          </a:p>
          <a:p>
            <a:pPr lvl="1" algn="l">
              <a:buNone/>
            </a:pPr>
            <a:r>
              <a:rPr sz="2000"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用户态中通过</a:t>
            </a:r>
            <a:r>
              <a:rPr sz="2000"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ecall</a:t>
            </a:r>
            <a:r>
              <a:rPr sz="2000"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指令进入内核态（系统调用）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lvl="1" algn="l">
              <a:buNone/>
            </a:pPr>
            <a:r>
              <a:rPr sz="2000"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异常发生（如除以零、访问非法地址）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lvl="1" algn="l">
              <a:buNone/>
            </a:pPr>
            <a:r>
              <a:rPr sz="2000"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设备中断（如硬盘完成读写请求）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lvl="0" algn="l">
              <a:buNone/>
            </a:pPr>
            <a:endParaRPr sz="2000" b="1">
              <a:solidFill>
                <a:srgbClr val="22222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lvl="0" algn="l">
              <a:buNone/>
            </a:pPr>
            <a:r>
              <a:rPr sz="2220" b="1"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根据发生陷阱时的状态可分为</a:t>
            </a:r>
            <a:endParaRPr sz="2220" b="1">
              <a:solidFill>
                <a:srgbClr val="22222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lvl="1" algn="l">
              <a:buNone/>
            </a:pPr>
            <a:r>
              <a:rPr sz="2000">
                <a:solidFill>
                  <a:srgbClr val="DE3C36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用户态陷阱</a:t>
            </a:r>
            <a:endParaRPr sz="2000">
              <a:solidFill>
                <a:srgbClr val="DE3C36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lvl="1" algn="l">
              <a:buNone/>
            </a:pPr>
            <a:r>
              <a:rPr sz="2000"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内核态陷阱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用户态陷阱</a:t>
            </a:r>
            <a:endParaRPr b="1"/>
          </a:p>
        </p:txBody>
      </p:sp>
      <p:sp>
        <p:nvSpPr>
          <p:cNvPr id="104" name="内容占位符 2"/>
          <p:cNvSpPr>
            <a:spLocks noGrp="1"/>
          </p:cNvSpPr>
          <p:nvPr>
            <p:ph idx="1"/>
          </p:nvPr>
        </p:nvSpPr>
        <p:spPr>
          <a:xfrm>
            <a:off x="799444" y="1783108"/>
            <a:ext cx="10554355" cy="421201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 algn="l">
              <a:buNone/>
            </a:pPr>
            <a:r>
              <a:rPr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XV6的用户态陷阱处理流程如下：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marL="0" lvl="0" indent="0" algn="l">
              <a:buNone/>
            </a:pPr>
            <a:r>
              <a:rPr>
                <a:solidFill>
                  <a:srgbClr val="E83E8C"/>
                </a:solidFill>
                <a:highlight>
                  <a:srgbClr val="F6F6F6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</a:rPr>
              <a:t>uservec</a:t>
            </a:r>
            <a:r>
              <a:rPr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 -&gt; </a:t>
            </a:r>
            <a:r>
              <a:rPr>
                <a:solidFill>
                  <a:srgbClr val="E83E8C"/>
                </a:solidFill>
                <a:highlight>
                  <a:srgbClr val="F6F6F6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</a:rPr>
              <a:t>usertrap</a:t>
            </a:r>
            <a:r>
              <a:rPr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 -&gt; </a:t>
            </a:r>
            <a:r>
              <a:rPr>
                <a:solidFill>
                  <a:srgbClr val="E83E8C"/>
                </a:solidFill>
                <a:highlight>
                  <a:srgbClr val="F6F6F6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</a:rPr>
              <a:t>usertrapret</a:t>
            </a:r>
            <a:r>
              <a:rPr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 -&gt; </a:t>
            </a:r>
            <a:r>
              <a:rPr>
                <a:solidFill>
                  <a:srgbClr val="E83E8C"/>
                </a:solidFill>
                <a:highlight>
                  <a:srgbClr val="F6F6F6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</a:rPr>
              <a:t>userret</a:t>
            </a:r>
            <a:endParaRPr>
              <a:solidFill>
                <a:srgbClr val="E83E8C"/>
              </a:solidFill>
              <a:highlight>
                <a:srgbClr val="F6F6F6"/>
              </a:highlight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6780" y="3297555"/>
            <a:ext cx="1457960" cy="2204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进入内核的汇编入口，负责保存用户寄存器并切换到合适的内核</a:t>
            </a:r>
            <a:r>
              <a:rPr lang="zh-CN" altLang="en-US"/>
              <a:t>运行环境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035935" y="3429000"/>
            <a:ext cx="1768475" cy="1830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C</a:t>
            </a:r>
            <a:r>
              <a:rPr lang="zh-CN" altLang="en-US"/>
              <a:t>语言处理函数，根据原因处理系统调用、异常或者设备</a:t>
            </a:r>
            <a:r>
              <a:rPr lang="zh-CN" altLang="en-US"/>
              <a:t>中断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480685" y="3428365"/>
            <a:ext cx="2383790" cy="882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在返回前设置控制寄存器和</a:t>
            </a:r>
            <a:r>
              <a:rPr lang="en-US" altLang="zh-CN"/>
              <a:t>trapframe</a:t>
            </a:r>
            <a:r>
              <a:rPr lang="zh-CN" altLang="en-US">
                <a:ea typeface="宋体" panose="02010600030101010101" pitchFamily="2" charset="-122"/>
              </a:rPr>
              <a:t>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40750" y="3429000"/>
            <a:ext cx="1637665" cy="165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使用汇编恢复用户寄存器、切回用户页表，并执行</a:t>
            </a:r>
            <a:r>
              <a:rPr lang="en-US" altLang="zh-CN"/>
              <a:t>sret</a:t>
            </a:r>
            <a:r>
              <a:rPr lang="zh-CN" altLang="en-US"/>
              <a:t>返回</a:t>
            </a:r>
            <a:r>
              <a:rPr lang="zh-CN" altLang="en-US"/>
              <a:t>用户态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用户态陷阱</a:t>
            </a:r>
            <a:endParaRPr b="1"/>
          </a:p>
        </p:txBody>
      </p:sp>
      <p:sp>
        <p:nvSpPr>
          <p:cNvPr id="107" name="内容占位符 2"/>
          <p:cNvSpPr>
            <a:spLocks noGrp="1"/>
          </p:cNvSpPr>
          <p:nvPr>
            <p:ph idx="1"/>
          </p:nvPr>
        </p:nvSpPr>
        <p:spPr>
          <a:xfrm>
            <a:off x="799444" y="1411568"/>
            <a:ext cx="10554355" cy="544649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marL="0" lvl="0" indent="0" algn="l">
              <a:buNone/>
            </a:pPr>
            <a:r>
              <a:rPr b="1"/>
              <a:t>uservec</a:t>
            </a:r>
            <a:r>
              <a:rPr b="1"/>
              <a:t>（</a:t>
            </a:r>
            <a:r>
              <a:rPr b="1"/>
              <a:t>kernel/trampoline.S</a:t>
            </a:r>
            <a:r>
              <a:rPr b="1"/>
              <a:t>）</a:t>
            </a:r>
            <a:endParaRPr b="1"/>
          </a:p>
          <a:p>
            <a:pPr marL="0" lvl="0" indent="0" algn="l">
              <a:buNone/>
            </a:pP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在处理陷阱之前保存用户程序的状态，然后将控制权转交给内核中的相应陷阱处理程序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(usertrap)</a:t>
            </a:r>
            <a:endParaRPr sz="28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228600" lvl="0" indent="-228600" algn="l">
              <a:buAutoNum type="arabicParenBoth"/>
            </a:pP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将用户程序寄存器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a0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的值保存到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sscratch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寄存器中</a:t>
            </a:r>
            <a:endParaRPr sz="28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228600" lvl="0" indent="-228600" algn="l">
              <a:buAutoNum type="arabicParenBoth"/>
            </a:pP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将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a0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设置为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trapframe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结构体的地址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(TRAPFRAME)</a:t>
            </a:r>
            <a:endParaRPr sz="28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228600" lvl="0" indent="-228600" algn="l">
              <a:buAutoNum type="arabicParenBoth"/>
            </a:pP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保存所有用户寄存器到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trapframe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结构体中</a:t>
            </a:r>
            <a:endParaRPr sz="28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228600" lvl="0" indent="-228600" algn="l">
              <a:buAutoNum type="arabicParenBoth"/>
            </a:pP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从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trapframe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中取出内核栈地址、hartid、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usertrap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的地址、内核页表地址，切换页表，跳转到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usertrap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函数</a:t>
            </a:r>
            <a:endParaRPr sz="28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用户态陷阱</a:t>
            </a:r>
            <a:endParaRPr b="1"/>
          </a:p>
        </p:txBody>
      </p:sp>
      <p:sp>
        <p:nvSpPr>
          <p:cNvPr id="110" name="内容占位符 2"/>
          <p:cNvSpPr>
            <a:spLocks noGrp="1"/>
          </p:cNvSpPr>
          <p:nvPr>
            <p:ph idx="1"/>
          </p:nvPr>
        </p:nvSpPr>
        <p:spPr>
          <a:xfrm>
            <a:off x="799444" y="1643780"/>
            <a:ext cx="10554355" cy="71334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marL="0" lvl="0" indent="0" algn="l">
              <a:buNone/>
            </a:pPr>
            <a:r>
              <a:rPr b="1"/>
              <a:t>uservec</a:t>
            </a:r>
            <a:r>
              <a:rPr b="1"/>
              <a:t>（</a:t>
            </a:r>
            <a:r>
              <a:rPr b="1"/>
              <a:t>kernel/trampoline.S</a:t>
            </a:r>
            <a:r>
              <a:rPr b="1"/>
              <a:t>）</a:t>
            </a:r>
            <a:endParaRPr b="1"/>
          </a:p>
        </p:txBody>
      </p:sp>
      <p:pic>
        <p:nvPicPr>
          <p:cNvPr id="114" name="图片 1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91" y="2357127"/>
            <a:ext cx="9684108" cy="30689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用户态陷阱</a:t>
            </a:r>
            <a:endParaRPr b="1"/>
          </a:p>
        </p:txBody>
      </p:sp>
      <p:sp>
        <p:nvSpPr>
          <p:cNvPr id="114" name="内容占位符 2"/>
          <p:cNvSpPr>
            <a:spLocks noGrp="1"/>
          </p:cNvSpPr>
          <p:nvPr>
            <p:ph idx="1"/>
          </p:nvPr>
        </p:nvSpPr>
        <p:spPr>
          <a:xfrm>
            <a:off x="551751" y="1427514"/>
            <a:ext cx="10554355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marL="0" lvl="0" indent="0" algn="l">
              <a:buNone/>
            </a:pPr>
            <a:r>
              <a:rPr b="1"/>
              <a:t>usertrap</a:t>
            </a:r>
            <a:r>
              <a:rPr b="1"/>
              <a:t>（</a:t>
            </a:r>
            <a:r>
              <a:rPr b="1"/>
              <a:t>kernel/trap.c</a:t>
            </a:r>
            <a:r>
              <a:rPr b="1"/>
              <a:t>）</a:t>
            </a:r>
            <a:endParaRPr b="1"/>
          </a:p>
          <a:p>
            <a:pPr marL="0" lvl="0" indent="0">
              <a:buNone/>
            </a:pP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用于</a:t>
            </a:r>
            <a:r>
              <a:rPr sz="28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处理来自用户空间的中断、异常和系统调用</a:t>
            </a:r>
            <a:endParaRPr sz="28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0" lvl="0" indent="0">
              <a:buNone/>
            </a:pPr>
            <a:r>
              <a:rPr sz="2800" b="0" i="0" spc="0"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(1) </a:t>
            </a:r>
            <a:r>
              <a:rPr sz="2800" b="0" i="0" spc="0"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函数检查当前处理器的SPP位是否为用户模式。</a:t>
            </a:r>
            <a:endParaRPr sz="2800" b="0" i="0" spc="0">
              <a:solidFill>
                <a:srgbClr val="22222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marL="0" lvl="0" indent="0">
              <a:buNone/>
            </a:pPr>
            <a:endParaRPr sz="2800" b="0" i="0" spc="0">
              <a:solidFill>
                <a:srgbClr val="22222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marL="0" lvl="0" indent="0">
              <a:buNone/>
            </a:pPr>
            <a:r>
              <a:rPr sz="2000" b="0" i="0" spc="0"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 </a:t>
            </a:r>
            <a:endParaRPr sz="2000" b="0" i="0" spc="0">
              <a:solidFill>
                <a:srgbClr val="22222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marL="0" lvl="0" indent="0">
              <a:buNone/>
            </a:pPr>
            <a:r>
              <a:rPr sz="2800" b="0" i="0" spc="0"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(2) </a:t>
            </a:r>
            <a:r>
              <a:rPr sz="2800" b="0" i="0" spc="0">
                <a:solidFill>
                  <a:srgbClr val="22222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保存</a:t>
            </a:r>
            <a:r>
              <a:t>当前用户进程的</a:t>
            </a:r>
            <a:r>
              <a:t>epc</a:t>
            </a:r>
            <a:r>
              <a:t>（异常程序计数器）</a:t>
            </a:r>
          </a:p>
          <a:p>
            <a:pPr marL="0" lvl="0" indent="0">
              <a:buNone/>
            </a:pPr>
          </a:p>
        </p:txBody>
      </p:sp>
      <p:pic>
        <p:nvPicPr>
          <p:cNvPr id="119" name="图片 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11" y="3525779"/>
            <a:ext cx="10022213" cy="721599"/>
          </a:xfrm>
          <a:prstGeom prst="rect">
            <a:avLst/>
          </a:prstGeom>
        </p:spPr>
      </p:pic>
      <p:pic>
        <p:nvPicPr>
          <p:cNvPr id="120" name="图片 1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1" y="5384377"/>
            <a:ext cx="9914177" cy="99666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用户态陷阱</a:t>
            </a:r>
            <a:endParaRPr b="1"/>
          </a:p>
        </p:txBody>
      </p:sp>
      <p:sp>
        <p:nvSpPr>
          <p:cNvPr id="119" name="内容占位符 2"/>
          <p:cNvSpPr>
            <a:spLocks noGrp="1"/>
          </p:cNvSpPr>
          <p:nvPr>
            <p:ph idx="1"/>
          </p:nvPr>
        </p:nvSpPr>
        <p:spPr>
          <a:xfrm>
            <a:off x="598194" y="1318683"/>
            <a:ext cx="10554355" cy="529566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marL="0" lvl="0" indent="0" algn="l">
              <a:buNone/>
            </a:pPr>
            <a:r>
              <a:rPr b="1"/>
              <a:t>usertrap</a:t>
            </a:r>
            <a:r>
              <a:rPr b="1"/>
              <a:t>（</a:t>
            </a:r>
            <a:r>
              <a:rPr b="1"/>
              <a:t>kernel/trap.c</a:t>
            </a:r>
            <a:r>
              <a:rPr b="1"/>
              <a:t>）</a:t>
            </a:r>
            <a:endParaRPr b="1"/>
          </a:p>
          <a:p>
            <a:pPr marL="0" lvl="0" indent="0" algn="l">
              <a:buNone/>
            </a:pPr>
            <a:r>
              <a:rPr b="0"/>
              <a:t>(3) </a:t>
            </a:r>
            <a:r>
              <a:rPr b="0"/>
              <a:t>判断陷阱类型并处理</a:t>
            </a:r>
            <a:endParaRPr b="0"/>
          </a:p>
          <a:p>
            <a:pPr marL="800100" lvl="1" indent="-342900" algn="l">
              <a:buFont typeface="Arial" panose="020B0604020202020204"/>
              <a:buChar char="•"/>
            </a:pPr>
            <a:r>
              <a:rPr b="0"/>
              <a:t>系统调用（用户进程</a:t>
            </a:r>
            <a:r>
              <a:rPr b="0"/>
              <a:t>ecall</a:t>
            </a:r>
            <a:r>
              <a:rPr b="0"/>
              <a:t>指令触发，用来请求操作系统服务）</a:t>
            </a:r>
            <a:endParaRPr b="0"/>
          </a:p>
          <a:p>
            <a:pPr marL="457200" lvl="1" indent="0" algn="l">
              <a:buNone/>
            </a:pPr>
            <a:endParaRPr b="0"/>
          </a:p>
          <a:p>
            <a:pPr marL="457200" lvl="1" indent="0" algn="l">
              <a:buNone/>
            </a:pPr>
            <a:endParaRPr b="0"/>
          </a:p>
          <a:p>
            <a:pPr marL="457200" lvl="1" indent="0" algn="l">
              <a:buNone/>
            </a:pPr>
            <a:endParaRPr b="0"/>
          </a:p>
          <a:p>
            <a:pPr marL="800100" lvl="1" indent="-342900" algn="l">
              <a:buFont typeface="Arial" panose="020B0604020202020204"/>
              <a:buChar char="•"/>
            </a:pPr>
            <a:r>
              <a:rPr b="0"/>
              <a:t>设备中断（设备触发，如硬盘完成读写要求）</a:t>
            </a:r>
            <a:endParaRPr b="0"/>
          </a:p>
          <a:p>
            <a:pPr marL="457200" lvl="1" indent="0" algn="l">
              <a:buNone/>
            </a:pPr>
            <a:endParaRPr b="0"/>
          </a:p>
          <a:p>
            <a:pPr marL="457200" lvl="1" indent="0" algn="l">
              <a:buNone/>
            </a:pPr>
            <a:endParaRPr b="0"/>
          </a:p>
          <a:p>
            <a:pPr marL="800100" lvl="1" indent="-342900" algn="l">
              <a:buFont typeface="Arial" panose="020B0604020202020204"/>
              <a:buChar char="•"/>
            </a:pPr>
            <a:endParaRPr b="0"/>
          </a:p>
        </p:txBody>
      </p:sp>
      <p:pic>
        <p:nvPicPr>
          <p:cNvPr id="124" name="图片 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598" y="3148755"/>
            <a:ext cx="7272373" cy="1598752"/>
          </a:xfrm>
          <a:prstGeom prst="rect">
            <a:avLst/>
          </a:prstGeom>
        </p:spPr>
      </p:pic>
      <p:pic>
        <p:nvPicPr>
          <p:cNvPr id="125" name="图片 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598" y="5440333"/>
            <a:ext cx="7206259" cy="49772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用户态陷阱</a:t>
            </a:r>
            <a:endParaRPr b="1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598194" y="1318683"/>
            <a:ext cx="10554355" cy="529566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marL="0" lvl="0" indent="0" algn="l">
              <a:buNone/>
            </a:pPr>
            <a:r>
              <a:rPr b="1"/>
              <a:t>usertrap</a:t>
            </a:r>
            <a:r>
              <a:rPr b="1"/>
              <a:t>（</a:t>
            </a:r>
            <a:r>
              <a:rPr b="1"/>
              <a:t>kernel/trap.c</a:t>
            </a:r>
            <a:r>
              <a:rPr b="1"/>
              <a:t>）</a:t>
            </a:r>
            <a:endParaRPr b="1"/>
          </a:p>
          <a:p>
            <a:pPr marL="0" lvl="0" indent="0" algn="l">
              <a:buNone/>
            </a:pPr>
            <a:r>
              <a:rPr b="0"/>
              <a:t>(3) </a:t>
            </a:r>
            <a:r>
              <a:rPr b="0"/>
              <a:t>判断陷阱类型并处理</a:t>
            </a:r>
            <a:endParaRPr b="0"/>
          </a:p>
          <a:p>
            <a:pPr marL="800100" lvl="1" indent="-342900" algn="l">
              <a:buFont typeface="Arial" panose="020B0604020202020204"/>
              <a:buChar char="•"/>
            </a:pPr>
            <a:r>
              <a:rPr b="0"/>
              <a:t>时钟中断（由硬件计时器周期性地触发，可以处理周期性的事件，例如时间片轮转）</a:t>
            </a:r>
            <a:endParaRPr b="0"/>
          </a:p>
          <a:p>
            <a:pPr marL="457200" lvl="1" indent="0" algn="l">
              <a:buNone/>
            </a:pPr>
            <a:endParaRPr b="0"/>
          </a:p>
          <a:p>
            <a:pPr marL="457200" lvl="1" indent="0" algn="l">
              <a:buNone/>
            </a:pPr>
            <a:endParaRPr b="0"/>
          </a:p>
          <a:p>
            <a:pPr marL="457200" lvl="1" indent="0" algn="l">
              <a:buNone/>
            </a:pPr>
            <a:endParaRPr b="0"/>
          </a:p>
          <a:p>
            <a:pPr marL="457200" lvl="1" indent="0" algn="l">
              <a:buNone/>
            </a:pPr>
            <a:endParaRPr b="0"/>
          </a:p>
          <a:p>
            <a:pPr marL="457200" lvl="1" indent="0" algn="l">
              <a:buNone/>
            </a:pPr>
            <a:endParaRPr b="0"/>
          </a:p>
          <a:p>
            <a:pPr marL="457200" lvl="1" indent="0" algn="l">
              <a:buNone/>
            </a:pPr>
            <a:endParaRPr b="0"/>
          </a:p>
          <a:p>
            <a:pPr marL="800100" lvl="1" indent="-342900" algn="l">
              <a:buFont typeface="Arial" panose="020B0604020202020204"/>
              <a:buChar char="•"/>
            </a:pPr>
            <a:endParaRPr b="0"/>
          </a:p>
        </p:txBody>
      </p:sp>
      <p:pic>
        <p:nvPicPr>
          <p:cNvPr id="10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7186" y="3566267"/>
            <a:ext cx="6888093" cy="87997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用户态陷阱</a:t>
            </a:r>
            <a:endParaRPr b="1"/>
          </a:p>
        </p:txBody>
      </p:sp>
      <p:sp>
        <p:nvSpPr>
          <p:cNvPr id="10" name="内容占位符 2"/>
          <p:cNvSpPr>
            <a:spLocks noGrp="1"/>
          </p:cNvSpPr>
          <p:nvPr/>
        </p:nvSpPr>
        <p:spPr>
          <a:xfrm>
            <a:off x="598194" y="1318683"/>
            <a:ext cx="11390319" cy="529566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marL="0" lvl="0" indent="0" algn="l">
              <a:buNone/>
            </a:pPr>
            <a:r>
              <a:rPr b="1"/>
              <a:t>usertrapret</a:t>
            </a:r>
            <a:r>
              <a:rPr b="1"/>
              <a:t>（</a:t>
            </a:r>
            <a:r>
              <a:rPr b="1"/>
              <a:t>kernel/trap.c</a:t>
            </a:r>
            <a:r>
              <a:rPr b="1"/>
              <a:t>）</a:t>
            </a:r>
            <a:endParaRPr b="1"/>
          </a:p>
          <a:p>
            <a:pPr marL="0" lvl="0" indent="0" algn="l">
              <a:buNone/>
            </a:pP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(1) 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将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stvec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设置为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uservec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的地址（</a:t>
            </a:r>
            <a:r>
              <a:rPr sz="2400"/>
              <a:t>返回到用户空间之后，异常和中断需由</a:t>
            </a:r>
            <a:r>
              <a:rPr sz="2400"/>
              <a:t> uservec </a:t>
            </a:r>
            <a:r>
              <a:rPr sz="2400"/>
              <a:t>处理）</a:t>
            </a:r>
            <a:endParaRPr sz="2400"/>
          </a:p>
          <a:p>
            <a:pPr marL="0" lvl="0" indent="0" algn="l">
              <a:buNone/>
            </a:pPr>
            <a:endParaRPr sz="16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0" lvl="0" indent="0" algn="l">
              <a:buNone/>
            </a:pP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(2) 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设置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trapframe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（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再次陷入内核时，可以正确地恢复用户进程的状态）</a:t>
            </a:r>
            <a:endParaRPr sz="24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0" lvl="0" indent="0" algn="l">
              <a:buNone/>
            </a:pPr>
            <a:endParaRPr sz="28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0" lvl="0" indent="0" algn="l">
              <a:buNone/>
            </a:pPr>
            <a:endParaRPr sz="28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0" lvl="0" indent="0" algn="l">
              <a:buNone/>
            </a:pP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(3)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恢复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sepc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寄存器（方便在进程再次陷入内核时找到执行位置）</a:t>
            </a:r>
            <a:endParaRPr sz="24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457200" lvl="1" indent="0" algn="l">
              <a:buNone/>
            </a:pPr>
            <a:endParaRPr b="0"/>
          </a:p>
          <a:p>
            <a:pPr marL="457200" lvl="1" indent="0" algn="l">
              <a:buNone/>
            </a:pPr>
            <a:endParaRPr b="0"/>
          </a:p>
          <a:p>
            <a:pPr marL="457200" lvl="1" indent="0" algn="l">
              <a:buNone/>
            </a:pPr>
            <a:endParaRPr b="0"/>
          </a:p>
          <a:p>
            <a:pPr marL="457200" lvl="1" indent="0" algn="l">
              <a:buNone/>
            </a:pPr>
            <a:endParaRPr b="0"/>
          </a:p>
          <a:p>
            <a:pPr marL="457200" lvl="1" indent="0" algn="l">
              <a:buNone/>
            </a:pPr>
            <a:endParaRPr b="0"/>
          </a:p>
          <a:p>
            <a:pPr marL="800100" lvl="1" indent="-342900" algn="l">
              <a:buFont typeface="Arial" panose="020B0604020202020204"/>
              <a:buChar char="•"/>
            </a:pPr>
            <a:endParaRPr b="0"/>
          </a:p>
        </p:txBody>
      </p:sp>
      <p:pic>
        <p:nvPicPr>
          <p:cNvPr id="16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336" y="3006277"/>
            <a:ext cx="7439197" cy="562628"/>
          </a:xfrm>
          <a:prstGeom prst="rect">
            <a:avLst/>
          </a:prstGeom>
        </p:spPr>
      </p:pic>
      <p:pic>
        <p:nvPicPr>
          <p:cNvPr id="17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336" y="4090364"/>
            <a:ext cx="7245360" cy="1157405"/>
          </a:xfrm>
          <a:prstGeom prst="rect">
            <a:avLst/>
          </a:prstGeom>
        </p:spPr>
      </p:pic>
      <p:pic>
        <p:nvPicPr>
          <p:cNvPr id="18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336" y="6077544"/>
            <a:ext cx="3847110" cy="418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用户态陷阱</a:t>
            </a:r>
            <a:endParaRPr b="1"/>
          </a:p>
        </p:txBody>
      </p:sp>
      <p:sp>
        <p:nvSpPr>
          <p:cNvPr id="16" name="内容占位符 2"/>
          <p:cNvSpPr>
            <a:spLocks noGrp="1"/>
          </p:cNvSpPr>
          <p:nvPr/>
        </p:nvSpPr>
        <p:spPr>
          <a:xfrm>
            <a:off x="598194" y="1318683"/>
            <a:ext cx="11390319" cy="529566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marL="0" lvl="0" indent="0" algn="l">
              <a:buNone/>
            </a:pPr>
            <a:r>
              <a:rPr b="1"/>
              <a:t>userret</a:t>
            </a:r>
            <a:r>
              <a:rPr b="1"/>
              <a:t>（</a:t>
            </a:r>
            <a:r>
              <a:rPr b="1"/>
              <a:t>kernel/trampoline.S</a:t>
            </a:r>
            <a:r>
              <a:rPr b="1"/>
              <a:t>）</a:t>
            </a:r>
            <a:endParaRPr b="1"/>
          </a:p>
          <a:p>
            <a:pPr marL="0" lvl="0" indent="0" algn="l">
              <a:buNone/>
            </a:pP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(1) 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从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trapframe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恢复寄存器状态</a:t>
            </a:r>
            <a:endParaRPr sz="24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0" lvl="0" indent="0" algn="l">
              <a:buNone/>
            </a:pP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(2) sret</a:t>
            </a:r>
            <a:r>
              <a:rPr sz="2400" b="0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跳回原先执行指令所在位置</a:t>
            </a:r>
            <a:endParaRPr sz="2400" b="0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800100" lvl="1" indent="-342900" algn="l">
              <a:buFont typeface="Arial" panose="020B0604020202020204"/>
              <a:buChar char="•"/>
            </a:pPr>
            <a:endParaRPr b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标题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457200" algn="l" defTabSz="914400">
              <a:lnSpc>
                <a:spcPct val="130000"/>
              </a:lnSpc>
              <a:buNone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914400" algn="l" defTabSz="914400">
              <a:lnSpc>
                <a:spcPct val="130000"/>
              </a:lnSpc>
              <a:buNone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371600" algn="l" defTabSz="914400">
              <a:lnSpc>
                <a:spcPct val="130000"/>
              </a:lnSpc>
              <a:buNone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1828800" algn="l" defTabSz="914400">
              <a:lnSpc>
                <a:spcPct val="130000"/>
              </a:lnSpc>
              <a:buNone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286000" algn="l" defTabSz="914400">
              <a:lnSpc>
                <a:spcPct val="130000"/>
              </a:lnSpc>
              <a:buNone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743200" algn="l" defTabSz="914400">
              <a:lnSpc>
                <a:spcPct val="130000"/>
              </a:lnSpc>
              <a:buNone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200400" algn="l" defTabSz="914400">
              <a:lnSpc>
                <a:spcPct val="130000"/>
              </a:lnSpc>
              <a:buNone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657600" algn="l" defTabSz="914400">
              <a:lnSpc>
                <a:spcPct val="130000"/>
              </a:lnSpc>
              <a:buNone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/>
              <a:t>实验</a:t>
            </a:r>
            <a:endParaRPr b="1"/>
          </a:p>
        </p:txBody>
      </p:sp>
      <p:sp>
        <p:nvSpPr>
          <p:cNvPr id="19" name="内容占位符 2"/>
          <p:cNvSpPr>
            <a:spLocks noGrp="1"/>
          </p:cNvSpPr>
          <p:nvPr/>
        </p:nvSpPr>
        <p:spPr>
          <a:xfrm>
            <a:off x="838199" y="1577371"/>
            <a:ext cx="10422504" cy="495645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/>
              <a:t>环境配置</a:t>
            </a:r>
            <a:endParaRPr b="1"/>
          </a:p>
          <a:p>
            <a:pPr marL="685800" lvl="1" indent="-228600">
              <a:buFont typeface="Arial" panose="020B0604020202020204"/>
              <a:buChar char="•"/>
            </a:pPr>
            <a:r>
              <a:rPr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 commit lab3</a:t>
            </a:r>
            <a:r>
              <a:rPr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的代码</a:t>
            </a:r>
            <a:endParaRPr b="1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914400" lvl="2" indent="0">
              <a:buNone/>
            </a:pPr>
            <a:r>
              <a:rPr b="1">
                <a:solidFill>
                  <a:srgbClr val="319B62"/>
                </a:solidFill>
                <a:latin typeface="monospace"/>
                <a:ea typeface="monospace"/>
                <a:cs typeface="monospace"/>
              </a:rPr>
              <a:t>git commit -am lab3</a:t>
            </a:r>
            <a:endParaRPr b="1">
              <a:solidFill>
                <a:srgbClr val="319B62"/>
              </a:solidFill>
              <a:latin typeface="monospace"/>
              <a:ea typeface="monospace"/>
              <a:cs typeface="monospace"/>
            </a:endParaRPr>
          </a:p>
          <a:p>
            <a:pPr marL="685800" lvl="1" indent="-228600">
              <a:buFont typeface="Arial" panose="020B0604020202020204"/>
              <a:buChar char="•"/>
            </a:pPr>
            <a:r>
              <a:rPr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切换到</a:t>
            </a:r>
            <a:r>
              <a:rPr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traps</a:t>
            </a:r>
            <a:r>
              <a:rPr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分支</a:t>
            </a:r>
            <a:endParaRPr b="1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914400" lvl="2" indent="0">
              <a:buNone/>
            </a:pPr>
            <a:r>
              <a:rPr b="1">
                <a:solidFill>
                  <a:srgbClr val="319B62"/>
                </a:solidFill>
                <a:latin typeface="monospace"/>
                <a:ea typeface="monospace"/>
                <a:cs typeface="monospace"/>
              </a:rPr>
              <a:t>git checkout traps</a:t>
            </a:r>
            <a:endParaRPr b="1">
              <a:solidFill>
                <a:srgbClr val="319B62"/>
              </a:solidFill>
              <a:latin typeface="monospace"/>
              <a:ea typeface="monospace"/>
              <a:cs typeface="monospace"/>
            </a:endParaRPr>
          </a:p>
          <a:p>
            <a:pPr marL="914400" lvl="2" indent="0">
              <a:buNone/>
            </a:pPr>
            <a:r>
              <a:rPr b="1">
                <a:solidFill>
                  <a:srgbClr val="319B62"/>
                </a:solidFill>
                <a:latin typeface="monospace"/>
                <a:ea typeface="monospace"/>
                <a:cs typeface="monospace"/>
              </a:rPr>
              <a:t>make clean</a:t>
            </a:r>
            <a:endParaRPr b="1">
              <a:solidFill>
                <a:srgbClr val="319B62"/>
              </a:solidFill>
              <a:latin typeface="monospace"/>
              <a:ea typeface="monospace"/>
              <a:cs typeface="monospace"/>
            </a:endParaRPr>
          </a:p>
          <a:p>
            <a:pPr marL="228600" lvl="0" indent="-228600">
              <a:buFont typeface="Arial" panose="020B0604020202020204"/>
              <a:buChar char="•"/>
            </a:pPr>
            <a:endParaRPr sz="28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RISC-V</a:t>
            </a:r>
            <a:r>
              <a:rPr b="1"/>
              <a:t>实验内容</a:t>
            </a:r>
            <a:endParaRPr b="1"/>
          </a:p>
        </p:txBody>
      </p:sp>
      <p:sp>
        <p:nvSpPr>
          <p:cNvPr id="25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/>
              <a:t>自行学习</a:t>
            </a:r>
            <a:r>
              <a:rPr b="1"/>
              <a:t>RISC-V</a:t>
            </a:r>
            <a:r>
              <a:rPr b="1"/>
              <a:t>指令集的相关资料</a:t>
            </a:r>
            <a:endParaRPr b="1"/>
          </a:p>
          <a:p>
            <a:pPr lvl="1">
              <a:buNone/>
            </a:pPr>
            <a:r>
              <a:rPr b="1"/>
              <a:t>掌握</a:t>
            </a:r>
            <a:r>
              <a:rPr b="1"/>
              <a:t>RISC-V</a:t>
            </a:r>
            <a:r>
              <a:rPr b="1"/>
              <a:t>的调用规则和指令操作</a:t>
            </a:r>
            <a:endParaRPr b="1"/>
          </a:p>
          <a:p>
            <a:pPr lvl="1">
              <a:buNone/>
            </a:pPr>
            <a:r>
              <a:rPr b="1"/>
              <a:t>6.1810</a:t>
            </a:r>
            <a:r>
              <a:rPr b="1"/>
              <a:t>阅读材料</a:t>
            </a:r>
            <a:endParaRPr b="1"/>
          </a:p>
          <a:p>
            <a:pPr marL="1149985" lvl="1" indent="-342900" algn="l">
              <a:buFont typeface="Arial" panose="020B0604020202020204"/>
              <a:buChar char="•"/>
            </a:pP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  <a:hlinkClick r:id="rId1"/>
              </a:rPr>
              <a:t>RISC-V unprivileged instructions</a:t>
            </a: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</a:rPr>
              <a:t>（可选）</a:t>
            </a:r>
            <a:endParaRPr sz="2000">
              <a:solidFill>
                <a:srgbClr val="428BCA"/>
              </a:solidFill>
              <a:highlight>
                <a:srgbClr val="FFFFFF"/>
              </a:highlight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1149985" lvl="1" indent="-342900" algn="l">
              <a:buFont typeface="Arial" panose="020B0604020202020204"/>
              <a:buChar char="•"/>
            </a:pP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  <a:hlinkClick r:id="rId2"/>
              </a:rPr>
              <a:t>RISC-V privileged instructions</a:t>
            </a: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</a:rPr>
              <a:t>（可选）</a:t>
            </a:r>
            <a:endParaRPr sz="2000">
              <a:solidFill>
                <a:srgbClr val="428BCA"/>
              </a:solidFill>
              <a:highlight>
                <a:srgbClr val="FFFFFF"/>
              </a:highlight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1149985" lvl="1" indent="-342900" algn="l">
              <a:buFont typeface="Arial" panose="020B0604020202020204"/>
              <a:buChar char="•"/>
            </a:pP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  <a:hlinkClick r:id="rId3"/>
              </a:rPr>
              <a:t>Calling conventions</a:t>
            </a: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</a:rPr>
              <a:t>（推荐阅读）</a:t>
            </a:r>
            <a:endParaRPr sz="2000">
              <a:solidFill>
                <a:srgbClr val="428BCA"/>
              </a:solidFill>
              <a:highlight>
                <a:srgbClr val="FFFFFF"/>
              </a:highlight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lvl="1">
              <a:buNone/>
            </a:pPr>
            <a:r>
              <a:rPr b="1"/>
              <a:t>RISC-V</a:t>
            </a:r>
            <a:r>
              <a:rPr b="1"/>
              <a:t>手册</a:t>
            </a:r>
            <a:r>
              <a:t> </a:t>
            </a:r>
            <a:r>
              <a:rPr>
                <a:hlinkClick r:id="rId4"/>
              </a:rPr>
              <a:t>https://github.com/riscv-non-isa/riscv-asm-manual/blob/master/riscv-asm.md</a:t>
            </a:r>
          </a:p>
          <a:p>
            <a:pPr lvl="1">
              <a:buNone/>
            </a:pPr>
          </a:p>
          <a:p>
            <a:pPr lvl="1">
              <a:buNone/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buNone/>
            </a:pPr>
            <a:r>
              <a:rPr b="1"/>
              <a:t>RISC-V</a:t>
            </a:r>
            <a:r>
              <a:rPr b="1"/>
              <a:t>实验目标</a:t>
            </a:r>
            <a:endParaRPr b="1"/>
          </a:p>
        </p:txBody>
      </p:sp>
      <p:sp>
        <p:nvSpPr>
          <p:cNvPr id="2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b="1"/>
              <a:t>了解</a:t>
            </a:r>
            <a:r>
              <a:rPr b="1"/>
              <a:t>RISC-V</a:t>
            </a:r>
            <a:r>
              <a:rPr b="1"/>
              <a:t>编程</a:t>
            </a:r>
            <a:endParaRPr b="1"/>
          </a:p>
          <a:p>
            <a:pPr lvl="0">
              <a:buNone/>
            </a:pPr>
            <a:r>
              <a:rPr b="1"/>
              <a:t>熟悉</a:t>
            </a:r>
            <a:r>
              <a:rPr b="1"/>
              <a:t>RISC-V</a:t>
            </a:r>
            <a:r>
              <a:rPr b="1"/>
              <a:t>调用规则（</a:t>
            </a:r>
            <a:r>
              <a:rPr b="1"/>
              <a:t>calling convention</a:t>
            </a:r>
            <a:r>
              <a:rPr b="1"/>
              <a:t>）</a:t>
            </a:r>
            <a:endParaRPr b="1"/>
          </a:p>
          <a:p>
            <a:pPr lvl="0">
              <a:buNone/>
            </a:pPr>
            <a:r>
              <a:rPr b="1"/>
              <a:t>回答调用规则相关简答题</a:t>
            </a:r>
            <a:endParaRPr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RISC-V</a:t>
            </a:r>
            <a:r>
              <a:rPr b="1"/>
              <a:t>实验内容</a:t>
            </a:r>
            <a:endParaRPr b="1"/>
          </a:p>
        </p:txBody>
      </p:sp>
      <p:sp>
        <p:nvSpPr>
          <p:cNvPr id="28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/>
              <a:t>将</a:t>
            </a:r>
            <a:r>
              <a:rPr b="1"/>
              <a:t>xv6</a:t>
            </a:r>
            <a:r>
              <a:rPr b="1"/>
              <a:t>中的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user/call.c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编译成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可读的汇编程序</a:t>
            </a:r>
            <a:r>
              <a:rPr b="1"/>
              <a:t>（注意有编译优化）</a:t>
            </a:r>
            <a:endParaRPr b="1"/>
          </a:p>
          <a:p>
            <a:pPr lvl="1">
              <a:buNone/>
            </a:pPr>
            <a:r>
              <a:rPr b="1"/>
              <a:t>执行代码</a:t>
            </a:r>
            <a:endParaRPr b="1"/>
          </a:p>
          <a:p>
            <a:pPr marL="0" lvl="1" indent="0">
              <a:buNone/>
            </a:pPr>
            <a:r>
              <a:rPr b="1"/>
              <a:t>	</a:t>
            </a:r>
            <a:r>
              <a:rPr sz="2400" b="1" i="0" spc="0">
                <a:solidFill>
                  <a:srgbClr val="319B62"/>
                </a:solidFill>
                <a:latin typeface="monospace"/>
                <a:ea typeface="monospace"/>
                <a:cs typeface="monospace"/>
              </a:rPr>
              <a:t>make fs.img</a:t>
            </a:r>
            <a:endParaRPr sz="2400" b="1" i="0" spc="0">
              <a:solidFill>
                <a:srgbClr val="319B62"/>
              </a:solidFill>
              <a:latin typeface="monospace"/>
              <a:ea typeface="monospace"/>
              <a:cs typeface="monospace"/>
            </a:endParaRPr>
          </a:p>
          <a:p>
            <a:pPr marL="685800" lvl="1" indent="-228600">
              <a:buFont typeface="Arial" panose="020B0604020202020204"/>
              <a:buChar char="•"/>
            </a:pP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得到汇编程序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user/call.asm</a:t>
            </a:r>
            <a:endParaRPr sz="24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lvl="1">
              <a:buNone/>
            </a:pP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阅读函数</a:t>
            </a:r>
            <a:r>
              <a:rPr sz="2400" b="1" i="0" spc="0">
                <a:solidFill>
                  <a:srgbClr val="2972F4"/>
                </a:solidFill>
                <a:latin typeface="默认字体"/>
                <a:ea typeface="默认字体"/>
                <a:cs typeface="默认字体"/>
              </a:rPr>
              <a:t>g,f,main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，并回答以下问题</a:t>
            </a:r>
            <a:endParaRPr sz="24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RISC-V</a:t>
            </a:r>
            <a:r>
              <a:rPr b="1"/>
              <a:t>实验内容</a:t>
            </a:r>
            <a:endParaRPr b="1"/>
          </a:p>
        </p:txBody>
      </p:sp>
      <p:sp>
        <p:nvSpPr>
          <p:cNvPr id="31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回答问题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marL="0" lvl="0" indent="0">
              <a:buNone/>
            </a:pPr>
            <a:r>
              <a:rPr sz="2220" b="1">
                <a:solidFill>
                  <a:srgbClr val="000000"/>
                </a:solidFill>
              </a:rPr>
              <a:t>1. Which registers contain arguments to functions? For example, which register holds 13 in main's call to </a:t>
            </a:r>
            <a:r>
              <a:rPr sz="2220" b="1">
                <a:solidFill>
                  <a:srgbClr val="2972F4"/>
                </a:solidFill>
              </a:rPr>
              <a:t>printf</a:t>
            </a:r>
            <a:r>
              <a:rPr sz="2220" b="1">
                <a:solidFill>
                  <a:srgbClr val="000000"/>
                </a:solidFill>
              </a:rPr>
              <a:t>?</a:t>
            </a:r>
            <a:endParaRPr sz="2220" b="1">
              <a:solidFill>
                <a:srgbClr val="000000"/>
              </a:solidFill>
            </a:endParaRPr>
          </a:p>
          <a:p>
            <a:pPr marL="0" lvl="0" indent="0">
              <a:buNone/>
            </a:pPr>
            <a:r>
              <a:rPr sz="222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2. Where is the call to function </a:t>
            </a:r>
            <a:r>
              <a:rPr sz="2220" b="1" i="0" spc="0">
                <a:solidFill>
                  <a:srgbClr val="2972F4"/>
                </a:solidFill>
                <a:latin typeface="默认字体"/>
                <a:ea typeface="默认字体"/>
                <a:cs typeface="默认字体"/>
              </a:rPr>
              <a:t>f</a:t>
            </a:r>
            <a:r>
              <a:rPr sz="222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 in the assembly code for main? Where is the call to </a:t>
            </a:r>
            <a:r>
              <a:rPr sz="2220" b="1" i="0" spc="0">
                <a:solidFill>
                  <a:srgbClr val="2972F4"/>
                </a:solidFill>
                <a:latin typeface="默认字体"/>
                <a:ea typeface="默认字体"/>
                <a:cs typeface="默认字体"/>
              </a:rPr>
              <a:t>g</a:t>
            </a:r>
            <a:r>
              <a:rPr sz="222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? (Hint: the compiler may inline functions.)</a:t>
            </a:r>
            <a:endParaRPr sz="222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0" lvl="0" indent="0">
              <a:buNone/>
            </a:pPr>
            <a:r>
              <a:rPr sz="222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3. At what address is the function </a:t>
            </a:r>
            <a:r>
              <a:rPr sz="2220" b="1" i="0" spc="0">
                <a:solidFill>
                  <a:srgbClr val="2972F4"/>
                </a:solidFill>
                <a:latin typeface="默认字体"/>
                <a:ea typeface="默认字体"/>
                <a:cs typeface="默认字体"/>
              </a:rPr>
              <a:t>printf</a:t>
            </a:r>
            <a:r>
              <a:rPr sz="222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 located?</a:t>
            </a:r>
            <a:endParaRPr sz="222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0" lvl="0" indent="0">
              <a:buNone/>
            </a:pPr>
            <a:r>
              <a:rPr sz="2220" b="1">
                <a:solidFill>
                  <a:srgbClr val="000000"/>
                </a:solidFill>
              </a:rPr>
              <a:t>4. What value is in the register </a:t>
            </a:r>
            <a:r>
              <a:rPr sz="2220" b="1">
                <a:solidFill>
                  <a:srgbClr val="2972F4"/>
                </a:solidFill>
              </a:rPr>
              <a:t>ra</a:t>
            </a:r>
            <a:r>
              <a:rPr sz="2220" b="1">
                <a:solidFill>
                  <a:srgbClr val="000000"/>
                </a:solidFill>
              </a:rPr>
              <a:t> just after the </a:t>
            </a:r>
            <a:r>
              <a:rPr sz="2220" b="1">
                <a:solidFill>
                  <a:srgbClr val="2972F4"/>
                </a:solidFill>
              </a:rPr>
              <a:t>jalr</a:t>
            </a:r>
            <a:r>
              <a:rPr sz="2220" b="1">
                <a:solidFill>
                  <a:srgbClr val="000000"/>
                </a:solidFill>
              </a:rPr>
              <a:t> to </a:t>
            </a:r>
            <a:r>
              <a:rPr sz="2220" b="1">
                <a:solidFill>
                  <a:srgbClr val="2972F4"/>
                </a:solidFill>
              </a:rPr>
              <a:t>printf</a:t>
            </a:r>
            <a:r>
              <a:rPr sz="2220" b="1">
                <a:solidFill>
                  <a:srgbClr val="000000"/>
                </a:solidFill>
              </a:rPr>
              <a:t> in </a:t>
            </a:r>
            <a:r>
              <a:rPr sz="2220" b="1">
                <a:solidFill>
                  <a:srgbClr val="2972F4"/>
                </a:solidFill>
              </a:rPr>
              <a:t>main</a:t>
            </a:r>
            <a:r>
              <a:rPr sz="2220" b="1">
                <a:solidFill>
                  <a:srgbClr val="000000"/>
                </a:solidFill>
              </a:rPr>
              <a:t>?</a:t>
            </a:r>
            <a:endParaRPr sz="2220" b="1">
              <a:solidFill>
                <a:srgbClr val="000000"/>
              </a:solidFill>
            </a:endParaRPr>
          </a:p>
          <a:p>
            <a:pPr lvl="1">
              <a:buNone/>
            </a:pPr>
            <a:endParaRPr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RISC-V</a:t>
            </a:r>
            <a:r>
              <a:rPr b="1"/>
              <a:t>实验内容</a:t>
            </a:r>
            <a:endParaRPr b="1"/>
          </a:p>
        </p:txBody>
      </p:sp>
      <p:sp>
        <p:nvSpPr>
          <p:cNvPr id="34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0820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回答问题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marL="0" lvl="0" indent="0">
              <a:buNone/>
            </a:pPr>
            <a:r>
              <a:rPr sz="222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5. Run the following code.</a:t>
            </a:r>
            <a:endParaRPr sz="222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457200" lvl="1" indent="0">
              <a:buNone/>
            </a:pPr>
            <a:r>
              <a:rPr sz="2000" b="1">
                <a:solidFill>
                  <a:srgbClr val="000000"/>
                </a:solidFill>
                <a:highlight>
                  <a:srgbClr val="F2F2F2"/>
                </a:highlight>
              </a:rPr>
              <a:t>unsigned int i = 0x00646c72;
printf("H%x Wo%s", 57616, &amp;i)</a:t>
            </a:r>
            <a:endParaRPr sz="2000" b="1">
              <a:solidFill>
                <a:srgbClr val="000000"/>
              </a:solidFill>
              <a:highlight>
                <a:srgbClr val="F2F2F2"/>
              </a:highlight>
            </a:endParaRPr>
          </a:p>
          <a:p>
            <a:pPr marL="457200" lvl="1" indent="0">
              <a:buNone/>
            </a:pPr>
            <a:r>
              <a:rPr sz="2000" b="1">
                <a:solidFill>
                  <a:srgbClr val="000000"/>
                </a:solidFill>
              </a:rPr>
              <a:t>What is the output? </a:t>
            </a:r>
            <a:r>
              <a:rPr sz="2000" b="1" u="sng">
                <a:hlinkClick r:id="rId1"/>
              </a:rPr>
              <a:t>Here's an ASCII table</a:t>
            </a:r>
            <a:r>
              <a:rPr sz="2000" b="1">
                <a:solidFill>
                  <a:srgbClr val="000000"/>
                </a:solidFill>
              </a:rPr>
              <a:t> that maps bytes to characters.</a:t>
            </a:r>
            <a:endParaRPr sz="2000" b="1">
              <a:solidFill>
                <a:srgbClr val="000000"/>
              </a:solidFill>
            </a:endParaRPr>
          </a:p>
          <a:p>
            <a:pPr marL="457200" lvl="1" indent="0">
              <a:buNone/>
            </a:pPr>
            <a:r>
              <a:rPr sz="2000" b="1">
                <a:solidFill>
                  <a:srgbClr val="000000"/>
                </a:solidFill>
              </a:rPr>
              <a:t>The output depends on that fact that the RISC-V is little-endian. If the RISC-V were instead big-endian what would you set i to in order to yield the same output? Would you need to change 57616 to a different value?</a:t>
            </a:r>
            <a:endParaRPr sz="2000" b="1">
              <a:solidFill>
                <a:srgbClr val="000000"/>
              </a:solidFill>
            </a:endParaRPr>
          </a:p>
          <a:p>
            <a:pPr marL="457200" lvl="1" indent="0">
              <a:buNone/>
            </a:pPr>
            <a:r>
              <a:rPr sz="2000" b="1" u="sng">
                <a:hlinkClick r:id="rId2"/>
              </a:rPr>
              <a:t>Here's a description of little- and big-endian</a:t>
            </a:r>
            <a:r>
              <a:rPr sz="2000" b="1">
                <a:solidFill>
                  <a:srgbClr val="000000"/>
                </a:solidFill>
              </a:rPr>
              <a:t> and </a:t>
            </a:r>
            <a:r>
              <a:rPr sz="2000" b="1" u="sng">
                <a:hlinkClick r:id="rId3"/>
              </a:rPr>
              <a:t>a more whimsical description</a:t>
            </a:r>
            <a:r>
              <a:rPr sz="2000" b="1">
                <a:solidFill>
                  <a:srgbClr val="000000"/>
                </a:solidFill>
              </a:rPr>
              <a:t>.</a:t>
            </a:r>
            <a:endParaRPr sz="2000" b="1">
              <a:solidFill>
                <a:srgbClr val="000000"/>
              </a:solidFill>
            </a:endParaRPr>
          </a:p>
          <a:p>
            <a:pPr lvl="1">
              <a:buNone/>
            </a:pPr>
            <a:endParaRPr sz="20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RISC-V</a:t>
            </a:r>
            <a:r>
              <a:rPr b="1"/>
              <a:t>实验内容</a:t>
            </a:r>
            <a:endParaRPr b="1"/>
          </a:p>
        </p:txBody>
      </p:sp>
      <p:sp>
        <p:nvSpPr>
          <p:cNvPr id="37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0820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回答问题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marL="0" lvl="0" indent="0">
              <a:buNone/>
            </a:pPr>
            <a:r>
              <a:rPr sz="222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6. In the following code, what is going to be printed after 'y='? (note: the answer is not a specific value.) Why does this happen?</a:t>
            </a:r>
            <a:endParaRPr sz="222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457200" lvl="1" indent="0">
              <a:buNone/>
            </a:pPr>
            <a:r>
              <a:rPr sz="2000" b="1" i="0" spc="0">
                <a:solidFill>
                  <a:srgbClr val="000000"/>
                </a:solidFill>
                <a:highlight>
                  <a:srgbClr val="F2F2F2"/>
                </a:highlight>
                <a:latin typeface="默认字体"/>
                <a:ea typeface="默认字体"/>
                <a:cs typeface="默认字体"/>
              </a:rPr>
              <a:t>printf("x=%d y=%d", 3);</a:t>
            </a:r>
            <a:endParaRPr sz="2000" b="1" i="0" spc="0">
              <a:solidFill>
                <a:srgbClr val="000000"/>
              </a:solidFill>
              <a:highlight>
                <a:srgbClr val="F2F2F2"/>
              </a:highlight>
              <a:latin typeface="默认字体"/>
              <a:ea typeface="默认字体"/>
              <a:cs typeface="默认字体"/>
            </a:endParaRPr>
          </a:p>
          <a:p>
            <a:pPr marL="0" lvl="0" indent="0">
              <a:buNone/>
            </a:pPr>
            <a:endParaRPr sz="2400" b="1">
              <a:solidFill>
                <a:srgbClr val="000000"/>
              </a:solidFill>
            </a:endParaRPr>
          </a:p>
          <a:p>
            <a:pPr marL="228600" lvl="0" indent="-228600">
              <a:buFont typeface="Arial" panose="020B0604020202020204"/>
              <a:buChar char="•"/>
            </a:pP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实验报告需包含</a:t>
            </a:r>
            <a:endParaRPr sz="28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800100" lvl="1" indent="-342900">
              <a:buFont typeface="Arial" panose="020B0604020202020204"/>
              <a:buChar char="•"/>
            </a:pPr>
            <a:r>
              <a:rPr sz="2400" b="1">
                <a:solidFill>
                  <a:srgbClr val="000000"/>
                </a:solidFill>
              </a:rPr>
              <a:t>对</a:t>
            </a:r>
            <a:r>
              <a:rPr sz="2400" b="1">
                <a:solidFill>
                  <a:srgbClr val="000000"/>
                </a:solidFill>
              </a:rPr>
              <a:t>RISC-V</a:t>
            </a:r>
            <a:r>
              <a:rPr sz="2400" b="1">
                <a:solidFill>
                  <a:srgbClr val="000000"/>
                </a:solidFill>
              </a:rPr>
              <a:t>实验中所有问题的中文回答</a:t>
            </a:r>
            <a:endParaRPr sz="2400" b="1">
              <a:solidFill>
                <a:srgbClr val="000000"/>
              </a:solidFill>
            </a:endParaRPr>
          </a:p>
          <a:p>
            <a:pPr marL="800100" lvl="1" indent="-342900">
              <a:buFont typeface="Arial" panose="020B0604020202020204"/>
              <a:buChar char="•"/>
            </a:pPr>
            <a:r>
              <a:rPr sz="2400" b="1">
                <a:solidFill>
                  <a:srgbClr val="000000"/>
                </a:solidFill>
              </a:rPr>
              <a:t>报告内容</a:t>
            </a:r>
            <a:r>
              <a:rPr sz="2400" b="1">
                <a:solidFill>
                  <a:srgbClr val="000000"/>
                </a:solidFill>
              </a:rPr>
              <a:t>需要和</a:t>
            </a:r>
            <a:r>
              <a:rPr sz="2400" b="1">
                <a:solidFill>
                  <a:srgbClr val="000000"/>
                </a:solidFill>
              </a:rPr>
              <a:t>编译的</a:t>
            </a:r>
            <a:r>
              <a:rPr sz="2400" b="1">
                <a:solidFill>
                  <a:srgbClr val="000000"/>
                </a:solidFill>
              </a:rPr>
              <a:t>call.asm</a:t>
            </a:r>
            <a:r>
              <a:rPr sz="2400" b="1">
                <a:solidFill>
                  <a:srgbClr val="000000"/>
                </a:solidFill>
              </a:rPr>
              <a:t>一致</a:t>
            </a:r>
            <a:endParaRPr sz="2400" b="1">
              <a:solidFill>
                <a:srgbClr val="000000"/>
              </a:solidFill>
            </a:endParaRPr>
          </a:p>
          <a:p>
            <a:pPr lvl="1">
              <a:buNone/>
            </a:pPr>
            <a:endParaRPr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Backtrace</a:t>
            </a:r>
            <a:r>
              <a:rPr b="1"/>
              <a:t>实验目标</a:t>
            </a:r>
            <a:endParaRPr b="1"/>
          </a:p>
        </p:txBody>
      </p:sp>
      <p:sp>
        <p:nvSpPr>
          <p:cNvPr id="4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/>
              <a:t>了解</a:t>
            </a:r>
            <a:r>
              <a:rPr b="1"/>
              <a:t>RISC-V</a:t>
            </a:r>
            <a:r>
              <a:rPr b="1"/>
              <a:t>编程</a:t>
            </a:r>
            <a:endParaRPr b="1"/>
          </a:p>
          <a:p>
            <a:pPr lvl="0">
              <a:buNone/>
            </a:pPr>
            <a:r>
              <a:rPr b="1"/>
              <a:t>熟悉</a:t>
            </a:r>
            <a:r>
              <a:rPr b="1"/>
              <a:t>RISC-V</a:t>
            </a:r>
            <a:r>
              <a:rPr b="1"/>
              <a:t>调用规则（</a:t>
            </a:r>
            <a:r>
              <a:rPr b="1"/>
              <a:t>calling convention</a:t>
            </a:r>
            <a:r>
              <a:rPr b="1"/>
              <a:t>）</a:t>
            </a:r>
            <a:endParaRPr b="1"/>
          </a:p>
          <a:p>
            <a:pPr lvl="0">
              <a:buNone/>
            </a:pPr>
            <a:r>
              <a:rPr b="1"/>
              <a:t>实现打印函数调用栈</a:t>
            </a:r>
            <a:r>
              <a:rPr b="1"/>
              <a:t>backtrace</a:t>
            </a:r>
            <a:endParaRPr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Backtrace</a:t>
            </a:r>
            <a:r>
              <a:rPr b="1"/>
              <a:t>实验内容</a:t>
            </a:r>
            <a:endParaRPr b="1"/>
          </a:p>
        </p:txBody>
      </p:sp>
      <p:sp>
        <p:nvSpPr>
          <p:cNvPr id="46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14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/>
              <a:t>在使用</a:t>
            </a:r>
            <a:r>
              <a:rPr b="1"/>
              <a:t>gdb</a:t>
            </a:r>
            <a:r>
              <a:rPr b="1"/>
              <a:t>调试时，通常会使用</a:t>
            </a:r>
            <a:r>
              <a:rPr b="1"/>
              <a:t>backtrace</a:t>
            </a:r>
            <a:endParaRPr b="1"/>
          </a:p>
          <a:p>
            <a:pPr lvl="1">
              <a:buNone/>
            </a:pPr>
            <a:r>
              <a:t>在</a:t>
            </a:r>
            <a:r>
              <a:t>gdb</a:t>
            </a:r>
            <a:r>
              <a:t>中打印错误发生时的</a:t>
            </a:r>
            <a:r>
              <a:rPr b="1"/>
              <a:t>函数调用栈</a:t>
            </a:r>
            <a:endParaRPr b="1"/>
          </a:p>
          <a:p>
            <a:pPr marL="0" lvl="1" indent="0">
              <a:buNone/>
            </a:pPr>
          </a:p>
          <a:p>
            <a:pPr marL="0" lvl="1" indent="0">
              <a:buNone/>
            </a:pPr>
          </a:p>
          <a:p>
            <a:pPr marL="0" lvl="1" indent="0">
              <a:buNone/>
            </a:pPr>
          </a:p>
          <a:p>
            <a:pPr marL="685800" lvl="1" indent="-228600">
              <a:buFont typeface="Arial" panose="020B0604020202020204"/>
              <a:buChar char="•"/>
            </a:pPr>
            <a:endParaRPr sz="24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685800" lvl="1" indent="-228600">
              <a:buFont typeface="Arial" panose="020B0604020202020204"/>
              <a:buChar char="•"/>
            </a:pP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函数调用栈包含函数的返回地址、参数等</a:t>
            </a:r>
            <a:endParaRPr sz="24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685800" lvl="1" indent="-228600">
              <a:buFont typeface="Arial" panose="020B0604020202020204"/>
              <a:buChar char="•"/>
            </a:pP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fp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、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sp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分别为寻址指针、栈顶指针</a:t>
            </a:r>
            <a:endParaRPr sz="24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</p:txBody>
      </p:sp>
      <p:pic>
        <p:nvPicPr>
          <p:cNvPr id="66" name="图片 46"/>
          <p:cNvPicPr>
            <a:picLocks noChangeAspect="1"/>
          </p:cNvPicPr>
          <p:nvPr/>
        </p:nvPicPr>
        <p:blipFill>
          <a:blip r:embed="rId1"/>
          <a:srcRect t="72916" r="69608"/>
          <a:stretch>
            <a:fillRect/>
          </a:stretch>
        </p:blipFill>
        <p:spPr>
          <a:xfrm>
            <a:off x="2012426" y="3188898"/>
            <a:ext cx="3464097" cy="1631016"/>
          </a:xfrm>
          <a:prstGeom prst="rect">
            <a:avLst/>
          </a:prstGeom>
        </p:spPr>
      </p:pic>
      <p:sp>
        <p:nvSpPr>
          <p:cNvPr id="50" name="文本框 49"/>
          <p:cNvSpPr>
            <a:spLocks noGrp="1"/>
          </p:cNvSpPr>
          <p:nvPr/>
        </p:nvSpPr>
        <p:spPr>
          <a:xfrm>
            <a:off x="9818707" y="2484092"/>
            <a:ext cx="1289050" cy="4000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lvl="0">
              <a:buNone/>
            </a:pPr>
            <a:r>
              <a:rPr sz="1600" b="1"/>
              <a:t>返回地址</a:t>
            </a:r>
            <a:endParaRPr sz="1600" b="1"/>
          </a:p>
        </p:txBody>
      </p:sp>
      <p:sp>
        <p:nvSpPr>
          <p:cNvPr id="51" name="文本框 50"/>
          <p:cNvSpPr>
            <a:spLocks noGrp="1"/>
          </p:cNvSpPr>
          <p:nvPr/>
        </p:nvSpPr>
        <p:spPr>
          <a:xfrm>
            <a:off x="9829733" y="2761495"/>
            <a:ext cx="1289050" cy="4000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lvl="0">
              <a:buNone/>
            </a:pPr>
            <a:r>
              <a:rPr sz="1600" b="1"/>
              <a:t>旧</a:t>
            </a:r>
            <a:r>
              <a:rPr sz="1600" b="1"/>
              <a:t>fp</a:t>
            </a:r>
            <a:endParaRPr sz="1600" b="1"/>
          </a:p>
        </p:txBody>
      </p:sp>
      <p:sp>
        <p:nvSpPr>
          <p:cNvPr id="52" name="文本框 51"/>
          <p:cNvSpPr>
            <a:spLocks noGrp="1"/>
          </p:cNvSpPr>
          <p:nvPr/>
        </p:nvSpPr>
        <p:spPr>
          <a:xfrm>
            <a:off x="9829733" y="3063673"/>
            <a:ext cx="2317750" cy="4064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lvl="0">
              <a:buNone/>
            </a:pPr>
            <a:r>
              <a:rPr sz="1600" b="1">
                <a:solidFill>
                  <a:srgbClr val="7F7F7F"/>
                </a:solidFill>
              </a:rPr>
              <a:t>局部变量、寄存器值</a:t>
            </a:r>
            <a:r>
              <a:rPr sz="1600" b="1">
                <a:solidFill>
                  <a:srgbClr val="7F7F7F"/>
                </a:solidFill>
              </a:rPr>
              <a:t>...</a:t>
            </a:r>
            <a:endParaRPr sz="1600" b="1">
              <a:solidFill>
                <a:srgbClr val="7F7F7F"/>
              </a:solidFill>
            </a:endParaRPr>
          </a:p>
        </p:txBody>
      </p:sp>
      <p:pic>
        <p:nvPicPr>
          <p:cNvPr id="70" name="图片 52"/>
          <p:cNvPicPr>
            <a:picLocks noChangeAspect="1"/>
          </p:cNvPicPr>
          <p:nvPr/>
        </p:nvPicPr>
        <p:blipFill>
          <a:blip r:embed="rId2"/>
          <a:srcRect l="17363" t="43316" r="16574"/>
          <a:stretch>
            <a:fillRect/>
          </a:stretch>
        </p:blipFill>
        <p:spPr>
          <a:xfrm>
            <a:off x="8022228" y="2512743"/>
            <a:ext cx="1845787" cy="3376280"/>
          </a:xfrm>
          <a:prstGeom prst="rect">
            <a:avLst/>
          </a:prstGeom>
        </p:spPr>
      </p:pic>
      <p:cxnSp>
        <p:nvCxnSpPr>
          <p:cNvPr id="71" name="直接箭头连接符 54"/>
          <p:cNvCxnSpPr/>
          <p:nvPr/>
        </p:nvCxnSpPr>
        <p:spPr>
          <a:xfrm>
            <a:off x="7554705" y="2457964"/>
            <a:ext cx="582897" cy="0"/>
          </a:xfrm>
          <a:prstGeom prst="straightConnector1">
            <a:avLst/>
          </a:prstGeom>
          <a:ln w="25400">
            <a:solidFill>
              <a:srgbClr val="2972F4"/>
            </a:solidFill>
            <a:prstDash val="solid"/>
            <a:headEnd w="lg" len="lg"/>
            <a:tailEnd type="triangle" w="lg" len="lg"/>
          </a:ln>
        </p:spPr>
      </p:cxnSp>
      <p:sp>
        <p:nvSpPr>
          <p:cNvPr id="56" name="文本框 55"/>
          <p:cNvSpPr>
            <a:spLocks noGrp="1"/>
          </p:cNvSpPr>
          <p:nvPr/>
        </p:nvSpPr>
        <p:spPr>
          <a:xfrm>
            <a:off x="6773377" y="2226828"/>
            <a:ext cx="946150" cy="4445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lvl="0">
              <a:buNone/>
            </a:pPr>
            <a:r>
              <a:rPr b="1">
                <a:solidFill>
                  <a:srgbClr val="2972F4"/>
                </a:solidFill>
              </a:rPr>
              <a:t>fp</a:t>
            </a:r>
            <a:endParaRPr b="1">
              <a:solidFill>
                <a:srgbClr val="2972F4"/>
              </a:solidFill>
            </a:endParaRPr>
          </a:p>
        </p:txBody>
      </p:sp>
      <p:cxnSp>
        <p:nvCxnSpPr>
          <p:cNvPr id="73" name="直接箭头连接符 57"/>
          <p:cNvCxnSpPr/>
          <p:nvPr/>
        </p:nvCxnSpPr>
        <p:spPr>
          <a:xfrm>
            <a:off x="7540849" y="3679962"/>
            <a:ext cx="582897" cy="0"/>
          </a:xfrm>
          <a:prstGeom prst="straightConnector1">
            <a:avLst/>
          </a:prstGeom>
          <a:ln w="25400">
            <a:solidFill>
              <a:srgbClr val="9A38D7"/>
            </a:solidFill>
            <a:prstDash val="solid"/>
            <a:headEnd w="lg" len="lg"/>
            <a:tailEnd type="triangle" w="lg" len="lg"/>
          </a:ln>
        </p:spPr>
      </p:cxnSp>
      <p:sp>
        <p:nvSpPr>
          <p:cNvPr id="59" name="文本框 58"/>
          <p:cNvSpPr>
            <a:spLocks noGrp="1"/>
          </p:cNvSpPr>
          <p:nvPr/>
        </p:nvSpPr>
        <p:spPr>
          <a:xfrm>
            <a:off x="6759511" y="3432312"/>
            <a:ext cx="946150" cy="4445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lvl="0">
              <a:buNone/>
            </a:pPr>
            <a:r>
              <a:rPr b="1">
                <a:solidFill>
                  <a:srgbClr val="9A38D7"/>
                </a:solidFill>
              </a:rPr>
              <a:t>sp</a:t>
            </a:r>
            <a:endParaRPr b="1">
              <a:solidFill>
                <a:srgbClr val="9A38D7"/>
              </a:solidFill>
            </a:endParaRPr>
          </a:p>
        </p:txBody>
      </p:sp>
      <p:sp>
        <p:nvSpPr>
          <p:cNvPr id="60" name="右大括号 59"/>
          <p:cNvSpPr>
            <a:spLocks noGrp="1"/>
          </p:cNvSpPr>
          <p:nvPr/>
        </p:nvSpPr>
        <p:spPr>
          <a:xfrm>
            <a:off x="9845971" y="3717343"/>
            <a:ext cx="176411" cy="1102572"/>
          </a:xfrm>
          <a:prstGeom prst="rightBrace">
            <a:avLst/>
          </a:prstGeom>
          <a:noFill/>
          <a:ln w="28575">
            <a:solidFill>
              <a:srgbClr val="5C5C5C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文本框 60"/>
          <p:cNvSpPr>
            <a:spLocks noGrp="1"/>
          </p:cNvSpPr>
          <p:nvPr/>
        </p:nvSpPr>
        <p:spPr>
          <a:xfrm>
            <a:off x="10022382" y="4068604"/>
            <a:ext cx="1778000" cy="4000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lvl="0">
              <a:buNone/>
            </a:pPr>
            <a:r>
              <a:rPr sz="1600" b="1" i="0" spc="0">
                <a:solidFill>
                  <a:srgbClr val="3F3F3F"/>
                </a:solidFill>
                <a:latin typeface="默认字体"/>
                <a:ea typeface="默认字体"/>
                <a:cs typeface="默认字体"/>
              </a:rPr>
              <a:t>一个函数的栈帧</a:t>
            </a:r>
            <a:endParaRPr sz="1600" b="1" i="0" spc="0">
              <a:solidFill>
                <a:srgbClr val="3F3F3F"/>
              </a:solidFill>
              <a:latin typeface="默认字体"/>
              <a:ea typeface="默认字体"/>
              <a:cs typeface="默认字体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Backtrace</a:t>
            </a:r>
            <a:r>
              <a:rPr b="1"/>
              <a:t>实验内容</a:t>
            </a:r>
            <a:endParaRPr b="1"/>
          </a:p>
        </p:txBody>
      </p:sp>
      <p:sp>
        <p:nvSpPr>
          <p:cNvPr id="64" name="内容占位符 2"/>
          <p:cNvSpPr>
            <a:spLocks noGrp="1"/>
          </p:cNvSpPr>
          <p:nvPr>
            <p:ph idx="1"/>
          </p:nvPr>
        </p:nvSpPr>
        <p:spPr>
          <a:xfrm>
            <a:off x="838263" y="1822996"/>
            <a:ext cx="10515600" cy="489514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/>
              <a:t>在</a:t>
            </a: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kernel/printf.c</a:t>
            </a: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中实现</a:t>
            </a: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backtrace()</a:t>
            </a: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函数</a:t>
            </a:r>
            <a:endParaRPr sz="28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lvl="1">
              <a:buNone/>
            </a:pP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从调用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backtrace()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的函数开始，递归读取每个函数调用栈，依次打印返回地址</a:t>
            </a:r>
            <a:endParaRPr sz="24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lvl="1">
              <a:buNone/>
            </a:pP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hint1: </a:t>
            </a:r>
            <a:r>
              <a:rPr b="1">
                <a:solidFill>
                  <a:srgbClr val="2972F4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s0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寄存器保存了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fp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的值</a:t>
            </a:r>
            <a:r>
              <a:rPr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，可在</a:t>
            </a:r>
            <a:r>
              <a:rPr>
                <a:solidFill>
                  <a:srgbClr val="000000"/>
                </a:solidFill>
              </a:rPr>
              <a:t>kernel/riscv.h</a:t>
            </a:r>
            <a:r>
              <a:rPr>
                <a:solidFill>
                  <a:srgbClr val="000000"/>
                </a:solidFill>
              </a:rPr>
              <a:t>添加如下函数获取</a:t>
            </a:r>
            <a:endParaRPr>
              <a:solidFill>
                <a:srgbClr val="000000"/>
              </a:solidFill>
            </a:endParaRPr>
          </a:p>
          <a:p>
            <a:pPr marL="1371600" lvl="3" indent="0" algn="l">
              <a:lnSpc>
                <a:spcPct val="100000"/>
              </a:lnSpc>
              <a:buNone/>
            </a:pPr>
            <a:r>
              <a:rPr sz="2220">
                <a:solidFill>
                  <a:srgbClr val="000000"/>
                </a:solidFill>
                <a:highlight>
                  <a:srgbClr val="F2F2F2"/>
                </a:highlight>
              </a:rPr>
              <a:t>static inline uint64 r_fp() {
  	uint64 x;
  	asm volatile("mv %0, s0" : "=r" (x) );
  	return x;
}</a:t>
            </a:r>
            <a:endParaRPr sz="2220">
              <a:solidFill>
                <a:srgbClr val="000000"/>
              </a:solidFill>
              <a:highlight>
                <a:srgbClr val="F2F2F2"/>
              </a:highlight>
            </a:endParaRPr>
          </a:p>
          <a:p>
            <a:pPr marL="685800" lvl="1" indent="-228600">
              <a:buFont typeface="Arial" panose="020B0604020202020204"/>
              <a:buChar char="•"/>
            </a:pP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hint2: </a:t>
            </a:r>
            <a:r>
              <a:rPr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kernel/defs.h</a:t>
            </a:r>
            <a:r>
              <a:rPr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中需添加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backtrace()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的函数声明</a:t>
            </a:r>
            <a:endParaRPr sz="24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lvl="1">
              <a:lnSpc>
                <a:spcPct val="100000"/>
              </a:lnSpc>
              <a:buNone/>
            </a:pPr>
            <a:endParaRPr b="1">
              <a:solidFill>
                <a:srgbClr val="000000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lvl="1"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marL="0" lvl="1" indent="0">
              <a:buNone/>
            </a:pPr>
          </a:p>
          <a:p>
            <a:pPr marL="0" lvl="1" indent="0">
              <a:buNone/>
            </a:pPr>
          </a:p>
          <a:p>
            <a:pPr marL="0" lvl="1" indent="0">
              <a:buNone/>
            </a:pPr>
          </a:p>
          <a:p>
            <a:pPr marL="685800" lvl="1" indent="-228600">
              <a:buFont typeface="Arial" panose="020B0604020202020204"/>
              <a:buChar char="•"/>
            </a:pPr>
            <a:endParaRPr sz="24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Backtrace</a:t>
            </a:r>
            <a:r>
              <a:rPr b="1"/>
              <a:t>实验内容</a:t>
            </a:r>
            <a:endParaRPr b="1"/>
          </a:p>
        </p:txBody>
      </p:sp>
      <p:sp>
        <p:nvSpPr>
          <p:cNvPr id="67" name="内容占位符 2"/>
          <p:cNvSpPr>
            <a:spLocks noGrp="1"/>
          </p:cNvSpPr>
          <p:nvPr>
            <p:ph idx="1"/>
          </p:nvPr>
        </p:nvSpPr>
        <p:spPr>
          <a:xfrm>
            <a:off x="838263" y="1822996"/>
            <a:ext cx="10515600" cy="4895144"/>
          </a:xfrm>
          <a:prstGeom prst="rect">
            <a:avLst/>
          </a:prstGeom>
        </p:spPr>
        <p:txBody>
          <a:bodyPr vert="horz" lIns="91440" tIns="45720" rIns="91440" bIns="45720">
            <a:normAutofit fontScale="90000"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/>
              <a:t>在</a:t>
            </a: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kernel/printf.c</a:t>
            </a: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中实现</a:t>
            </a: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backtrace()</a:t>
            </a: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函数</a:t>
            </a:r>
            <a:endParaRPr sz="28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lvl="1">
              <a:buNone/>
            </a:pP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hint3: backtrace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需要识别当前是否是最后一个栈（调用顺序是第一个，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backtrace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打印顺序是最后一个）并终止。由于所有内核栈构成一个页对齐的页表，可通过</a:t>
            </a:r>
            <a:r>
              <a:rPr b="1">
                <a:solidFill>
                  <a:srgbClr val="000000"/>
                </a:solidFill>
              </a:rPr>
              <a:t>kernel/riscv.h</a:t>
            </a:r>
            <a:r>
              <a:rPr b="1">
                <a:solidFill>
                  <a:srgbClr val="000000"/>
                </a:solidFill>
              </a:rPr>
              <a:t>中的</a:t>
            </a:r>
            <a:r>
              <a:rPr b="1">
                <a:solidFill>
                  <a:srgbClr val="000000"/>
                </a:solidFill>
              </a:rPr>
              <a:t>PGROUNDUP(fp)</a:t>
            </a:r>
            <a:r>
              <a:rPr b="1">
                <a:solidFill>
                  <a:srgbClr val="000000"/>
                </a:solidFill>
              </a:rPr>
              <a:t>或</a:t>
            </a:r>
            <a:r>
              <a:rPr b="1">
                <a:solidFill>
                  <a:srgbClr val="000000"/>
                </a:solidFill>
              </a:rPr>
              <a:t>PGROUNDDOWN(fp)</a:t>
            </a:r>
            <a:r>
              <a:rPr b="1">
                <a:solidFill>
                  <a:srgbClr val="000000"/>
                </a:solidFill>
              </a:rPr>
              <a:t>函数实现终止条件的判断</a:t>
            </a:r>
            <a:endParaRPr b="1">
              <a:solidFill>
                <a:srgbClr val="000000"/>
              </a:solidFill>
            </a:endParaRPr>
          </a:p>
          <a:p>
            <a:pPr lvl="1">
              <a:buNone/>
            </a:pPr>
            <a:endParaRPr b="1">
              <a:solidFill>
                <a:srgbClr val="000000"/>
              </a:solidFill>
            </a:endParaRPr>
          </a:p>
          <a:p>
            <a:pPr lvl="1">
              <a:buNone/>
            </a:pPr>
            <a:r>
              <a:rPr b="1">
                <a:solidFill>
                  <a:srgbClr val="000000"/>
                </a:solidFill>
              </a:rPr>
              <a:t>hint4: </a:t>
            </a:r>
            <a:r>
              <a:rPr b="1">
                <a:solidFill>
                  <a:srgbClr val="000000"/>
                </a:solidFill>
              </a:rPr>
              <a:t>函数调用栈的结构可参考讲义</a:t>
            </a:r>
            <a:r>
              <a:rPr sz="2400" b="1">
                <a:solidFill>
                  <a:srgbClr val="000000"/>
                </a:solidFill>
                <a:hlinkClick r:id="rId1"/>
              </a:rPr>
              <a:t>https://pdos.csail.mit.edu/6.1810/2022/lec/l-riscv.txt</a:t>
            </a:r>
            <a:endParaRPr sz="2400" b="1">
              <a:solidFill>
                <a:srgbClr val="000000"/>
              </a:solidFill>
            </a:endParaRPr>
          </a:p>
          <a:p>
            <a:pPr lvl="1">
              <a:buNone/>
            </a:pP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hint5: 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一旦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backtrace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能够工作，在</a:t>
            </a:r>
            <a:r>
              <a:rPr b="1">
                <a:solidFill>
                  <a:srgbClr val="000000"/>
                </a:solidFill>
              </a:rPr>
              <a:t>kernel/printf.c</a:t>
            </a:r>
            <a:r>
              <a:rPr b="1">
                <a:solidFill>
                  <a:srgbClr val="000000"/>
                </a:solidFill>
              </a:rPr>
              <a:t>中的</a:t>
            </a:r>
            <a:r>
              <a:rPr b="1">
                <a:solidFill>
                  <a:srgbClr val="000000"/>
                </a:solidFill>
              </a:rPr>
              <a:t>panic</a:t>
            </a:r>
            <a:r>
              <a:rPr b="1">
                <a:solidFill>
                  <a:srgbClr val="000000"/>
                </a:solidFill>
              </a:rPr>
              <a:t>调用，这样发生</a:t>
            </a:r>
            <a:r>
              <a:rPr b="1">
                <a:solidFill>
                  <a:srgbClr val="000000"/>
                </a:solidFill>
              </a:rPr>
              <a:t>panic</a:t>
            </a:r>
            <a:r>
              <a:rPr b="1">
                <a:solidFill>
                  <a:srgbClr val="000000"/>
                </a:solidFill>
              </a:rPr>
              <a:t>时可以打印调用栈</a:t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Backtrace</a:t>
            </a:r>
            <a:r>
              <a:rPr b="1"/>
              <a:t>实验内容</a:t>
            </a:r>
            <a:endParaRPr b="1"/>
          </a:p>
        </p:txBody>
      </p:sp>
      <p:sp>
        <p:nvSpPr>
          <p:cNvPr id="70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608945" cy="514413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/>
              <a:t>在</a:t>
            </a: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kernel/printf.c</a:t>
            </a: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中实现</a:t>
            </a: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backtrace()</a:t>
            </a: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函数</a:t>
            </a:r>
            <a:endParaRPr sz="28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lvl="1">
              <a:lnSpc>
                <a:spcPct val="100000"/>
              </a:lnSpc>
              <a:buNone/>
            </a:pP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实验要求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1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：</a:t>
            </a:r>
            <a:r>
              <a:rPr sz="2400" b="1" i="0" spc="0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在</a:t>
            </a:r>
            <a:r>
              <a:rPr sz="2400" b="1" i="0" spc="0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kernel/sysproc.c</a:t>
            </a:r>
            <a:r>
              <a:rPr sz="2400" b="1" i="0" spc="0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的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sys_sleep()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中调用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backtrace()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，并执行</a:t>
            </a:r>
            <a:r>
              <a:rPr b="1">
                <a:solidFill>
                  <a:srgbClr val="319B62"/>
                </a:solidFill>
                <a:latin typeface="monospace"/>
                <a:ea typeface="monospace"/>
                <a:cs typeface="monospace"/>
              </a:rPr>
              <a:t>bttest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，应打印如下格式的结果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 </a:t>
            </a:r>
            <a:r>
              <a:rPr sz="2000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(</a:t>
            </a:r>
            <a:r>
              <a:rPr sz="2000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具体地址值可能不同</a:t>
            </a:r>
            <a:r>
              <a:rPr sz="2000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)</a:t>
            </a:r>
            <a:endParaRPr sz="2000">
              <a:solidFill>
                <a:srgbClr val="12121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lvl="1">
              <a:lnSpc>
                <a:spcPct val="100000"/>
              </a:lnSpc>
              <a:buNone/>
            </a:pPr>
            <a:endParaRPr b="1">
              <a:solidFill>
                <a:srgbClr val="000000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lvl="1">
              <a:lnSpc>
                <a:spcPct val="100000"/>
              </a:lnSpc>
              <a:buNone/>
            </a:pPr>
            <a:endParaRPr b="1">
              <a:solidFill>
                <a:srgbClr val="000000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marL="0" lvl="1" indent="0">
              <a:lnSpc>
                <a:spcPct val="100000"/>
              </a:lnSpc>
              <a:buNone/>
            </a:pPr>
            <a:endParaRPr b="1">
              <a:solidFill>
                <a:srgbClr val="000000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lvl="1">
              <a:lnSpc>
                <a:spcPct val="100000"/>
              </a:lnSpc>
              <a:buNone/>
            </a:pP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实验要求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2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：当</a:t>
            </a:r>
            <a:r>
              <a:rPr b="1">
                <a:solidFill>
                  <a:srgbClr val="319B62"/>
                </a:solidFill>
                <a:latin typeface="monospace"/>
                <a:ea typeface="monospace"/>
                <a:cs typeface="monospace"/>
              </a:rPr>
              <a:t>bttest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退出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qemu</a:t>
            </a:r>
            <a:r>
              <a:rPr b="1">
                <a:solidFill>
                  <a:srgbClr val="000000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后，
执行</a:t>
            </a:r>
            <a:r>
              <a:rPr sz="2400" b="1" i="0" spc="0">
                <a:solidFill>
                  <a:srgbClr val="319B62"/>
                </a:solidFill>
                <a:latin typeface="monospace"/>
                <a:ea typeface="monospace"/>
                <a:cs typeface="monospace"/>
              </a:rPr>
              <a:t>addr2line -e kernel/kernel</a:t>
            </a: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，查看返回地址在代码中的位置</a:t>
            </a:r>
            <a:endParaRPr sz="24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buFont typeface="Arial" panose="020B0604020202020204"/>
              <a:buChar char="•"/>
            </a:pPr>
            <a:r>
              <a:rPr sz="28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实验报告需包含</a:t>
            </a:r>
            <a:endParaRPr sz="28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800100" lvl="1" indent="-342900" algn="l" defTabSz="914400">
              <a:lnSpc>
                <a:spcPct val="100000"/>
              </a:lnSpc>
              <a:spcBef>
                <a:spcPts val="1000"/>
              </a:spcBef>
              <a:buFont typeface="Arial" panose="020B0604020202020204"/>
              <a:buChar char="•"/>
            </a:pPr>
            <a:r>
              <a:rPr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对backtrace()的实现思路、过程，测试结果及分析</a:t>
            </a:r>
            <a:r>
              <a:rPr lang="en-US"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(</a:t>
            </a:r>
            <a:r>
              <a:rPr lang="zh-CN" altLang="en-US"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代码、过程、结果截图，</a:t>
            </a:r>
            <a:r>
              <a:rPr lang="en-US" altLang="zh-CN"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make grade</a:t>
            </a:r>
            <a:r>
              <a:rPr lang="zh-CN" altLang="en-US"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的结果截图</a:t>
            </a:r>
            <a:r>
              <a:rPr lang="en-US" sz="240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)</a:t>
            </a:r>
            <a:endParaRPr lang="en-US" sz="240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315" y="3068955"/>
            <a:ext cx="2697480" cy="13392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755" y="5157470"/>
            <a:ext cx="5012690" cy="7162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Alarm</a:t>
            </a:r>
            <a:r>
              <a:rPr b="1"/>
              <a:t>实验目标</a:t>
            </a:r>
            <a:endParaRPr b="1"/>
          </a:p>
        </p:txBody>
      </p:sp>
      <p:sp>
        <p:nvSpPr>
          <p:cNvPr id="74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/>
              <a:t>熟悉陷阱</a:t>
            </a:r>
            <a:endParaRPr b="1"/>
          </a:p>
          <a:p>
            <a:pPr lvl="0">
              <a:buNone/>
            </a:pPr>
            <a:r>
              <a:rPr b="1"/>
              <a:t>修改用户态陷阱对时钟事件的处理，从而实现系统调用（</a:t>
            </a:r>
            <a:r>
              <a:rPr b="1"/>
              <a:t>sys_sigalarm</a:t>
            </a:r>
            <a:r>
              <a:rPr b="1"/>
              <a:t>，</a:t>
            </a:r>
            <a:r>
              <a:rPr b="1"/>
              <a:t>sys_sigreturn</a:t>
            </a:r>
            <a:r>
              <a:rPr b="1"/>
              <a:t>）</a:t>
            </a:r>
            <a:endParaRPr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Alarm</a:t>
            </a:r>
            <a:r>
              <a:rPr b="1"/>
              <a:t>实验内容</a:t>
            </a:r>
            <a:endParaRPr b="1"/>
          </a:p>
        </p:txBody>
      </p:sp>
      <p:sp>
        <p:nvSpPr>
          <p:cNvPr id="7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/>
              <a:t>实现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sigalarm(n,fn)</a:t>
            </a:r>
            <a:r>
              <a:rPr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系统调用</a:t>
            </a:r>
            <a:endParaRPr b="1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lvl="1">
              <a:buNone/>
            </a:pPr>
            <a:r>
              <a:rPr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此函数会以</a:t>
            </a:r>
            <a:r>
              <a:rPr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n</a:t>
            </a:r>
            <a:r>
              <a:rPr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个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单位时间为间隔，调用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fn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函数</a:t>
            </a:r>
            <a:endParaRPr b="1">
              <a:solidFill>
                <a:srgbClr val="12121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lvl="1">
              <a:buNone/>
            </a:pP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当调用</a:t>
            </a:r>
            <a:r>
              <a:rPr b="1">
                <a:solidFill>
                  <a:srgbClr val="121212"/>
                </a:solidFill>
                <a:latin typeface="-apple-system"/>
                <a:ea typeface="-apple-system"/>
                <a:cs typeface="-apple-system"/>
              </a:rPr>
              <a:t>sigalarm(0,0)时，表示停止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sigalarm</a:t>
            </a:r>
            <a:r>
              <a:rPr b="1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的</a:t>
            </a:r>
            <a:r>
              <a:rPr b="1">
                <a:solidFill>
                  <a:srgbClr val="121212"/>
                </a:solidFill>
                <a:latin typeface="-apple-system"/>
                <a:ea typeface="-apple-system"/>
                <a:cs typeface="-apple-system"/>
              </a:rPr>
              <a:t>间隔调用过程</a:t>
            </a:r>
            <a:endParaRPr b="1">
              <a:solidFill>
                <a:srgbClr val="121212"/>
              </a:solidFill>
              <a:latin typeface="-apple-system"/>
              <a:ea typeface="-apple-system"/>
              <a:cs typeface="-apple-system"/>
            </a:endParaRPr>
          </a:p>
          <a:p>
            <a:pPr lvl="1">
              <a:buNone/>
            </a:pPr>
            <a:endParaRPr sz="2400" b="1" i="0" spc="0">
              <a:solidFill>
                <a:srgbClr val="12121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  <a:p>
            <a:pPr lvl="1">
              <a:buNone/>
            </a:pPr>
            <a:r>
              <a:rPr sz="2400" b="1" i="0" spc="0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此处实验需要将</a:t>
            </a:r>
            <a:r>
              <a:rPr sz="2400" b="1" i="0" spc="0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user/alarmtest.c</a:t>
            </a:r>
            <a:r>
              <a:rPr sz="2400" b="1" i="0" spc="0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放入</a:t>
            </a:r>
            <a:r>
              <a:rPr sz="2400" b="1" i="0" spc="0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Makefile</a:t>
            </a:r>
            <a:r>
              <a:rPr sz="2400" b="1" i="0" spc="0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进行编译，并输入</a:t>
            </a:r>
            <a:r>
              <a:rPr sz="2400" b="1" i="0" spc="0">
                <a:solidFill>
                  <a:srgbClr val="319B6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alarmtest</a:t>
            </a:r>
            <a:r>
              <a:rPr sz="2400" b="1" i="0" spc="0">
                <a:solidFill>
                  <a:srgbClr val="121212"/>
                </a:solidFill>
                <a:highlight>
                  <a:srgbClr val="FFFFFF"/>
                </a:highlight>
                <a:latin typeface="-apple-system"/>
                <a:ea typeface="-apple-system"/>
                <a:cs typeface="-apple-system"/>
              </a:rPr>
              <a:t>命令进行测试</a:t>
            </a:r>
            <a:endParaRPr sz="2400" b="1" i="0" spc="0">
              <a:solidFill>
                <a:srgbClr val="121212"/>
              </a:solidFill>
              <a:highlight>
                <a:srgbClr val="FFFFFF"/>
              </a:highlight>
              <a:latin typeface="-apple-system"/>
              <a:ea typeface="-apple-system"/>
              <a:cs typeface="-apple-syste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Alarm</a:t>
            </a:r>
            <a:r>
              <a:rPr b="1"/>
              <a:t>实验内容</a:t>
            </a:r>
            <a:endParaRPr b="1"/>
          </a:p>
        </p:txBody>
      </p:sp>
      <p:sp>
        <p:nvSpPr>
          <p:cNvPr id="80" name="内容占位符 2"/>
          <p:cNvSpPr>
            <a:spLocks noGrp="1"/>
          </p:cNvSpPr>
          <p:nvPr>
            <p:ph idx="1"/>
          </p:nvPr>
        </p:nvSpPr>
        <p:spPr>
          <a:xfrm>
            <a:off x="838200" y="1616136"/>
            <a:ext cx="11243297" cy="5145190"/>
          </a:xfrm>
          <a:prstGeom prst="rect">
            <a:avLst/>
          </a:prstGeom>
        </p:spPr>
        <p:txBody>
          <a:bodyPr vert="horz" lIns="91440" tIns="45720" rIns="91440" bIns="45720">
            <a:normAutofit fontScale="90000"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lnSpc>
                <a:spcPct val="130000"/>
              </a:lnSpc>
              <a:buNone/>
            </a:pPr>
            <a:r>
              <a:rPr sz="2665"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参考步骤（详见</a:t>
            </a:r>
            <a:r>
              <a:rPr sz="2665" b="1" u="sng">
                <a:hlinkClick r:id="rId1" tooltip="" action="ppaction://hlinkfile"/>
              </a:rPr>
              <a:t>Lab: Traps (mit.edu)</a:t>
            </a:r>
            <a:r>
              <a:rPr sz="2665" b="1"/>
              <a:t>的</a:t>
            </a:r>
            <a:r>
              <a:rPr sz="26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test0: invoke handler</a:t>
            </a:r>
            <a:r>
              <a:rPr sz="2665" b="1"/>
              <a:t>）</a:t>
            </a:r>
            <a:endParaRPr sz="2665" b="1"/>
          </a:p>
          <a:p>
            <a:pPr marL="457200" lvl="1" indent="0">
              <a:lnSpc>
                <a:spcPct val="130000"/>
              </a:lnSpc>
              <a:buNone/>
            </a:pPr>
            <a:r>
              <a:rPr sz="2000"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1. </a:t>
            </a:r>
            <a:r>
              <a:rPr sz="2000"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在</a:t>
            </a:r>
            <a:r>
              <a:rPr sz="2000"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user/user.h</a:t>
            </a:r>
            <a:r>
              <a:rPr sz="2000"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中添加系统调用声明</a:t>
            </a:r>
            <a:endParaRPr sz="2000" b="1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914400" lvl="2" indent="0">
              <a:lnSpc>
                <a:spcPct val="130000"/>
              </a:lnSpc>
              <a:buNone/>
            </a:pPr>
            <a:r>
              <a:rPr sz="1800">
                <a:solidFill>
                  <a:srgbClr val="000000"/>
                </a:solidFill>
                <a:highlight>
                  <a:srgbClr val="F2F2F2"/>
                </a:highlight>
              </a:rPr>
              <a:t>int sigalarm(int ticks, void (*handler)());
int sigreturn(void);</a:t>
            </a:r>
            <a:endParaRPr sz="1800">
              <a:solidFill>
                <a:srgbClr val="000000"/>
              </a:solidFill>
              <a:highlight>
                <a:srgbClr val="F2F2F2"/>
              </a:highlight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2. 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在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user/usys.pl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、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kernel/syscall.h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、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kernel/syscall.c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添加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sigalarm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和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sigreturn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的系统调用</a:t>
            </a:r>
            <a:endParaRPr sz="20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3. 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修改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kernel/proc.h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中的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proc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结构体，添加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sigalarm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的两个参数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(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时间间隔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n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、调用函数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fn)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，并添加上次调用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sigalarm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后经过的时间间隔，在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allocproc()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函数初始化这些字段</a:t>
            </a:r>
            <a:endParaRPr sz="20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4. 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实现</a:t>
            </a:r>
            <a:r>
              <a:rPr sz="2000" b="1" i="0" spc="0">
                <a:solidFill>
                  <a:srgbClr val="2972F4"/>
                </a:solidFill>
                <a:latin typeface="monospace"/>
                <a:ea typeface="monospace"/>
                <a:cs typeface="monospace"/>
              </a:rPr>
              <a:t>sys_sigalarm()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函数，将接收的参数保存到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proc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结构体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 </a:t>
            </a:r>
            <a:r>
              <a:rPr sz="1775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(</a:t>
            </a:r>
            <a:r>
              <a:rPr sz="1775" b="1" i="0" spc="0">
                <a:solidFill>
                  <a:srgbClr val="2972F4"/>
                </a:solidFill>
                <a:latin typeface="monospace"/>
                <a:ea typeface="monospace"/>
                <a:cs typeface="monospace"/>
              </a:rPr>
              <a:t>sys_sigreturn()</a:t>
            </a:r>
            <a:r>
              <a:rPr sz="1775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可先不实现，直接</a:t>
            </a:r>
            <a:r>
              <a:rPr sz="1775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return 0;)</a:t>
            </a:r>
            <a:endParaRPr sz="1775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5. 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修改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kernel/trap.c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对时间中断的处理，每次时间中断都修改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proc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中的相关字段，当到达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n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个时间间隔时，调用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fn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函数</a:t>
            </a:r>
            <a:endParaRPr sz="20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sz="18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（对函数的调用方法，参考</a:t>
            </a:r>
            <a:r>
              <a:rPr sz="18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xv6 book</a:t>
            </a:r>
            <a:r>
              <a:rPr sz="18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第四章</a:t>
            </a:r>
            <a:r>
              <a:rPr sz="18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 https://pdos.csail.mit.edu/6.828/2020/xv6/book-riscv-rev1.pdf</a:t>
            </a:r>
            <a:r>
              <a:rPr sz="18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）</a:t>
            </a:r>
            <a:endParaRPr sz="18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</p:txBody>
      </p:sp>
      <p:pic>
        <p:nvPicPr>
          <p:cNvPr id="2" name="图片 1" descr="58c29e6073518f9c9605df79b10ade7f"/>
          <p:cNvPicPr>
            <a:picLocks noChangeAspect="1"/>
          </p:cNvPicPr>
          <p:nvPr/>
        </p:nvPicPr>
        <p:blipFill>
          <a:blip r:embed="rId2"/>
          <a:srcRect t="11583" r="-225"/>
          <a:stretch>
            <a:fillRect/>
          </a:stretch>
        </p:blipFill>
        <p:spPr>
          <a:xfrm>
            <a:off x="7392035" y="332740"/>
            <a:ext cx="4248150" cy="13474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43475" y="260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修改的文件</a:t>
            </a:r>
            <a:r>
              <a:rPr lang="zh-CN" altLang="en-US"/>
              <a:t>大概如图：</a:t>
            </a:r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Alarm</a:t>
            </a:r>
            <a:r>
              <a:rPr b="1"/>
              <a:t>实验内容</a:t>
            </a:r>
            <a:endParaRPr b="1"/>
          </a:p>
        </p:txBody>
      </p:sp>
      <p:sp>
        <p:nvSpPr>
          <p:cNvPr id="83" name="内容占位符 2"/>
          <p:cNvSpPr>
            <a:spLocks noGrp="1"/>
          </p:cNvSpPr>
          <p:nvPr>
            <p:ph idx="1"/>
          </p:nvPr>
        </p:nvSpPr>
        <p:spPr>
          <a:xfrm>
            <a:off x="838200" y="1616136"/>
            <a:ext cx="11243297" cy="514519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b="1">
                <a:solidFill>
                  <a:srgbClr val="000000"/>
                </a:solidFill>
              </a:rPr>
              <a:t>test0</a:t>
            </a:r>
            <a:r>
              <a:rPr b="1">
                <a:solidFill>
                  <a:srgbClr val="000000"/>
                </a:solidFill>
              </a:rPr>
              <a:t>测试</a:t>
            </a:r>
            <a:endParaRPr b="1">
              <a:solidFill>
                <a:srgbClr val="000000"/>
              </a:solidFill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sz="2000"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完成上述步骤后，执行</a:t>
            </a:r>
            <a:endParaRPr sz="2000" b="1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sz="2000" b="1">
                <a:solidFill>
                  <a:srgbClr val="319B62"/>
                </a:solidFill>
              </a:rPr>
              <a:t>make CPUS=1 qemu-gdb</a:t>
            </a:r>
            <a:endParaRPr sz="2000" b="1">
              <a:solidFill>
                <a:srgbClr val="319B62"/>
              </a:solidFill>
            </a:endParaRPr>
          </a:p>
          <a:p>
            <a:pPr marL="457200" lvl="1" indent="0">
              <a:buNone/>
            </a:pPr>
            <a:r>
              <a:rPr sz="2000" b="1" i="0" spc="0">
                <a:solidFill>
                  <a:srgbClr val="319B62"/>
                </a:solidFill>
                <a:latin typeface="默认字体"/>
                <a:ea typeface="默认字体"/>
                <a:cs typeface="默认字体"/>
              </a:rPr>
              <a:t>alarmtest</a:t>
            </a:r>
            <a:endParaRPr sz="2000" b="1" i="0" spc="0">
              <a:solidFill>
                <a:srgbClr val="319B62"/>
              </a:solidFill>
              <a:latin typeface="默认字体"/>
              <a:ea typeface="默认字体"/>
              <a:cs typeface="默认字体"/>
            </a:endParaRPr>
          </a:p>
          <a:p>
            <a:pPr marL="457200" lvl="1" indent="0">
              <a:buNone/>
            </a:pP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观察是否通过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test0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测试</a:t>
            </a:r>
            <a:endParaRPr sz="20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</p:txBody>
      </p:sp>
      <p:pic>
        <p:nvPicPr>
          <p:cNvPr id="2" name="图片 1" descr="b433ba9454038105701cb350f905f5ec"/>
          <p:cNvPicPr>
            <a:picLocks noChangeAspect="1"/>
          </p:cNvPicPr>
          <p:nvPr/>
        </p:nvPicPr>
        <p:blipFill>
          <a:blip r:embed="rId1"/>
          <a:srcRect r="4857" b="82309"/>
          <a:stretch>
            <a:fillRect/>
          </a:stretch>
        </p:blipFill>
        <p:spPr>
          <a:xfrm>
            <a:off x="6743700" y="2997200"/>
            <a:ext cx="1368425" cy="5156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1810" y="3141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效果类似：</a:t>
            </a:r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Alarm</a:t>
            </a:r>
            <a:r>
              <a:rPr b="1"/>
              <a:t>实验内容</a:t>
            </a:r>
            <a:endParaRPr b="1"/>
          </a:p>
        </p:txBody>
      </p:sp>
      <p:sp>
        <p:nvSpPr>
          <p:cNvPr id="86" name="内容占位符 2"/>
          <p:cNvSpPr>
            <a:spLocks noGrp="1"/>
          </p:cNvSpPr>
          <p:nvPr>
            <p:ph idx="1"/>
          </p:nvPr>
        </p:nvSpPr>
        <p:spPr>
          <a:xfrm>
            <a:off x="838200" y="1616136"/>
            <a:ext cx="11243297" cy="514519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lvl="0">
              <a:buNone/>
            </a:pPr>
            <a:r>
              <a:rPr sz="2400" b="1">
                <a:solidFill>
                  <a:srgbClr val="000000"/>
                </a:solidFill>
              </a:rPr>
              <a:t>进一步实现</a:t>
            </a:r>
            <a:r>
              <a:rPr sz="2400"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（详见</a:t>
            </a:r>
            <a:r>
              <a:rPr sz="2400" b="1" u="sng">
                <a:hlinkClick r:id="rId1" tooltip="" action="ppaction://hlinkfile"/>
              </a:rPr>
              <a:t>Lab: Traps (mit.edu)</a:t>
            </a:r>
            <a:r>
              <a:rPr sz="2400" b="1"/>
              <a:t>的</a:t>
            </a: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test1/test2()/test3(): resume ...</a:t>
            </a:r>
            <a:r>
              <a:rPr sz="2400" b="1"/>
              <a:t>）</a:t>
            </a:r>
            <a:endParaRPr sz="2400" b="1"/>
          </a:p>
          <a:p>
            <a:pPr lvl="1">
              <a:buNone/>
            </a:pPr>
            <a:r>
              <a:rPr sz="2000" b="1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考虑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sys_sigalarm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系统调用后，如何通过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sys_sigreturn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返回中断前的指令</a:t>
            </a:r>
            <a:endParaRPr sz="20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1. 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在</a:t>
            </a:r>
            <a:r>
              <a:rPr sz="2000" b="1" i="0" spc="0">
                <a:solidFill>
                  <a:srgbClr val="2972F4"/>
                </a:solidFill>
                <a:latin typeface="monospace"/>
                <a:ea typeface="monospace"/>
                <a:cs typeface="monospace"/>
              </a:rPr>
              <a:t>sys_sigalarm()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中，需要保存中断时的寄存器值</a:t>
            </a:r>
            <a:endParaRPr sz="20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2. 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实现</a:t>
            </a:r>
            <a:r>
              <a:rPr sz="2000" b="1" i="0" spc="0">
                <a:solidFill>
                  <a:srgbClr val="2972F4"/>
                </a:solidFill>
                <a:latin typeface="monospace"/>
                <a:ea typeface="monospace"/>
                <a:cs typeface="monospace"/>
              </a:rPr>
              <a:t>sys_sigreturn()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函数，并注意恢复之前保存的寄存器值</a:t>
            </a:r>
            <a:endParaRPr sz="20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3. 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防止重复调用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: 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添加处理机制，避免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fn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函数在返回前被再次调用</a:t>
            </a:r>
            <a:endParaRPr sz="20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4. 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由于</a:t>
            </a:r>
            <a:r>
              <a:rPr sz="2000" b="1" i="0" spc="0">
                <a:solidFill>
                  <a:srgbClr val="2972F4"/>
                </a:solidFill>
                <a:latin typeface="monospace"/>
                <a:ea typeface="monospace"/>
                <a:cs typeface="monospace"/>
              </a:rPr>
              <a:t>sys_sigalarm()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是系统调用，会将返回值储存于</a:t>
            </a:r>
            <a:r>
              <a:rPr sz="2000" b="1" i="0" spc="0">
                <a:solidFill>
                  <a:srgbClr val="2972F4"/>
                </a:solidFill>
                <a:latin typeface="monospace"/>
                <a:ea typeface="monospace"/>
                <a:cs typeface="monospace"/>
              </a:rPr>
              <a:t>a0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寄存器，因此恢复寄存器时</a:t>
            </a:r>
            <a:r>
              <a:rPr sz="2000" b="1" i="0" spc="0">
                <a:solidFill>
                  <a:srgbClr val="2972F4"/>
                </a:solidFill>
                <a:latin typeface="monospace"/>
                <a:ea typeface="monospace"/>
                <a:cs typeface="monospace"/>
              </a:rPr>
              <a:t>a0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要特殊处理。</a:t>
            </a:r>
            <a:endParaRPr sz="20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lvl="0">
              <a:buNone/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test1/test2/test3</a:t>
            </a: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buNone/>
            </a:pP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执行</a:t>
            </a:r>
            <a:r>
              <a:rPr sz="2000" b="1" i="0" spc="0">
                <a:solidFill>
                  <a:srgbClr val="319B62"/>
                </a:solidFill>
                <a:latin typeface="monospace"/>
                <a:ea typeface="monospace"/>
                <a:cs typeface="monospace"/>
              </a:rPr>
              <a:t>alarmtest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观察是否通过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test1/test2/test3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测试</a:t>
            </a:r>
            <a:endParaRPr sz="20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457200" lvl="1" indent="0">
              <a:buNone/>
            </a:pP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执行</a:t>
            </a:r>
            <a:r>
              <a:rPr sz="2000" b="1" i="0" spc="0">
                <a:solidFill>
                  <a:srgbClr val="319B62"/>
                </a:solidFill>
                <a:latin typeface="monospace"/>
                <a:ea typeface="monospace"/>
                <a:cs typeface="monospace"/>
              </a:rPr>
              <a:t>usertests -q</a:t>
            </a:r>
            <a:r>
              <a:rPr sz="20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确保没有破坏其他函数功能</a:t>
            </a:r>
            <a:endParaRPr sz="20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</p:txBody>
      </p:sp>
      <p:pic>
        <p:nvPicPr>
          <p:cNvPr id="2" name="图片 1" descr="b433ba9454038105701cb350f905f5e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690" y="4581525"/>
            <a:ext cx="1099185" cy="22275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2305" y="5373370"/>
            <a:ext cx="1269365" cy="7518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1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</a:lstStyle>
          <a:p>
            <a:pPr lvl="0">
              <a:buNone/>
            </a:pPr>
            <a:r>
              <a:rPr b="1"/>
              <a:t>Alarm</a:t>
            </a:r>
            <a:r>
              <a:rPr b="1"/>
              <a:t>实验内容</a:t>
            </a:r>
            <a:endParaRPr b="1"/>
          </a:p>
        </p:txBody>
      </p:sp>
      <p:sp>
        <p:nvSpPr>
          <p:cNvPr id="92" name="内容占位符 2"/>
          <p:cNvSpPr>
            <a:spLocks noGrp="1"/>
          </p:cNvSpPr>
          <p:nvPr>
            <p:ph idx="1"/>
          </p:nvPr>
        </p:nvSpPr>
        <p:spPr>
          <a:xfrm>
            <a:off x="838200" y="1616136"/>
            <a:ext cx="11243297" cy="514519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1pPr>
            <a:lvl2pPr marL="685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2pPr>
            <a:lvl3pPr marL="1143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3pPr>
            <a:lvl4pPr marL="1600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4pPr>
            <a:lvl5pPr marL="20574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5pPr>
            <a:lvl6pPr marL="25146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6pPr>
            <a:lvl7pPr marL="29718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7pPr>
            <a:lvl8pPr marL="34290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8pPr>
            <a:lvl9pPr marL="3886200" indent="-22860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默认字体"/>
                <a:ea typeface="默认字体"/>
                <a:cs typeface="默认字体"/>
              </a:defRPr>
            </a:lvl9pPr>
          </a:lstStyle>
          <a:p>
            <a:pPr marL="228600" lvl="0" indent="-228600">
              <a:buFont typeface="Arial" panose="020B0604020202020204"/>
              <a:buChar char="•"/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实验报告需包含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buNone/>
            </a:pPr>
            <a:r>
              <a:rPr sz="24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完成</a:t>
            </a:r>
            <a:r>
              <a:rPr sz="24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alarm</a:t>
            </a:r>
            <a:r>
              <a:rPr sz="24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实验的思路、过程</a:t>
            </a:r>
            <a:endParaRPr sz="24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457200" lvl="1" indent="0">
              <a:buNone/>
            </a:pPr>
            <a:r>
              <a:rPr sz="24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运行</a:t>
            </a:r>
            <a:r>
              <a:rPr sz="2400" b="1" i="0" spc="0">
                <a:solidFill>
                  <a:srgbClr val="319B62"/>
                </a:solidFill>
                <a:latin typeface="monospace"/>
                <a:ea typeface="monospace"/>
                <a:cs typeface="monospace"/>
              </a:rPr>
              <a:t>alarmtest</a:t>
            </a:r>
            <a:r>
              <a:rPr sz="24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和</a:t>
            </a:r>
            <a:r>
              <a:rPr sz="2400" b="1" i="0" spc="0">
                <a:solidFill>
                  <a:srgbClr val="319B62"/>
                </a:solidFill>
                <a:latin typeface="monospace"/>
                <a:ea typeface="monospace"/>
                <a:cs typeface="monospace"/>
              </a:rPr>
              <a:t>usertests -q</a:t>
            </a:r>
            <a:r>
              <a:rPr sz="24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的所有测试结果与分析</a:t>
            </a:r>
            <a:endParaRPr sz="2400" b="1" i="0" spc="0">
              <a:solidFill>
                <a:srgbClr val="000000"/>
              </a:solidFill>
              <a:latin typeface="monospace"/>
              <a:ea typeface="monospace"/>
              <a:cs typeface="monospace"/>
            </a:endParaRPr>
          </a:p>
          <a:p>
            <a:pPr marL="457200" lvl="1" indent="0">
              <a:buNone/>
            </a:pPr>
            <a:r>
              <a:rPr lang="zh-CN" sz="2400" b="1" i="0" spc="0">
                <a:solidFill>
                  <a:srgbClr val="000000"/>
                </a:solidFill>
                <a:latin typeface="monospace"/>
                <a:ea typeface="monospace"/>
                <a:cs typeface="monospace"/>
              </a:rPr>
              <a:t>运行</a:t>
            </a:r>
            <a:r>
              <a:rPr sz="2400" b="1" i="0" spc="0">
                <a:solidFill>
                  <a:srgbClr val="319B62"/>
                </a:solidFill>
                <a:latin typeface="monospace"/>
                <a:ea typeface="monospace"/>
                <a:cs typeface="monospace"/>
              </a:rPr>
              <a:t>make grade</a:t>
            </a:r>
            <a:r>
              <a:rPr b="1">
                <a:solidFill>
                  <a:srgbClr val="000000"/>
                </a:solidFill>
                <a:latin typeface="monospace"/>
                <a:ea typeface="monospace"/>
                <a:cs typeface="monospace"/>
                <a:sym typeface="+mn-ea"/>
              </a:rPr>
              <a:t>的</a:t>
            </a:r>
            <a:r>
              <a:rPr lang="zh-CN" b="1">
                <a:solidFill>
                  <a:srgbClr val="000000"/>
                </a:solidFill>
                <a:latin typeface="monospace"/>
                <a:ea typeface="monospace"/>
                <a:cs typeface="monospace"/>
                <a:sym typeface="+mn-ea"/>
              </a:rPr>
              <a:t>结果</a:t>
            </a:r>
            <a:r>
              <a:rPr lang="zh-CN" b="1">
                <a:solidFill>
                  <a:srgbClr val="000000"/>
                </a:solidFill>
                <a:latin typeface="monospace"/>
                <a:ea typeface="monospace"/>
                <a:cs typeface="monospace"/>
                <a:sym typeface="+mn-ea"/>
              </a:rPr>
              <a:t>截图</a:t>
            </a:r>
            <a:endParaRPr lang="zh-CN" b="1">
              <a:solidFill>
                <a:srgbClr val="000000"/>
              </a:solidFill>
              <a:latin typeface="monospace"/>
              <a:ea typeface="monospace"/>
              <a:cs typeface="monospace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52805" y="476250"/>
            <a:ext cx="9856470" cy="5233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最后的实验报告可提交到邮箱</a:t>
            </a:r>
            <a:r>
              <a:rPr lang="en-US" altLang="zh-CN"/>
              <a:t> </a:t>
            </a:r>
            <a:r>
              <a:rPr lang="en-US" altLang="zh-CN">
                <a:hlinkClick r:id="rId1"/>
              </a:rPr>
              <a:t>a1876974812@163.com</a:t>
            </a:r>
            <a:r>
              <a:rPr lang="en-US" altLang="zh-CN"/>
              <a:t>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System calls</a:t>
            </a:r>
            <a:r>
              <a:rPr lang="zh-CN" altLang="en-US"/>
              <a:t>和</a:t>
            </a:r>
            <a:r>
              <a:rPr lang="en-US" altLang="zh-CN"/>
              <a:t>Traps </a:t>
            </a:r>
            <a:r>
              <a:rPr lang="zh-CN" altLang="en-US"/>
              <a:t>的实验分开</a:t>
            </a:r>
            <a:r>
              <a:rPr lang="zh-CN" altLang="en-US"/>
              <a:t>打包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打包文件命名为</a:t>
            </a:r>
            <a:r>
              <a:rPr lang="en-US" altLang="zh-CN"/>
              <a:t>:</a:t>
            </a:r>
            <a:r>
              <a:rPr lang="zh-CN" altLang="en-US"/>
              <a:t>学号</a:t>
            </a:r>
            <a:r>
              <a:rPr lang="en-US" altLang="zh-CN"/>
              <a:t>_</a:t>
            </a:r>
            <a:r>
              <a:rPr lang="zh-CN" altLang="en-US"/>
              <a:t>姓名</a:t>
            </a:r>
            <a:r>
              <a:rPr lang="en-US" altLang="zh-CN"/>
              <a:t>_(system_calls/Traps</a:t>
            </a:r>
            <a:r>
              <a:rPr lang="zh-CN" altLang="en-US"/>
              <a:t>对应的实验名</a:t>
            </a:r>
            <a:r>
              <a:rPr lang="en-US" altLang="zh-CN"/>
              <a:t>)</a:t>
            </a:r>
            <a:endParaRPr lang="en-US" altLang="zh-CN"/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其中要</a:t>
            </a:r>
            <a:r>
              <a:rPr lang="zh-CN" altLang="en-US">
                <a:ea typeface="宋体" panose="02010600030101010101" pitchFamily="2" charset="-122"/>
              </a:rPr>
              <a:t>包含：</a:t>
            </a:r>
            <a:endParaRPr lang="zh-CN" altLang="en-US">
              <a:ea typeface="宋体" panose="02010600030101010101" pitchFamily="2" charset="-122"/>
            </a:endParaRPr>
          </a:p>
          <a:p>
            <a:pPr indent="457200"/>
            <a:r>
              <a:rPr lang="zh-CN" altLang="en-US">
                <a:ea typeface="宋体" panose="02010600030101010101" pitchFamily="2" charset="-122"/>
              </a:rPr>
              <a:t>实验报告一份，也是要用</a:t>
            </a:r>
            <a:r>
              <a:rPr lang="zh-CN" altLang="en-US">
                <a:sym typeface="+mn-ea"/>
              </a:rPr>
              <a:t>学号</a:t>
            </a:r>
            <a:r>
              <a:rPr lang="en-US" altLang="zh-CN">
                <a:sym typeface="+mn-ea"/>
              </a:rPr>
              <a:t>_</a:t>
            </a:r>
            <a:r>
              <a:rPr lang="zh-CN" altLang="en-US">
                <a:sym typeface="+mn-ea"/>
              </a:rPr>
              <a:t>姓名</a:t>
            </a:r>
            <a:r>
              <a:rPr lang="en-US" altLang="zh-CN">
                <a:sym typeface="+mn-ea"/>
              </a:rPr>
              <a:t>_(system_calls/Traps</a:t>
            </a:r>
            <a:r>
              <a:rPr lang="zh-CN" altLang="en-US">
                <a:sym typeface="+mn-ea"/>
              </a:rPr>
              <a:t>对应的实验名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来命名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实验代码项目的文件夹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提交前</a:t>
            </a:r>
            <a:r>
              <a:rPr lang="en-US" altLang="zh-CN">
                <a:sym typeface="+mn-ea"/>
              </a:rPr>
              <a:t>make clean</a:t>
            </a:r>
            <a:r>
              <a:rPr lang="zh-CN" altLang="en-US">
                <a:sym typeface="+mn-ea"/>
              </a:rPr>
              <a:t>删掉多余文件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，或者只提交修改的文件</a:t>
            </a:r>
            <a:r>
              <a:rPr lang="en-US" altLang="zh-CN">
                <a:sym typeface="+mn-ea"/>
              </a:rPr>
              <a:t>)</a:t>
            </a:r>
            <a:endParaRPr lang="en-US" altLang="zh-CN">
              <a:sym typeface="+mn-ea"/>
            </a:endParaRPr>
          </a:p>
          <a:p>
            <a:pPr indent="457200"/>
            <a:endParaRPr lang="en-US" altLang="zh-CN">
              <a:sym typeface="+mn-ea"/>
            </a:endParaRPr>
          </a:p>
          <a:p>
            <a:pPr marL="457200" lvl="1" indent="457200"/>
            <a:r>
              <a:rPr lang="zh-CN" altLang="en-US">
                <a:sym typeface="+mn-ea"/>
              </a:rPr>
              <a:t>注：使用</a:t>
            </a:r>
            <a:r>
              <a:rPr lang="en-US" altLang="zh-CN">
                <a:sym typeface="+mn-ea"/>
              </a:rPr>
              <a:t>WSL2</a:t>
            </a:r>
            <a:r>
              <a:rPr lang="zh-CN" altLang="en-US">
                <a:sym typeface="+mn-ea"/>
              </a:rPr>
              <a:t>的话直接在源文件位置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比如</a:t>
            </a:r>
            <a:r>
              <a:rPr lang="en-US" altLang="zh-CN">
                <a:sym typeface="+mn-ea"/>
              </a:rPr>
              <a:t>~/xv6-labs-2024)</a:t>
            </a:r>
            <a:r>
              <a:rPr lang="zh-CN" altLang="en-US">
                <a:sym typeface="+mn-ea"/>
              </a:rPr>
              <a:t>输入</a:t>
            </a:r>
            <a:r>
              <a:rPr lang="zh-CN" altLang="en-US">
                <a:sym typeface="+mn-ea"/>
              </a:rPr>
              <a:t>命令</a:t>
            </a:r>
            <a:endParaRPr lang="zh-CN" altLang="en-US">
              <a:sym typeface="+mn-ea"/>
            </a:endParaRPr>
          </a:p>
          <a:p>
            <a:pPr marL="914400" lvl="2" indent="457200" algn="ctr"/>
            <a:r>
              <a:rPr lang="en-US" altLang="zh-CN">
                <a:sym typeface="+mn-ea"/>
              </a:rPr>
              <a:t>explorer.exe .</a:t>
            </a:r>
            <a:endParaRPr lang="en-US" altLang="zh-CN">
              <a:sym typeface="+mn-ea"/>
            </a:endParaRPr>
          </a:p>
          <a:p>
            <a:pPr marL="914400" lvl="2" indent="457200"/>
            <a:r>
              <a:rPr lang="zh-CN" altLang="en-US">
                <a:sym typeface="+mn-ea"/>
              </a:rPr>
              <a:t>就会直接打开当前目录到本地，然后复制提交</a:t>
            </a:r>
            <a:r>
              <a:rPr lang="zh-CN" altLang="en-US">
                <a:sym typeface="+mn-ea"/>
              </a:rPr>
              <a:t>即可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buNone/>
            </a:pPr>
            <a:r>
              <a:rPr b="1"/>
              <a:t>可参考的资料</a:t>
            </a:r>
            <a:endParaRPr b="1"/>
          </a:p>
        </p:txBody>
      </p:sp>
      <p:sp>
        <p:nvSpPr>
          <p:cNvPr id="9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7500"/>
          </a:bodyPr>
          <a:lstStyle/>
          <a:p>
            <a:pPr lvl="0">
              <a:buNone/>
            </a:pPr>
            <a:r>
              <a:rPr sz="2570" b="1"/>
              <a:t>xv6 Lab: traps</a:t>
            </a:r>
            <a:endParaRPr sz="2570" b="1"/>
          </a:p>
          <a:p>
            <a:pPr marL="685800" lvl="1" indent="-228600">
              <a:buFont typeface="Arial" panose="020B0604020202020204"/>
              <a:buChar char="•"/>
            </a:pPr>
            <a:r>
              <a:rPr u="sng">
                <a:hlinkClick r:id="rId1" tooltip="" action="ppaction://hlinkfile"/>
              </a:rPr>
              <a:t>Lab: Traps (mit.edu)</a:t>
            </a:r>
            <a:endParaRPr u="sng"/>
          </a:p>
          <a:p>
            <a:pPr marL="228600" lvl="0" indent="-228600">
              <a:buFont typeface="Arial" panose="020B0604020202020204"/>
              <a:buChar char="•"/>
            </a:pPr>
            <a:r>
              <a:rPr sz="257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</a:rPr>
              <a:t>xv6 book: Chapter 4 Traps and system calls</a:t>
            </a:r>
            <a:endParaRPr sz="257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685800" lvl="1" indent="-228600">
              <a:buFont typeface="Arial" panose="020B0604020202020204"/>
              <a:buChar char="•"/>
            </a:pPr>
            <a:r>
              <a:rPr lang="en-US" altLang="zh-CN" sz="2570" b="1" i="0" spc="0">
                <a:solidFill>
                  <a:srgbClr val="000000"/>
                </a:solidFill>
                <a:latin typeface="默认字体"/>
                <a:ea typeface="默认字体"/>
                <a:cs typeface="默认字体"/>
                <a:hlinkClick r:id="rId2" action="ppaction://hlinkfile"/>
              </a:rPr>
              <a:t>https://pdos.csail.mit.edu/6.1810/2024/xv6/book-riscv-rev4.pdf</a:t>
            </a:r>
            <a:endParaRPr lang="en-US" altLang="zh-CN" sz="2570" b="1" i="0" spc="0">
              <a:solidFill>
                <a:srgbClr val="000000"/>
              </a:solidFill>
              <a:latin typeface="默认字体"/>
              <a:ea typeface="默认字体"/>
              <a:cs typeface="默认字体"/>
            </a:endParaRPr>
          </a:p>
          <a:p>
            <a:pPr marL="685800" lvl="1" indent="-228600">
              <a:buFont typeface="Arial" panose="020B0604020202020204"/>
              <a:buChar char="•"/>
            </a:pPr>
            <a:r>
              <a:rPr sz="2570" b="1"/>
              <a:t>6.1810</a:t>
            </a:r>
            <a:r>
              <a:rPr sz="2570" b="1"/>
              <a:t>阅读材料</a:t>
            </a:r>
            <a:endParaRPr sz="2570" b="1"/>
          </a:p>
          <a:p>
            <a:pPr marL="692785" lvl="1" indent="-342900" algn="l">
              <a:buFont typeface="Arial" panose="020B0604020202020204"/>
              <a:buChar char="•"/>
            </a:pP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  <a:hlinkClick r:id="rId3"/>
              </a:rPr>
              <a:t>RISC-V unprivileged instructions</a:t>
            </a: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</a:rPr>
              <a:t>（可选）</a:t>
            </a:r>
            <a:endParaRPr sz="2000">
              <a:solidFill>
                <a:srgbClr val="428BCA"/>
              </a:solidFill>
              <a:highlight>
                <a:srgbClr val="FFFFFF"/>
              </a:highlight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692785" lvl="1" indent="-342900" algn="l">
              <a:buFont typeface="Arial" panose="020B0604020202020204"/>
              <a:buChar char="•"/>
            </a:pP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  <a:hlinkClick r:id="rId4"/>
              </a:rPr>
              <a:t>RISC-V privileged instructions</a:t>
            </a: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</a:rPr>
              <a:t>（可选）</a:t>
            </a:r>
            <a:endParaRPr sz="2000">
              <a:solidFill>
                <a:srgbClr val="428BCA"/>
              </a:solidFill>
              <a:highlight>
                <a:srgbClr val="FFFFFF"/>
              </a:highlight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692785" lvl="1" indent="-342900" algn="l">
              <a:buFont typeface="Arial" panose="020B0604020202020204"/>
              <a:buChar char="•"/>
            </a:pP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  <a:hlinkClick r:id="rId5"/>
              </a:rPr>
              <a:t>Calling conventions</a:t>
            </a:r>
            <a:r>
              <a:rPr sz="2000">
                <a:solidFill>
                  <a:srgbClr val="428BCA"/>
                </a:solidFill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</a:rPr>
              <a:t>（推荐阅读）</a:t>
            </a:r>
            <a:endParaRPr sz="2000">
              <a:solidFill>
                <a:srgbClr val="428BCA"/>
              </a:solidFill>
              <a:highlight>
                <a:srgbClr val="FFFFFF"/>
              </a:highlight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lvl="0">
              <a:buNone/>
            </a:pPr>
            <a:r>
              <a:rPr sz="2570" b="1"/>
              <a:t>RISC-V</a:t>
            </a:r>
            <a:r>
              <a:rPr sz="2570" b="1"/>
              <a:t>手册</a:t>
            </a:r>
            <a:r>
              <a:rPr sz="2570"/>
              <a:t> </a:t>
            </a:r>
            <a:r>
              <a:rPr sz="2570">
                <a:hlinkClick r:id="rId6"/>
              </a:rPr>
              <a:t>https://github.com/riscv-non-isa/riscv-asm-manual/blob/master/riscv-asm.md</a:t>
            </a:r>
            <a:endParaRPr sz="257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9.5,&quot;left&quot;:142.5,&quot;top&quot;:201,&quot;width&quot;:735}"/>
</p:tagLst>
</file>

<file path=ppt/tags/tag2.xml><?xml version="1.0" encoding="utf-8"?>
<p:tagLst xmlns:p="http://schemas.openxmlformats.org/presentationml/2006/main">
  <p:tag name="KSO_WM_DIAGRAM_VIRTUALLY_FRAME" val="{&quot;height&quot;:199.5,&quot;left&quot;:142.5,&quot;top&quot;:201,&quot;width&quot;:735}"/>
</p:tagLst>
</file>

<file path=ppt/tags/tag3.xml><?xml version="1.0" encoding="utf-8"?>
<p:tagLst xmlns:p="http://schemas.openxmlformats.org/presentationml/2006/main">
  <p:tag name="KSO_WM_DIAGRAM_VIRTUALLY_FRAME" val="{&quot;height&quot;:199.5,&quot;left&quot;:142.5,&quot;top&quot;:201,&quot;width&quot;:735}"/>
</p:tagLst>
</file>

<file path=ppt/tags/tag4.xml><?xml version="1.0" encoding="utf-8"?>
<p:tagLst xmlns:p="http://schemas.openxmlformats.org/presentationml/2006/main">
  <p:tag name="KSO_WM_DIAGRAM_VIRTUALLY_FRAME" val="{&quot;height&quot;:199.5,&quot;left&quot;:142.5,&quot;top&quot;:201,&quot;width&quot;:735}"/>
</p:tagLst>
</file>

<file path=ppt/tags/tag5.xml><?xml version="1.0" encoding="utf-8"?>
<p:tagLst xmlns:p="http://schemas.openxmlformats.org/presentationml/2006/main">
  <p:tag name="KSO_WM_DIAGRAM_VIRTUALLY_FRAME" val="{&quot;height&quot;:199.5,&quot;left&quot;:142.5,&quot;top&quot;:201,&quot;width&quot;:735}"/>
</p:tagLst>
</file>

<file path=ppt/tags/tag6.xml><?xml version="1.0" encoding="utf-8"?>
<p:tagLst xmlns:p="http://schemas.openxmlformats.org/presentationml/2006/main">
  <p:tag name="KSO_WM_DIAGRAM_VIRTUALLY_FRAME" val="{&quot;height&quot;:199.5,&quot;left&quot;:142.5,&quot;top&quot;:201,&quot;width&quot;:73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默认字体"/>
        <a:ea typeface="默认字体"/>
        <a:cs typeface=""/>
      </a:majorFont>
      <a:minorFont>
        <a:latin typeface="默认字体"/>
        <a:ea typeface="默认字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默认字体"/>
        <a:ea typeface="默认字体"/>
        <a:cs typeface=""/>
      </a:majorFont>
      <a:minorFont>
        <a:latin typeface="默认字体"/>
        <a:ea typeface="默认字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11322</Words>
  <Application>WPS 演示</Application>
  <PresentationFormat>Converted Presentation</PresentationFormat>
  <Paragraphs>572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8" baseType="lpstr">
      <vt:lpstr>Arial</vt:lpstr>
      <vt:lpstr>宋体</vt:lpstr>
      <vt:lpstr>Wingdings</vt:lpstr>
      <vt:lpstr>默认字体</vt:lpstr>
      <vt:lpstr>Segoe Print</vt:lpstr>
      <vt:lpstr>Arial</vt:lpstr>
      <vt:lpstr>微软雅黑</vt:lpstr>
      <vt:lpstr>Arial Unicode MS</vt:lpstr>
      <vt:lpstr>Cascadia Mono</vt:lpstr>
      <vt:lpstr>Verdana</vt:lpstr>
      <vt:lpstr>-apple-system</vt:lpstr>
      <vt:lpstr>Courier New</vt:lpstr>
      <vt:lpstr>monospace</vt:lpstr>
      <vt:lpstr>默认字体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Lab4 Traps</vt:lpstr>
      <vt:lpstr>目录</vt:lpstr>
      <vt:lpstr>RISC-V</vt:lpstr>
      <vt:lpstr>陷阱</vt:lpstr>
      <vt:lpstr>用户态陷阱</vt:lpstr>
      <vt:lpstr>用户态陷阱</vt:lpstr>
      <vt:lpstr>用户态陷阱</vt:lpstr>
      <vt:lpstr>用户态陷阱</vt:lpstr>
      <vt:lpstr>用户态陷阱</vt:lpstr>
      <vt:lpstr>用户态陷阱</vt:lpstr>
      <vt:lpstr>用户态陷阱</vt:lpstr>
      <vt:lpstr>用户态陷阱</vt:lpstr>
      <vt:lpstr>PowerPoint 演示文稿</vt:lpstr>
      <vt:lpstr>RISC-V实验内容</vt:lpstr>
      <vt:lpstr>RISC-V实验目标</vt:lpstr>
      <vt:lpstr>RISC-V实验内容</vt:lpstr>
      <vt:lpstr>RISC-V实验内容</vt:lpstr>
      <vt:lpstr>RISC-V实验内容</vt:lpstr>
      <vt:lpstr>RISC-V实验内容</vt:lpstr>
      <vt:lpstr>Backtrace实验目标</vt:lpstr>
      <vt:lpstr>Backtrace实验内容</vt:lpstr>
      <vt:lpstr>Backtrace实验内容</vt:lpstr>
      <vt:lpstr>Backtrace实验内容</vt:lpstr>
      <vt:lpstr>Backtrace实验内容</vt:lpstr>
      <vt:lpstr>Alarm实验目标</vt:lpstr>
      <vt:lpstr>Alarm实验内容</vt:lpstr>
      <vt:lpstr>Alarm实验内容</vt:lpstr>
      <vt:lpstr>Alarm实验内容</vt:lpstr>
      <vt:lpstr>Alarm实验内容</vt:lpstr>
      <vt:lpstr>Alarm实验内容</vt:lpstr>
      <vt:lpstr>Alarm实验内容</vt:lpstr>
      <vt:lpstr>可参考的资料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蒋海程</cp:lastModifiedBy>
  <cp:revision>9</cp:revision>
  <dcterms:created xsi:type="dcterms:W3CDTF">2026-09-28T05:38:00Z</dcterms:created>
  <dcterms:modified xsi:type="dcterms:W3CDTF">2026-09-28T08:52:04Z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CDD23A03990F47E188AE98660F45C3F1_12</vt:lpwstr>
  </property>
</Properties>
</file>